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my name is Andre. [Hold your government-issued ID up to the camera here, per the assignment requirements, and state your name clearly.] Today I'm presenting a data story for Cellar V, the Singapore wine bar and retail shop I run — built for both myself as owner and for our investors. I'll walk through a live analytics app built on our combined 2025-2026 point-of-sale data and our Shopify store, answering one question: across the whole business, where should we focus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Cellar V is a Singapore wine bar and retail shop, running on a POS system that logs every transaction, plus a Shopify store online. The stakeholders here are me as owner-operator and our investors. The decision each quarter is where to put limited time and capital: in-person discount discipline, membership growth, or the dormant online channel. The data needs to answer four things: how the two channels compare, where revenue actually comes from, where margin is leaking, and which customers are worth investing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I'll walk through this as five story points, each answering one executive question and handing off to the next: the full picture across both channels, where the money comes from, where margin leaks and who's valuable, whether the online channel is worth fixing, and finally the recommendation.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built this as a lightweight Streamlit app connected to our combined POS export and the Shopify API — six linked tabs mirroring the story points on this deck. [This is the cue to switch to your screen share and demo the live app for a couple of minutes before returning to the slides for the recommendation.]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Since the start of 2025, Cellar V has done S$293,467 in-person across 2,363 transactions — about S$494 a day. Compare that to the online store's entire three-year history: S$176, nothing in the last 551 days. And the year-over-year numbers show this isn't a one-off — the discount rate and average sale land in a similar range in both 2025 and 2026. The business is healthy; the open question is where the next dollar and hour of attention should 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Red wine is the business — 59% of all revenue, S$198,895, more than every other category combined. Food and white wine round out a distant second and third. And it's concentrated: the top 10 SKUs, mostly Amarone-style and Collefrisio reds, generate about a fifth of total sales from just 3% of the catalog.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leak. We gave away S$66,613 in discounts since the start of 2025 — 19.8% of gross sales — and it's not even: Liquor is discounted 31%, Champagne and Sparkling 26%, while Food stays disciplined under 2%. And this rate is nearly identical in 2025 and 2026 separately, so it's a pattern, not noise. On the other side, member transactions already average 2.5 times more than non-member transactions and make up over a quarter of the till — but we've only signed up 41 new members in a year and a half. That's the most under-leveraged lever we have.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Shopify store itself has a fixable problem: 44% of active listings are out of stock, including a quarter of the products we ourselves tag as best-sellers, and only a quarter of registered accounts have ever purchased. It's a real, low-cost fix. But at S$176 in lifetime revenue against a business doing roughly S$300,000 in-person over the same stretch, it's not where the leverage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moves, in priority order. First, tighten discount governance on Liquor and Champagne/Sparkling — that alone is worth an estimated S$16,800 over a comparable period, several times the online channel's entire lifetime revenue. Second, make membership sign-up part of the checkout flow — members already spend 2.5 times more per sale. Third, restock the handful of out-of-stock best-sellers online — cheap, but not where the leverage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few honest caveats before I close. Our 2026 figures are year-to-date, not a full year, so the recovery estimate is illustrative, not a forecast. The discount line in our POS export is one undifferentiated bucket, so I can't yet tell genuine promotions from staff comps. The member spending gap is correlational, not proven causal. And the online and in-person catalogs are separate systems that I haven't merged into one 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 the next 90 days: roll out the discount policy and the POS sign-up prompt in month one, track the discount rate by category and new sign-ups weekly through month two, then revisit the wine assortment and re-measure gross margin in month three. My targets: bring the blended discount rate under 15%, more than double the monthly sign-up pace, and push gross margin from 65% toward 68% or better.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That's the story: Cellar V's biggest lever isn't more marketing spend — it's tightening what we're already giving away at the till, and turning our best guests into members. Thank you — happy to answer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REAM">
    <p:bg>
      <p:bgPr>
        <a:solidFill>
          <a:srgbClr val="FDFCFA"/>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5C1A2B"/>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5C1A2B"/>
          </a:solidFill>
          <a:ln/>
        </p:spPr>
      </p:sp>
      <p:sp>
        <p:nvSpPr>
          <p:cNvPr id="3" name="Shape 1"/>
          <p:cNvSpPr/>
          <p:nvPr/>
        </p:nvSpPr>
        <p:spPr>
          <a:xfrm>
            <a:off x="8138160" y="0"/>
            <a:ext cx="4053535" cy="6858000"/>
          </a:xfrm>
          <a:prstGeom prst="rect">
            <a:avLst/>
          </a:prstGeom>
          <a:solidFill>
            <a:srgbClr val="471421"/>
          </a:solidFill>
          <a:ln/>
        </p:spPr>
      </p:sp>
      <p:sp>
        <p:nvSpPr>
          <p:cNvPr id="4" name="Shape 2"/>
          <p:cNvSpPr/>
          <p:nvPr/>
        </p:nvSpPr>
        <p:spPr>
          <a:xfrm>
            <a:off x="10911535" y="-1280160"/>
            <a:ext cx="2560320" cy="2560320"/>
          </a:xfrm>
          <a:prstGeom prst="ellipse">
            <a:avLst/>
          </a:prstGeom>
          <a:ln w="12700">
            <a:solidFill>
              <a:srgbClr val="E3B96B">
                <a:alpha val="45000"/>
              </a:srgbClr>
            </a:solidFill>
            <a:prstDash val="solid"/>
          </a:ln>
        </p:spPr>
      </p:sp>
      <p:sp>
        <p:nvSpPr>
          <p:cNvPr id="5" name="Shape 3"/>
          <p:cNvSpPr/>
          <p:nvPr/>
        </p:nvSpPr>
        <p:spPr>
          <a:xfrm>
            <a:off x="10362895" y="-1828800"/>
            <a:ext cx="3657600" cy="3657600"/>
          </a:xfrm>
          <a:prstGeom prst="ellipse">
            <a:avLst/>
          </a:prstGeom>
          <a:ln w="12700">
            <a:solidFill>
              <a:srgbClr val="E3B96B">
                <a:alpha val="33000"/>
              </a:srgbClr>
            </a:solidFill>
            <a:prstDash val="solid"/>
          </a:ln>
        </p:spPr>
      </p:sp>
      <p:sp>
        <p:nvSpPr>
          <p:cNvPr id="6" name="Shape 4"/>
          <p:cNvSpPr/>
          <p:nvPr/>
        </p:nvSpPr>
        <p:spPr>
          <a:xfrm>
            <a:off x="9814255" y="-2377440"/>
            <a:ext cx="4754880" cy="4754880"/>
          </a:xfrm>
          <a:prstGeom prst="ellipse">
            <a:avLst/>
          </a:prstGeom>
          <a:ln w="12700">
            <a:solidFill>
              <a:srgbClr val="E3B96B">
                <a:alpha val="21000"/>
              </a:srgbClr>
            </a:solidFill>
            <a:prstDash val="solid"/>
          </a:ln>
        </p:spPr>
      </p:sp>
      <p:sp>
        <p:nvSpPr>
          <p:cNvPr id="7" name="Shape 5"/>
          <p:cNvSpPr/>
          <p:nvPr/>
        </p:nvSpPr>
        <p:spPr>
          <a:xfrm flipV="1">
            <a:off x="9479128" y="2331720"/>
            <a:ext cx="1371600" cy="1440180"/>
          </a:xfrm>
          <a:prstGeom prst="triangle">
            <a:avLst/>
          </a:prstGeom>
          <a:solidFill>
            <a:srgbClr val="E3B96B"/>
          </a:solidFill>
          <a:ln/>
        </p:spPr>
      </p:sp>
      <p:sp>
        <p:nvSpPr>
          <p:cNvPr id="8" name="Shape 6"/>
          <p:cNvSpPr/>
          <p:nvPr/>
        </p:nvSpPr>
        <p:spPr>
          <a:xfrm>
            <a:off x="10116922" y="3771900"/>
            <a:ext cx="96012" cy="1303020"/>
          </a:xfrm>
          <a:prstGeom prst="rect">
            <a:avLst/>
          </a:prstGeom>
          <a:solidFill>
            <a:srgbClr val="E3B96B"/>
          </a:solidFill>
          <a:ln/>
        </p:spPr>
      </p:sp>
      <p:sp>
        <p:nvSpPr>
          <p:cNvPr id="9" name="Shape 7"/>
          <p:cNvSpPr/>
          <p:nvPr/>
        </p:nvSpPr>
        <p:spPr>
          <a:xfrm>
            <a:off x="9719158" y="5006340"/>
            <a:ext cx="891540" cy="137160"/>
          </a:xfrm>
          <a:prstGeom prst="ellipse">
            <a:avLst/>
          </a:prstGeom>
          <a:solidFill>
            <a:srgbClr val="E3B96B"/>
          </a:solidFill>
          <a:ln/>
        </p:spPr>
      </p:sp>
      <p:sp>
        <p:nvSpPr>
          <p:cNvPr id="10" name="Shape 8"/>
          <p:cNvSpPr/>
          <p:nvPr/>
        </p:nvSpPr>
        <p:spPr>
          <a:xfrm>
            <a:off x="9616288" y="1965960"/>
            <a:ext cx="91440" cy="91440"/>
          </a:xfrm>
          <a:prstGeom prst="ellipse">
            <a:avLst/>
          </a:prstGeom>
          <a:solidFill>
            <a:srgbClr val="E3B96B">
              <a:alpha val="80000"/>
            </a:srgbClr>
          </a:solidFill>
          <a:ln/>
        </p:spPr>
      </p:sp>
      <p:sp>
        <p:nvSpPr>
          <p:cNvPr id="11" name="Shape 9"/>
          <p:cNvSpPr/>
          <p:nvPr/>
        </p:nvSpPr>
        <p:spPr>
          <a:xfrm>
            <a:off x="10498684" y="1796796"/>
            <a:ext cx="64008" cy="64008"/>
          </a:xfrm>
          <a:prstGeom prst="ellipse">
            <a:avLst/>
          </a:prstGeom>
          <a:solidFill>
            <a:srgbClr val="E3B96B">
              <a:alpha val="65000"/>
            </a:srgbClr>
          </a:solidFill>
          <a:ln/>
        </p:spPr>
      </p:sp>
      <p:sp>
        <p:nvSpPr>
          <p:cNvPr id="12" name="Shape 10"/>
          <p:cNvSpPr/>
          <p:nvPr/>
        </p:nvSpPr>
        <p:spPr>
          <a:xfrm>
            <a:off x="10215220" y="1559052"/>
            <a:ext cx="82296" cy="82296"/>
          </a:xfrm>
          <a:prstGeom prst="ellipse">
            <a:avLst/>
          </a:prstGeom>
          <a:solidFill>
            <a:srgbClr val="E3B96B">
              <a:alpha val="85000"/>
            </a:srgbClr>
          </a:solidFill>
          <a:ln/>
        </p:spPr>
      </p:sp>
      <p:sp>
        <p:nvSpPr>
          <p:cNvPr id="13" name="Shape 11"/>
          <p:cNvSpPr/>
          <p:nvPr/>
        </p:nvSpPr>
        <p:spPr>
          <a:xfrm>
            <a:off x="9908896" y="1435608"/>
            <a:ext cx="54864" cy="54864"/>
          </a:xfrm>
          <a:prstGeom prst="ellipse">
            <a:avLst/>
          </a:prstGeom>
          <a:solidFill>
            <a:srgbClr val="E3B96B">
              <a:alpha val="60000"/>
            </a:srgbClr>
          </a:solidFill>
          <a:ln/>
        </p:spPr>
      </p:sp>
      <p:sp>
        <p:nvSpPr>
          <p:cNvPr id="14" name="Shape 12"/>
          <p:cNvSpPr/>
          <p:nvPr/>
        </p:nvSpPr>
        <p:spPr>
          <a:xfrm>
            <a:off x="10686136" y="2167128"/>
            <a:ext cx="54864" cy="54864"/>
          </a:xfrm>
          <a:prstGeom prst="ellipse">
            <a:avLst/>
          </a:prstGeom>
          <a:solidFill>
            <a:srgbClr val="E3B96B">
              <a:alpha val="55000"/>
            </a:srgbClr>
          </a:solidFill>
          <a:ln/>
        </p:spPr>
      </p:sp>
      <p:sp>
        <p:nvSpPr>
          <p:cNvPr id="15" name="Text 13"/>
          <p:cNvSpPr/>
          <p:nvPr/>
        </p:nvSpPr>
        <p:spPr>
          <a:xfrm>
            <a:off x="457200" y="914400"/>
            <a:ext cx="7406640" cy="365760"/>
          </a:xfrm>
          <a:prstGeom prst="rect">
            <a:avLst/>
          </a:prstGeom>
          <a:noFill/>
          <a:ln/>
        </p:spPr>
        <p:txBody>
          <a:bodyPr wrap="square" lIns="0" tIns="0" rIns="0" bIns="0" rtlCol="0" anchor="ctr"/>
          <a:lstStyle/>
          <a:p>
            <a:pPr indent="0" marL="0">
              <a:buNone/>
            </a:pPr>
            <a:r>
              <a:rPr lang="en-US" sz="1300" b="1" spc="200" kern="0" dirty="0">
                <a:solidFill>
                  <a:srgbClr val="E3B96B"/>
                </a:solidFill>
                <a:latin typeface="Calibri" pitchFamily="34" charset="0"/>
                <a:ea typeface="Calibri" pitchFamily="34" charset="-122"/>
                <a:cs typeface="Calibri" pitchFamily="34" charset="-120"/>
              </a:rPr>
              <a:t>MSBA  ·  COMMUNICATING WITH DATA</a:t>
            </a:r>
            <a:endParaRPr lang="en-US" sz="1300" dirty="0"/>
          </a:p>
        </p:txBody>
      </p:sp>
      <p:sp>
        <p:nvSpPr>
          <p:cNvPr id="16" name="Text 14"/>
          <p:cNvSpPr/>
          <p:nvPr/>
        </p:nvSpPr>
        <p:spPr>
          <a:xfrm>
            <a:off x="457200" y="1371600"/>
            <a:ext cx="7406640" cy="2560320"/>
          </a:xfrm>
          <a:prstGeom prst="rect">
            <a:avLst/>
          </a:prstGeom>
          <a:noFill/>
          <a:ln/>
        </p:spPr>
        <p:txBody>
          <a:bodyPr wrap="square" lIns="0" tIns="0" rIns="0" bIns="0" rtlCol="0" anchor="ctr"/>
          <a:lstStyle/>
          <a:p>
            <a:pPr indent="0" marL="0">
              <a:lnSpc>
                <a:spcPct val="105000"/>
              </a:lnSpc>
              <a:buNone/>
            </a:pPr>
            <a:r>
              <a:rPr lang="en-US" sz="4400" b="1" dirty="0">
                <a:solidFill>
                  <a:srgbClr val="FFFFFF"/>
                </a:solidFill>
                <a:latin typeface="Cambria" pitchFamily="34" charset="0"/>
                <a:ea typeface="Cambria" pitchFamily="34" charset="-122"/>
                <a:cs typeface="Cambria" pitchFamily="34" charset="-120"/>
              </a:rPr>
              <a:t>Cellar V:
</a:t>
            </a:r>
            <a:pPr indent="0" marL="0">
              <a:lnSpc>
                <a:spcPct val="105000"/>
              </a:lnSpc>
              <a:buNone/>
            </a:pPr>
            <a:r>
              <a:rPr lang="en-US" sz="4400" b="1" dirty="0">
                <a:solidFill>
                  <a:srgbClr val="E3B96B"/>
                </a:solidFill>
                <a:latin typeface="Cambria" pitchFamily="34" charset="0"/>
                <a:ea typeface="Cambria" pitchFamily="34" charset="-122"/>
                <a:cs typeface="Cambria" pitchFamily="34" charset="-120"/>
              </a:rPr>
              <a:t>Where Should the</a:t>
            </a:r>
            <a:endParaRPr lang="en-US" sz="4400" dirty="0"/>
          </a:p>
          <a:p>
            <a:pPr indent="0" marL="0">
              <a:lnSpc>
                <a:spcPct val="105000"/>
              </a:lnSpc>
              <a:buNone/>
            </a:pPr>
            <a:r>
              <a:rPr lang="en-US" sz="4400" b="1" dirty="0">
                <a:solidFill>
                  <a:srgbClr val="E3B96B"/>
                </a:solidFill>
                <a:latin typeface="Cambria" pitchFamily="34" charset="0"/>
                <a:ea typeface="Cambria" pitchFamily="34" charset="-122"/>
                <a:cs typeface="Cambria" pitchFamily="34" charset="-120"/>
              </a:rPr>
              <a:t>Next Dollar Go?</a:t>
            </a:r>
            <a:endParaRPr lang="en-US" sz="4400" dirty="0"/>
          </a:p>
        </p:txBody>
      </p:sp>
      <p:sp>
        <p:nvSpPr>
          <p:cNvPr id="17" name="Text 15"/>
          <p:cNvSpPr/>
          <p:nvPr/>
        </p:nvSpPr>
        <p:spPr>
          <a:xfrm>
            <a:off x="457200" y="4069080"/>
            <a:ext cx="7406640" cy="822960"/>
          </a:xfrm>
          <a:prstGeom prst="rect">
            <a:avLst/>
          </a:prstGeom>
          <a:noFill/>
          <a:ln/>
        </p:spPr>
        <p:txBody>
          <a:bodyPr wrap="square" lIns="0" tIns="0" rIns="0" bIns="0" rtlCol="0" anchor="ctr"/>
          <a:lstStyle/>
          <a:p>
            <a:pPr indent="0" marL="0">
              <a:lnSpc>
                <a:spcPct val="120000"/>
              </a:lnSpc>
              <a:buNone/>
            </a:pPr>
            <a:r>
              <a:rPr lang="en-US" sz="1400" dirty="0">
                <a:solidFill>
                  <a:srgbClr val="E7DCD5"/>
                </a:solidFill>
                <a:latin typeface="Calibri" pitchFamily="34" charset="0"/>
                <a:ea typeface="Calibri" pitchFamily="34" charset="-122"/>
                <a:cs typeface="Calibri" pitchFamily="34" charset="-120"/>
              </a:rPr>
              <a:t>A data story built on 19 months of point-of-sale history (2025 through 2026 year-to-date) and Cellar V's Shopify store — presented as the Analytics App project.</a:t>
            </a:r>
            <a:endParaRPr lang="en-US" sz="1400" dirty="0"/>
          </a:p>
        </p:txBody>
      </p:sp>
      <p:sp>
        <p:nvSpPr>
          <p:cNvPr id="18" name="Shape 16"/>
          <p:cNvSpPr/>
          <p:nvPr/>
        </p:nvSpPr>
        <p:spPr>
          <a:xfrm>
            <a:off x="457200" y="5029200"/>
            <a:ext cx="2743200" cy="0"/>
          </a:xfrm>
          <a:prstGeom prst="line">
            <a:avLst/>
          </a:prstGeom>
          <a:noFill/>
          <a:ln w="19050">
            <a:solidFill>
              <a:srgbClr val="C9A227"/>
            </a:solidFill>
            <a:prstDash val="solid"/>
          </a:ln>
        </p:spPr>
      </p:sp>
      <p:sp>
        <p:nvSpPr>
          <p:cNvPr id="19" name="Text 17"/>
          <p:cNvSpPr/>
          <p:nvPr/>
        </p:nvSpPr>
        <p:spPr>
          <a:xfrm>
            <a:off x="457200" y="5193792"/>
            <a:ext cx="740664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Presented by Andre  ·  Owner, Cellar V</a:t>
            </a:r>
            <a:endParaRPr lang="en-US" sz="1400" dirty="0"/>
          </a:p>
        </p:txBody>
      </p:sp>
      <p:sp>
        <p:nvSpPr>
          <p:cNvPr id="20" name="Text 18"/>
          <p:cNvSpPr/>
          <p:nvPr/>
        </p:nvSpPr>
        <p:spPr>
          <a:xfrm>
            <a:off x="457200" y="5532120"/>
            <a:ext cx="7406640" cy="320040"/>
          </a:xfrm>
          <a:prstGeom prst="rect">
            <a:avLst/>
          </a:prstGeom>
          <a:noFill/>
          <a:ln/>
        </p:spPr>
        <p:txBody>
          <a:bodyPr wrap="square" lIns="0" tIns="0" rIns="0" bIns="0" rtlCol="0" anchor="ctr"/>
          <a:lstStyle/>
          <a:p>
            <a:pPr indent="0" marL="0">
              <a:buNone/>
            </a:pPr>
            <a:r>
              <a:rPr lang="en-US" sz="1200" dirty="0">
                <a:solidFill>
                  <a:srgbClr val="E7DCD5"/>
                </a:solidFill>
                <a:latin typeface="Calibri" pitchFamily="34" charset="0"/>
                <a:ea typeface="Calibri" pitchFamily="34" charset="-122"/>
                <a:cs typeface="Calibri" pitchFamily="34" charset="-120"/>
              </a:rPr>
              <a:t>Prepared for Cellar V's owner and investors</a:t>
            </a:r>
            <a:endParaRPr lang="en-US" sz="1200" dirty="0"/>
          </a:p>
        </p:txBody>
      </p:sp>
      <p:sp>
        <p:nvSpPr>
          <p:cNvPr id="21" name="Text 19"/>
          <p:cNvSpPr/>
          <p:nvPr/>
        </p:nvSpPr>
        <p:spPr>
          <a:xfrm>
            <a:off x="457200" y="6217920"/>
            <a:ext cx="7406640" cy="320040"/>
          </a:xfrm>
          <a:prstGeom prst="rect">
            <a:avLst/>
          </a:prstGeom>
          <a:noFill/>
          <a:ln/>
        </p:spPr>
        <p:txBody>
          <a:bodyPr wrap="square" lIns="0" tIns="0" rIns="0" bIns="0" rtlCol="0" anchor="ctr"/>
          <a:lstStyle/>
          <a:p>
            <a:pPr indent="0" marL="0">
              <a:buNone/>
            </a:pPr>
            <a:r>
              <a:rPr lang="en-US" sz="1100" dirty="0">
                <a:solidFill>
                  <a:srgbClr val="E3B96B"/>
                </a:solidFill>
                <a:latin typeface="Calibri" pitchFamily="34" charset="0"/>
                <a:ea typeface="Calibri" pitchFamily="34" charset="-122"/>
                <a:cs typeface="Calibri" pitchFamily="34" charset="-120"/>
              </a:rPr>
              <a:t>cellar-v.com.sg   ·   January 2025 – August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DFCFA"/>
        </a:solidFill>
      </p:bgPr>
    </p:bg>
    <p:spTree>
      <p:nvGrpSpPr>
        <p:cNvPr id="1" name=""/>
        <p:cNvGrpSpPr/>
        <p:nvPr/>
      </p:nvGrpSpPr>
      <p:grpSpPr>
        <a:xfrm>
          <a:off x="0" y="0"/>
          <a:ext cx="0" cy="0"/>
          <a:chOff x="0" y="0"/>
          <a:chExt cx="0" cy="0"/>
        </a:xfrm>
      </p:grpSpPr>
      <p:sp>
        <p:nvSpPr>
          <p:cNvPr id="2" name="Text 0"/>
          <p:cNvSpPr/>
          <p:nvPr/>
        </p:nvSpPr>
        <p:spPr>
          <a:xfrm>
            <a:off x="457200" y="411480"/>
            <a:ext cx="7315200" cy="320040"/>
          </a:xfrm>
          <a:prstGeom prst="rect">
            <a:avLst/>
          </a:prstGeom>
          <a:noFill/>
          <a:ln/>
        </p:spPr>
        <p:txBody>
          <a:bodyPr wrap="square" lIns="0" tIns="0" rIns="0" bIns="0" rtlCol="0" anchor="ctr"/>
          <a:lstStyle/>
          <a:p>
            <a:pPr indent="0" marL="0">
              <a:buNone/>
            </a:pPr>
            <a:r>
              <a:rPr lang="en-US" sz="1200" b="1" spc="200" kern="0" dirty="0">
                <a:solidFill>
                  <a:srgbClr val="C9A227"/>
                </a:solidFill>
                <a:latin typeface="Calibri" pitchFamily="34" charset="0"/>
                <a:ea typeface="Calibri" pitchFamily="34" charset="-122"/>
                <a:cs typeface="Calibri" pitchFamily="34" charset="-120"/>
              </a:rPr>
              <a:t>THE BUSINESS CASE</a:t>
            </a:r>
            <a:endParaRPr lang="en-US" sz="1200" dirty="0"/>
          </a:p>
        </p:txBody>
      </p:sp>
      <p:sp>
        <p:nvSpPr>
          <p:cNvPr id="3" name="Text 1"/>
          <p:cNvSpPr/>
          <p:nvPr/>
        </p:nvSpPr>
        <p:spPr>
          <a:xfrm>
            <a:off x="457200" y="731520"/>
            <a:ext cx="10332720" cy="1188720"/>
          </a:xfrm>
          <a:prstGeom prst="rect">
            <a:avLst/>
          </a:prstGeom>
          <a:noFill/>
          <a:ln/>
        </p:spPr>
        <p:txBody>
          <a:bodyPr wrap="square" lIns="0" tIns="0" rIns="0" bIns="0" rtlCol="0" anchor="ctr"/>
          <a:lstStyle/>
          <a:p>
            <a:pPr indent="0" marL="0">
              <a:lnSpc>
                <a:spcPct val="105000"/>
              </a:lnSpc>
              <a:buNone/>
            </a:pPr>
            <a:r>
              <a:rPr lang="en-US" sz="2700" b="1" dirty="0">
                <a:solidFill>
                  <a:srgbClr val="2B2420"/>
                </a:solidFill>
                <a:latin typeface="Cambria" pitchFamily="34" charset="0"/>
                <a:ea typeface="Cambria" pitchFamily="34" charset="-122"/>
                <a:cs typeface="Cambria" pitchFamily="34" charset="-120"/>
              </a:rPr>
              <a:t>Two years of real transaction data —</a:t>
            </a:r>
            <a:endParaRPr lang="en-US" sz="2700" dirty="0"/>
          </a:p>
          <a:p>
            <a:pPr indent="0" marL="0">
              <a:lnSpc>
                <a:spcPct val="105000"/>
              </a:lnSpc>
              <a:buNone/>
            </a:pPr>
            <a:r>
              <a:rPr lang="en-US" sz="2700" b="1" dirty="0">
                <a:solidFill>
                  <a:srgbClr val="2B2420"/>
                </a:solidFill>
                <a:latin typeface="Cambria" pitchFamily="34" charset="0"/>
                <a:ea typeface="Cambria" pitchFamily="34" charset="-122"/>
                <a:cs typeface="Cambria" pitchFamily="34" charset="-120"/>
              </a:rPr>
              <a:t>but no single view of where to focus next.</a:t>
            </a:r>
            <a:endParaRPr lang="en-US" sz="2700" dirty="0"/>
          </a:p>
        </p:txBody>
      </p:sp>
      <p:sp>
        <p:nvSpPr>
          <p:cNvPr id="4" name="Text 2"/>
          <p:cNvSpPr/>
          <p:nvPr/>
        </p:nvSpPr>
        <p:spPr>
          <a:xfrm>
            <a:off x="457200" y="2057400"/>
            <a:ext cx="6675120" cy="1371600"/>
          </a:xfrm>
          <a:prstGeom prst="rect">
            <a:avLst/>
          </a:prstGeom>
          <a:noFill/>
          <a:ln/>
        </p:spPr>
        <p:txBody>
          <a:bodyPr wrap="square" lIns="0" tIns="0" rIns="0" bIns="0" rtlCol="0" anchor="ctr"/>
          <a:lstStyle/>
          <a:p>
            <a:pPr indent="0" marL="0">
              <a:lnSpc>
                <a:spcPct val="125000"/>
              </a:lnSpc>
              <a:buNone/>
            </a:pPr>
            <a:r>
              <a:rPr lang="en-US" sz="1400" dirty="0">
                <a:solidFill>
                  <a:srgbClr val="2B2420"/>
                </a:solidFill>
                <a:latin typeface="Calibri" pitchFamily="34" charset="0"/>
                <a:ea typeface="Calibri" pitchFamily="34" charset="-122"/>
                <a:cs typeface="Calibri" pitchFamily="34" charset="-120"/>
              </a:rPr>
              <a:t>Cellar V runs a physical wine bar on a POS system logging every transaction — 2,363 of them since the start of 2025, spanning wine, sake, liquor, beer and food — plus a Shopify store for online sales. Revenue looks healthy in person, but the channel split, discount leakage, category mix and membership behaviour all sit outside daily view. So the executive question becomes:</a:t>
            </a:r>
            <a:endParaRPr lang="en-US" sz="1400" dirty="0"/>
          </a:p>
        </p:txBody>
      </p:sp>
      <p:sp>
        <p:nvSpPr>
          <p:cNvPr id="5" name="Shape 3"/>
          <p:cNvSpPr/>
          <p:nvPr/>
        </p:nvSpPr>
        <p:spPr>
          <a:xfrm>
            <a:off x="457200" y="3520440"/>
            <a:ext cx="6675120" cy="1234440"/>
          </a:xfrm>
          <a:prstGeom prst="roundRect">
            <a:avLst>
              <a:gd name="adj" fmla="val 5926"/>
            </a:avLst>
          </a:prstGeom>
          <a:solidFill>
            <a:srgbClr val="5C1A2B"/>
          </a:solidFill>
          <a:ln/>
        </p:spPr>
      </p:sp>
      <p:sp>
        <p:nvSpPr>
          <p:cNvPr id="6" name="Text 4"/>
          <p:cNvSpPr/>
          <p:nvPr/>
        </p:nvSpPr>
        <p:spPr>
          <a:xfrm>
            <a:off x="731520" y="3611880"/>
            <a:ext cx="6126480" cy="1051560"/>
          </a:xfrm>
          <a:prstGeom prst="rect">
            <a:avLst/>
          </a:prstGeom>
          <a:noFill/>
          <a:ln/>
        </p:spPr>
        <p:txBody>
          <a:bodyPr wrap="square" lIns="0" tIns="0" rIns="0" bIns="0" rtlCol="0" anchor="ctr"/>
          <a:lstStyle/>
          <a:p>
            <a:pPr indent="0" marL="0">
              <a:lnSpc>
                <a:spcPct val="120000"/>
              </a:lnSpc>
              <a:buNone/>
            </a:pPr>
            <a:r>
              <a:rPr lang="en-US" sz="1600" i="1" dirty="0">
                <a:solidFill>
                  <a:srgbClr val="FFFFFF"/>
                </a:solidFill>
                <a:latin typeface="Cambria" pitchFamily="34" charset="0"/>
                <a:ea typeface="Cambria" pitchFamily="34" charset="-122"/>
                <a:cs typeface="Cambria" pitchFamily="34" charset="-120"/>
              </a:rPr>
              <a:t>“Where should Cellar V’s owner and investors put the next dollar and the next hour of attention — in-person discipline, membership growth, or the online channel?”</a:t>
            </a:r>
            <a:endParaRPr lang="en-US" sz="1600" dirty="0"/>
          </a:p>
        </p:txBody>
      </p:sp>
      <p:sp>
        <p:nvSpPr>
          <p:cNvPr id="7" name="Text 5"/>
          <p:cNvSpPr/>
          <p:nvPr/>
        </p:nvSpPr>
        <p:spPr>
          <a:xfrm>
            <a:off x="7452360" y="1417320"/>
            <a:ext cx="4251960" cy="274320"/>
          </a:xfrm>
          <a:prstGeom prst="rect">
            <a:avLst/>
          </a:prstGeom>
          <a:noFill/>
          <a:ln/>
        </p:spPr>
        <p:txBody>
          <a:bodyPr wrap="square" lIns="0" tIns="0" rIns="0" bIns="0" rtlCol="0" anchor="ctr"/>
          <a:lstStyle/>
          <a:p>
            <a:pPr indent="0" marL="0">
              <a:buNone/>
            </a:pPr>
            <a:r>
              <a:rPr lang="en-US" sz="1100" b="1" spc="150" kern="0" dirty="0">
                <a:solidFill>
                  <a:srgbClr val="A7842A"/>
                </a:solidFill>
                <a:latin typeface="Calibri" pitchFamily="34" charset="0"/>
                <a:ea typeface="Calibri" pitchFamily="34" charset="-122"/>
                <a:cs typeface="Calibri" pitchFamily="34" charset="-120"/>
              </a:rPr>
              <a:t>STAKEHOLDER</a:t>
            </a:r>
            <a:endParaRPr lang="en-US" sz="1100" dirty="0"/>
          </a:p>
        </p:txBody>
      </p:sp>
      <p:sp>
        <p:nvSpPr>
          <p:cNvPr id="8" name="Text 6"/>
          <p:cNvSpPr/>
          <p:nvPr/>
        </p:nvSpPr>
        <p:spPr>
          <a:xfrm>
            <a:off x="7452360" y="1673352"/>
            <a:ext cx="4251960" cy="502920"/>
          </a:xfrm>
          <a:prstGeom prst="rect">
            <a:avLst/>
          </a:prstGeom>
          <a:noFill/>
          <a:ln/>
        </p:spPr>
        <p:txBody>
          <a:bodyPr wrap="square" lIns="0" tIns="0" rIns="0" bIns="0" rtlCol="0" anchor="ctr"/>
          <a:lstStyle/>
          <a:p>
            <a:pPr indent="0" marL="0">
              <a:lnSpc>
                <a:spcPct val="100000"/>
              </a:lnSpc>
              <a:buNone/>
            </a:pPr>
            <a:r>
              <a:rPr lang="en-US" sz="1700" b="1" dirty="0">
                <a:solidFill>
                  <a:srgbClr val="5C1A2B"/>
                </a:solidFill>
                <a:latin typeface="Cambria" pitchFamily="34" charset="0"/>
                <a:ea typeface="Cambria" pitchFamily="34" charset="-122"/>
                <a:cs typeface="Cambria" pitchFamily="34" charset="-120"/>
              </a:rPr>
              <a:t>Owner + Investors</a:t>
            </a:r>
            <a:endParaRPr lang="en-US" sz="1700" dirty="0"/>
          </a:p>
        </p:txBody>
      </p:sp>
      <p:sp>
        <p:nvSpPr>
          <p:cNvPr id="9" name="Text 7"/>
          <p:cNvSpPr/>
          <p:nvPr/>
        </p:nvSpPr>
        <p:spPr>
          <a:xfrm>
            <a:off x="7452360" y="2194560"/>
            <a:ext cx="4251960" cy="640080"/>
          </a:xfrm>
          <a:prstGeom prst="rect">
            <a:avLst/>
          </a:prstGeom>
          <a:noFill/>
          <a:ln/>
        </p:spPr>
        <p:txBody>
          <a:bodyPr wrap="square" lIns="0" tIns="0" rIns="0" bIns="0" rtlCol="0" anchor="ctr"/>
          <a:lstStyle/>
          <a:p>
            <a:pPr indent="0" marL="0">
              <a:lnSpc>
                <a:spcPct val="115000"/>
              </a:lnSpc>
              <a:buNone/>
            </a:pPr>
            <a:r>
              <a:rPr lang="en-US" sz="1150" dirty="0">
                <a:solidFill>
                  <a:srgbClr val="6B655C"/>
                </a:solidFill>
                <a:latin typeface="Calibri" pitchFamily="34" charset="0"/>
                <a:ea typeface="Calibri" pitchFamily="34" charset="-122"/>
                <a:cs typeface="Calibri" pitchFamily="34" charset="-120"/>
              </a:rPr>
              <a:t>Andre (owner-operator) and Cellar V’s capital stakeholders</a:t>
            </a:r>
            <a:endParaRPr lang="en-US" sz="1150" dirty="0"/>
          </a:p>
        </p:txBody>
      </p:sp>
      <p:sp>
        <p:nvSpPr>
          <p:cNvPr id="10" name="Text 8"/>
          <p:cNvSpPr/>
          <p:nvPr/>
        </p:nvSpPr>
        <p:spPr>
          <a:xfrm>
            <a:off x="7452360" y="2990088"/>
            <a:ext cx="4251960" cy="274320"/>
          </a:xfrm>
          <a:prstGeom prst="rect">
            <a:avLst/>
          </a:prstGeom>
          <a:noFill/>
          <a:ln/>
        </p:spPr>
        <p:txBody>
          <a:bodyPr wrap="square" lIns="0" tIns="0" rIns="0" bIns="0" rtlCol="0" anchor="ctr"/>
          <a:lstStyle/>
          <a:p>
            <a:pPr indent="0" marL="0">
              <a:buNone/>
            </a:pPr>
            <a:r>
              <a:rPr lang="en-US" sz="1100" b="1" spc="150" kern="0" dirty="0">
                <a:solidFill>
                  <a:srgbClr val="A7842A"/>
                </a:solidFill>
                <a:latin typeface="Calibri" pitchFamily="34" charset="0"/>
                <a:ea typeface="Calibri" pitchFamily="34" charset="-122"/>
                <a:cs typeface="Calibri" pitchFamily="34" charset="-120"/>
              </a:rPr>
              <a:t>DECISION</a:t>
            </a:r>
            <a:endParaRPr lang="en-US" sz="1100" dirty="0"/>
          </a:p>
        </p:txBody>
      </p:sp>
      <p:sp>
        <p:nvSpPr>
          <p:cNvPr id="11" name="Text 9"/>
          <p:cNvSpPr/>
          <p:nvPr/>
        </p:nvSpPr>
        <p:spPr>
          <a:xfrm>
            <a:off x="7452360" y="3246120"/>
            <a:ext cx="4251960" cy="502920"/>
          </a:xfrm>
          <a:prstGeom prst="rect">
            <a:avLst/>
          </a:prstGeom>
          <a:noFill/>
          <a:ln/>
        </p:spPr>
        <p:txBody>
          <a:bodyPr wrap="square" lIns="0" tIns="0" rIns="0" bIns="0" rtlCol="0" anchor="ctr"/>
          <a:lstStyle/>
          <a:p>
            <a:pPr indent="0" marL="0">
              <a:lnSpc>
                <a:spcPct val="100000"/>
              </a:lnSpc>
              <a:buNone/>
            </a:pPr>
            <a:r>
              <a:rPr lang="en-US" sz="1700" b="1" dirty="0">
                <a:solidFill>
                  <a:srgbClr val="5C1A2B"/>
                </a:solidFill>
                <a:latin typeface="Cambria" pitchFamily="34" charset="0"/>
                <a:ea typeface="Cambria" pitchFamily="34" charset="-122"/>
                <a:cs typeface="Cambria" pitchFamily="34" charset="-120"/>
              </a:rPr>
              <a:t>Where to prioritize</a:t>
            </a:r>
            <a:endParaRPr lang="en-US" sz="1700" dirty="0"/>
          </a:p>
          <a:p>
            <a:pPr indent="0" marL="0">
              <a:lnSpc>
                <a:spcPct val="100000"/>
              </a:lnSpc>
              <a:buNone/>
            </a:pPr>
            <a:r>
              <a:rPr lang="en-US" sz="1700" b="1" dirty="0">
                <a:solidFill>
                  <a:srgbClr val="5C1A2B"/>
                </a:solidFill>
                <a:latin typeface="Cambria" pitchFamily="34" charset="0"/>
                <a:ea typeface="Cambria" pitchFamily="34" charset="-122"/>
                <a:cs typeface="Cambria" pitchFamily="34" charset="-120"/>
              </a:rPr>
              <a:t>next-quarter focus</a:t>
            </a:r>
            <a:endParaRPr lang="en-US" sz="1700" dirty="0"/>
          </a:p>
        </p:txBody>
      </p:sp>
      <p:sp>
        <p:nvSpPr>
          <p:cNvPr id="12" name="Text 10"/>
          <p:cNvSpPr/>
          <p:nvPr/>
        </p:nvSpPr>
        <p:spPr>
          <a:xfrm>
            <a:off x="7452360" y="3767328"/>
            <a:ext cx="4251960" cy="640080"/>
          </a:xfrm>
          <a:prstGeom prst="rect">
            <a:avLst/>
          </a:prstGeom>
          <a:noFill/>
          <a:ln/>
        </p:spPr>
        <p:txBody>
          <a:bodyPr wrap="square" lIns="0" tIns="0" rIns="0" bIns="0" rtlCol="0" anchor="ctr"/>
          <a:lstStyle/>
          <a:p>
            <a:pPr indent="0" marL="0">
              <a:lnSpc>
                <a:spcPct val="115000"/>
              </a:lnSpc>
              <a:buNone/>
            </a:pPr>
            <a:r>
              <a:rPr lang="en-US" sz="1150" dirty="0">
                <a:solidFill>
                  <a:srgbClr val="6B655C"/>
                </a:solidFill>
                <a:latin typeface="Calibri" pitchFamily="34" charset="0"/>
                <a:ea typeface="Calibri" pitchFamily="34" charset="-122"/>
                <a:cs typeface="Calibri" pitchFamily="34" charset="-120"/>
              </a:rPr>
              <a:t>In-person discipline, membership growth, or the online channel</a:t>
            </a:r>
            <a:endParaRPr lang="en-US" sz="1150" dirty="0"/>
          </a:p>
        </p:txBody>
      </p:sp>
      <p:sp>
        <p:nvSpPr>
          <p:cNvPr id="13" name="Text 11"/>
          <p:cNvSpPr/>
          <p:nvPr/>
        </p:nvSpPr>
        <p:spPr>
          <a:xfrm>
            <a:off x="7452360" y="4562856"/>
            <a:ext cx="4251960" cy="274320"/>
          </a:xfrm>
          <a:prstGeom prst="rect">
            <a:avLst/>
          </a:prstGeom>
          <a:noFill/>
          <a:ln/>
        </p:spPr>
        <p:txBody>
          <a:bodyPr wrap="square" lIns="0" tIns="0" rIns="0" bIns="0" rtlCol="0" anchor="ctr"/>
          <a:lstStyle/>
          <a:p>
            <a:pPr indent="0" marL="0">
              <a:buNone/>
            </a:pPr>
            <a:r>
              <a:rPr lang="en-US" sz="1100" b="1" spc="150" kern="0" dirty="0">
                <a:solidFill>
                  <a:srgbClr val="A7842A"/>
                </a:solidFill>
                <a:latin typeface="Calibri" pitchFamily="34" charset="0"/>
                <a:ea typeface="Calibri" pitchFamily="34" charset="-122"/>
                <a:cs typeface="Calibri" pitchFamily="34" charset="-120"/>
              </a:rPr>
              <a:t>DATA ANSWERS</a:t>
            </a:r>
            <a:endParaRPr lang="en-US" sz="1100" dirty="0"/>
          </a:p>
        </p:txBody>
      </p:sp>
      <p:sp>
        <p:nvSpPr>
          <p:cNvPr id="14" name="Text 12"/>
          <p:cNvSpPr/>
          <p:nvPr/>
        </p:nvSpPr>
        <p:spPr>
          <a:xfrm>
            <a:off x="7452360" y="4818888"/>
            <a:ext cx="4251960" cy="502920"/>
          </a:xfrm>
          <a:prstGeom prst="rect">
            <a:avLst/>
          </a:prstGeom>
          <a:noFill/>
          <a:ln/>
        </p:spPr>
        <p:txBody>
          <a:bodyPr wrap="square" lIns="0" tIns="0" rIns="0" bIns="0" rtlCol="0" anchor="ctr"/>
          <a:lstStyle/>
          <a:p>
            <a:pPr indent="0" marL="0">
              <a:lnSpc>
                <a:spcPct val="100000"/>
              </a:lnSpc>
              <a:buNone/>
            </a:pPr>
            <a:r>
              <a:rPr lang="en-US" sz="1700" b="1" dirty="0">
                <a:solidFill>
                  <a:srgbClr val="5C1A2B"/>
                </a:solidFill>
                <a:latin typeface="Cambria" pitchFamily="34" charset="0"/>
                <a:ea typeface="Cambria" pitchFamily="34" charset="-122"/>
                <a:cs typeface="Cambria" pitchFamily="34" charset="-120"/>
              </a:rPr>
              <a:t>4 signal layers</a:t>
            </a:r>
            <a:endParaRPr lang="en-US" sz="1700" dirty="0"/>
          </a:p>
        </p:txBody>
      </p:sp>
      <p:sp>
        <p:nvSpPr>
          <p:cNvPr id="15" name="Text 13"/>
          <p:cNvSpPr/>
          <p:nvPr/>
        </p:nvSpPr>
        <p:spPr>
          <a:xfrm>
            <a:off x="7452360" y="5340096"/>
            <a:ext cx="4251960" cy="640080"/>
          </a:xfrm>
          <a:prstGeom prst="rect">
            <a:avLst/>
          </a:prstGeom>
          <a:noFill/>
          <a:ln/>
        </p:spPr>
        <p:txBody>
          <a:bodyPr wrap="square" lIns="0" tIns="0" rIns="0" bIns="0" rtlCol="0" anchor="ctr"/>
          <a:lstStyle/>
          <a:p>
            <a:pPr indent="0" marL="0">
              <a:lnSpc>
                <a:spcPct val="115000"/>
              </a:lnSpc>
              <a:buNone/>
            </a:pPr>
            <a:r>
              <a:rPr lang="en-US" sz="1150" dirty="0">
                <a:solidFill>
                  <a:srgbClr val="6B655C"/>
                </a:solidFill>
                <a:latin typeface="Calibri" pitchFamily="34" charset="0"/>
                <a:ea typeface="Calibri" pitchFamily="34" charset="-122"/>
                <a:cs typeface="Calibri" pitchFamily="34" charset="-120"/>
              </a:rPr>
              <a:t>Channel comparison · category mix · discount &amp; membership economics · online health</a:t>
            </a:r>
            <a:endParaRPr lang="en-US" sz="1150" dirty="0"/>
          </a:p>
        </p:txBody>
      </p:sp>
      <p:sp>
        <p:nvSpPr>
          <p:cNvPr id="16" name="Text 14"/>
          <p:cNvSpPr/>
          <p:nvPr/>
        </p:nvSpPr>
        <p:spPr>
          <a:xfrm>
            <a:off x="11277295" y="6355080"/>
            <a:ext cx="548640" cy="320040"/>
          </a:xfrm>
          <a:prstGeom prst="rect">
            <a:avLst/>
          </a:prstGeom>
          <a:noFill/>
          <a:ln/>
        </p:spPr>
        <p:txBody>
          <a:bodyPr wrap="square" rtlCol="0" anchor="ctr"/>
          <a:lstStyle/>
          <a:p>
            <a:pPr algn="r" indent="0" marL="0">
              <a:buNone/>
            </a:pPr>
            <a:r>
              <a:rPr lang="en-US" sz="1000" dirty="0">
                <a:solidFill>
                  <a:srgbClr val="6B655C"/>
                </a:solidFill>
                <a:latin typeface="Calibri" pitchFamily="34" charset="0"/>
                <a:ea typeface="Calibri" pitchFamily="34" charset="-122"/>
                <a:cs typeface="Calibri" pitchFamily="34" charset="-120"/>
              </a:rPr>
              <a:t>02</a:t>
            </a:r>
            <a:endParaRPr lang="en-US" sz="1000" dirty="0"/>
          </a:p>
        </p:txBody>
      </p:sp>
      <p:sp>
        <p:nvSpPr>
          <p:cNvPr id="17" name="Text 15"/>
          <p:cNvSpPr/>
          <p:nvPr/>
        </p:nvSpPr>
        <p:spPr>
          <a:xfrm>
            <a:off x="457200" y="6355080"/>
            <a:ext cx="2743200" cy="320040"/>
          </a:xfrm>
          <a:prstGeom prst="rect">
            <a:avLst/>
          </a:prstGeom>
          <a:noFill/>
          <a:ln/>
        </p:spPr>
        <p:txBody>
          <a:bodyPr wrap="square" rtlCol="0" anchor="ctr"/>
          <a:lstStyle/>
          <a:p>
            <a:pPr indent="0" marL="0">
              <a:buNone/>
            </a:pPr>
            <a:r>
              <a:rPr lang="en-US" sz="1000" spc="200" kern="0" dirty="0">
                <a:solidFill>
                  <a:srgbClr val="6B655C"/>
                </a:solidFill>
                <a:latin typeface="Calibri" pitchFamily="34" charset="0"/>
                <a:ea typeface="Calibri" pitchFamily="34" charset="-122"/>
                <a:cs typeface="Calibri" pitchFamily="34" charset="-120"/>
              </a:rPr>
              <a:t>CELLAR V</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DFCFA"/>
        </a:solidFill>
      </p:bgPr>
    </p:bg>
    <p:spTree>
      <p:nvGrpSpPr>
        <p:cNvPr id="1" name=""/>
        <p:cNvGrpSpPr/>
        <p:nvPr/>
      </p:nvGrpSpPr>
      <p:grpSpPr>
        <a:xfrm>
          <a:off x="0" y="0"/>
          <a:ext cx="0" cy="0"/>
          <a:chOff x="0" y="0"/>
          <a:chExt cx="0" cy="0"/>
        </a:xfrm>
      </p:grpSpPr>
      <p:sp>
        <p:nvSpPr>
          <p:cNvPr id="2" name="Text 0"/>
          <p:cNvSpPr/>
          <p:nvPr/>
        </p:nvSpPr>
        <p:spPr>
          <a:xfrm>
            <a:off x="457200" y="411480"/>
            <a:ext cx="7315200" cy="320040"/>
          </a:xfrm>
          <a:prstGeom prst="rect">
            <a:avLst/>
          </a:prstGeom>
          <a:noFill/>
          <a:ln/>
        </p:spPr>
        <p:txBody>
          <a:bodyPr wrap="square" lIns="0" tIns="0" rIns="0" bIns="0" rtlCol="0" anchor="ctr"/>
          <a:lstStyle/>
          <a:p>
            <a:pPr indent="0" marL="0">
              <a:buNone/>
            </a:pPr>
            <a:r>
              <a:rPr lang="en-US" sz="1200" b="1" spc="200" kern="0" dirty="0">
                <a:solidFill>
                  <a:srgbClr val="C9A227"/>
                </a:solidFill>
                <a:latin typeface="Calibri" pitchFamily="34" charset="0"/>
                <a:ea typeface="Calibri" pitchFamily="34" charset="-122"/>
                <a:cs typeface="Calibri" pitchFamily="34" charset="-120"/>
              </a:rPr>
              <a:t>THE NARRATIVE</a:t>
            </a:r>
            <a:endParaRPr lang="en-US" sz="1200" dirty="0"/>
          </a:p>
        </p:txBody>
      </p:sp>
      <p:sp>
        <p:nvSpPr>
          <p:cNvPr id="3" name="Text 1"/>
          <p:cNvSpPr/>
          <p:nvPr/>
        </p:nvSpPr>
        <p:spPr>
          <a:xfrm>
            <a:off x="457200" y="731520"/>
            <a:ext cx="10332720" cy="1188720"/>
          </a:xfrm>
          <a:prstGeom prst="rect">
            <a:avLst/>
          </a:prstGeom>
          <a:noFill/>
          <a:ln/>
        </p:spPr>
        <p:txBody>
          <a:bodyPr wrap="square" lIns="0" tIns="0" rIns="0" bIns="0" rtlCol="0" anchor="ctr"/>
          <a:lstStyle/>
          <a:p>
            <a:pPr indent="0" marL="0">
              <a:lnSpc>
                <a:spcPct val="105000"/>
              </a:lnSpc>
              <a:buNone/>
            </a:pPr>
            <a:r>
              <a:rPr lang="en-US" sz="2700" b="1" dirty="0">
                <a:solidFill>
                  <a:srgbClr val="2B2420"/>
                </a:solidFill>
                <a:latin typeface="Cambria" pitchFamily="34" charset="0"/>
                <a:ea typeface="Cambria" pitchFamily="34" charset="-122"/>
                <a:cs typeface="Cambria" pitchFamily="34" charset="-120"/>
              </a:rPr>
              <a:t>Five story points, each answering one</a:t>
            </a:r>
            <a:endParaRPr lang="en-US" sz="2700" dirty="0"/>
          </a:p>
          <a:p>
            <a:pPr indent="0" marL="0">
              <a:lnSpc>
                <a:spcPct val="105000"/>
              </a:lnSpc>
              <a:buNone/>
            </a:pPr>
            <a:r>
              <a:rPr lang="en-US" sz="2700" b="1" dirty="0">
                <a:solidFill>
                  <a:srgbClr val="2B2420"/>
                </a:solidFill>
                <a:latin typeface="Cambria" pitchFamily="34" charset="0"/>
                <a:ea typeface="Cambria" pitchFamily="34" charset="-122"/>
                <a:cs typeface="Cambria" pitchFamily="34" charset="-120"/>
              </a:rPr>
              <a:t>executive question in turn.</a:t>
            </a:r>
            <a:endParaRPr lang="en-US" sz="2700" dirty="0"/>
          </a:p>
        </p:txBody>
      </p:sp>
      <p:sp>
        <p:nvSpPr>
          <p:cNvPr id="4" name="Shape 2"/>
          <p:cNvSpPr/>
          <p:nvPr/>
        </p:nvSpPr>
        <p:spPr>
          <a:xfrm>
            <a:off x="457200" y="2148840"/>
            <a:ext cx="2066544" cy="3794760"/>
          </a:xfrm>
          <a:prstGeom prst="roundRect">
            <a:avLst>
              <a:gd name="adj" fmla="val 3540"/>
            </a:avLst>
          </a:prstGeom>
          <a:solidFill>
            <a:srgbClr val="FFFFFF"/>
          </a:solidFill>
          <a:ln w="12700">
            <a:solidFill>
              <a:srgbClr val="D8C9B6"/>
            </a:solidFill>
            <a:prstDash val="solid"/>
          </a:ln>
        </p:spPr>
      </p:sp>
      <p:sp>
        <p:nvSpPr>
          <p:cNvPr id="5" name="Text 3"/>
          <p:cNvSpPr/>
          <p:nvPr/>
        </p:nvSpPr>
        <p:spPr>
          <a:xfrm>
            <a:off x="621792" y="2313432"/>
            <a:ext cx="1737360" cy="502920"/>
          </a:xfrm>
          <a:prstGeom prst="rect">
            <a:avLst/>
          </a:prstGeom>
          <a:noFill/>
          <a:ln/>
        </p:spPr>
        <p:txBody>
          <a:bodyPr wrap="square" lIns="0" tIns="0" rIns="0" bIns="0" rtlCol="0" anchor="ctr"/>
          <a:lstStyle/>
          <a:p>
            <a:pPr indent="0" marL="0">
              <a:buNone/>
            </a:pPr>
            <a:r>
              <a:rPr lang="en-US" sz="2600" b="1" dirty="0">
                <a:solidFill>
                  <a:srgbClr val="C9A227"/>
                </a:solidFill>
                <a:latin typeface="Cambria" pitchFamily="34" charset="0"/>
                <a:ea typeface="Cambria" pitchFamily="34" charset="-122"/>
                <a:cs typeface="Cambria" pitchFamily="34" charset="-120"/>
              </a:rPr>
              <a:t>01</a:t>
            </a:r>
            <a:endParaRPr lang="en-US" sz="2600" dirty="0"/>
          </a:p>
        </p:txBody>
      </p:sp>
      <p:sp>
        <p:nvSpPr>
          <p:cNvPr id="6" name="Text 4"/>
          <p:cNvSpPr/>
          <p:nvPr/>
        </p:nvSpPr>
        <p:spPr>
          <a:xfrm>
            <a:off x="621792" y="2834640"/>
            <a:ext cx="1737360" cy="777240"/>
          </a:xfrm>
          <a:prstGeom prst="rect">
            <a:avLst/>
          </a:prstGeom>
          <a:noFill/>
          <a:ln/>
        </p:spPr>
        <p:txBody>
          <a:bodyPr wrap="square" lIns="0" tIns="0" rIns="0" bIns="0" rtlCol="0" anchor="ctr"/>
          <a:lstStyle/>
          <a:p>
            <a:pPr indent="0" marL="0">
              <a:lnSpc>
                <a:spcPct val="105000"/>
              </a:lnSpc>
              <a:buNone/>
            </a:pPr>
            <a:r>
              <a:rPr lang="en-US" sz="1500" b="1" dirty="0">
                <a:solidFill>
                  <a:srgbClr val="2B2420"/>
                </a:solidFill>
                <a:latin typeface="Cambria" pitchFamily="34" charset="0"/>
                <a:ea typeface="Cambria" pitchFamily="34" charset="-122"/>
                <a:cs typeface="Cambria" pitchFamily="34" charset="-120"/>
              </a:rPr>
              <a:t>The Full Picture</a:t>
            </a:r>
            <a:endParaRPr lang="en-US" sz="1500" dirty="0"/>
          </a:p>
        </p:txBody>
      </p:sp>
      <p:sp>
        <p:nvSpPr>
          <p:cNvPr id="7" name="Text 5"/>
          <p:cNvSpPr/>
          <p:nvPr/>
        </p:nvSpPr>
        <p:spPr>
          <a:xfrm>
            <a:off x="621792" y="3657600"/>
            <a:ext cx="1737360" cy="594360"/>
          </a:xfrm>
          <a:prstGeom prst="rect">
            <a:avLst/>
          </a:prstGeom>
          <a:noFill/>
          <a:ln/>
        </p:spPr>
        <p:txBody>
          <a:bodyPr wrap="square" lIns="0" tIns="0" rIns="0" bIns="0" rtlCol="0" anchor="ctr"/>
          <a:lstStyle/>
          <a:p>
            <a:pPr indent="0" marL="0">
              <a:lnSpc>
                <a:spcPct val="110000"/>
              </a:lnSpc>
              <a:buNone/>
            </a:pPr>
            <a:r>
              <a:rPr lang="en-US" sz="1150" i="1" dirty="0">
                <a:solidFill>
                  <a:srgbClr val="5C1A2B"/>
                </a:solidFill>
                <a:latin typeface="Calibri" pitchFamily="34" charset="0"/>
                <a:ea typeface="Calibri" pitchFamily="34" charset="-122"/>
                <a:cs typeface="Calibri" pitchFamily="34" charset="-120"/>
              </a:rPr>
              <a:t>Is the business healthy?</a:t>
            </a:r>
            <a:endParaRPr lang="en-US" sz="1150" dirty="0"/>
          </a:p>
        </p:txBody>
      </p:sp>
      <p:sp>
        <p:nvSpPr>
          <p:cNvPr id="8" name="Text 6"/>
          <p:cNvSpPr/>
          <p:nvPr/>
        </p:nvSpPr>
        <p:spPr>
          <a:xfrm>
            <a:off x="621792" y="4297680"/>
            <a:ext cx="1737360" cy="1508760"/>
          </a:xfrm>
          <a:prstGeom prst="rect">
            <a:avLst/>
          </a:prstGeom>
          <a:noFill/>
          <a:ln/>
        </p:spPr>
        <p:txBody>
          <a:bodyPr wrap="square" lIns="0" tIns="0" rIns="0" bIns="0" rtlCol="0" anchor="ctr"/>
          <a:lstStyle/>
          <a:p>
            <a:pPr indent="0" marL="0">
              <a:lnSpc>
                <a:spcPct val="120000"/>
              </a:lnSpc>
              <a:buNone/>
            </a:pPr>
            <a:r>
              <a:rPr lang="en-US" sz="1050" dirty="0">
                <a:solidFill>
                  <a:srgbClr val="6B655C"/>
                </a:solidFill>
                <a:latin typeface="Calibri" pitchFamily="34" charset="0"/>
                <a:ea typeface="Calibri" pitchFamily="34" charset="-122"/>
                <a:cs typeface="Calibri" pitchFamily="34" charset="-120"/>
              </a:rPr>
              <a:t>Channel comparison — in-person vs. online, and year over year.</a:t>
            </a:r>
            <a:endParaRPr lang="en-US" sz="1050" dirty="0"/>
          </a:p>
        </p:txBody>
      </p:sp>
      <p:sp>
        <p:nvSpPr>
          <p:cNvPr id="9" name="Shape 7"/>
          <p:cNvSpPr/>
          <p:nvPr/>
        </p:nvSpPr>
        <p:spPr>
          <a:xfrm>
            <a:off x="2633472" y="2148840"/>
            <a:ext cx="2066544" cy="3794760"/>
          </a:xfrm>
          <a:prstGeom prst="roundRect">
            <a:avLst>
              <a:gd name="adj" fmla="val 3540"/>
            </a:avLst>
          </a:prstGeom>
          <a:solidFill>
            <a:srgbClr val="FFFFFF"/>
          </a:solidFill>
          <a:ln w="12700">
            <a:solidFill>
              <a:srgbClr val="D8C9B6"/>
            </a:solidFill>
            <a:prstDash val="solid"/>
          </a:ln>
        </p:spPr>
      </p:sp>
      <p:sp>
        <p:nvSpPr>
          <p:cNvPr id="10" name="Text 8"/>
          <p:cNvSpPr/>
          <p:nvPr/>
        </p:nvSpPr>
        <p:spPr>
          <a:xfrm>
            <a:off x="2798064" y="2313432"/>
            <a:ext cx="1737360" cy="502920"/>
          </a:xfrm>
          <a:prstGeom prst="rect">
            <a:avLst/>
          </a:prstGeom>
          <a:noFill/>
          <a:ln/>
        </p:spPr>
        <p:txBody>
          <a:bodyPr wrap="square" lIns="0" tIns="0" rIns="0" bIns="0" rtlCol="0" anchor="ctr"/>
          <a:lstStyle/>
          <a:p>
            <a:pPr indent="0" marL="0">
              <a:buNone/>
            </a:pPr>
            <a:r>
              <a:rPr lang="en-US" sz="2600" b="1" dirty="0">
                <a:solidFill>
                  <a:srgbClr val="C9A227"/>
                </a:solidFill>
                <a:latin typeface="Cambria" pitchFamily="34" charset="0"/>
                <a:ea typeface="Cambria" pitchFamily="34" charset="-122"/>
                <a:cs typeface="Cambria" pitchFamily="34" charset="-120"/>
              </a:rPr>
              <a:t>02</a:t>
            </a:r>
            <a:endParaRPr lang="en-US" sz="2600" dirty="0"/>
          </a:p>
        </p:txBody>
      </p:sp>
      <p:sp>
        <p:nvSpPr>
          <p:cNvPr id="11" name="Text 9"/>
          <p:cNvSpPr/>
          <p:nvPr/>
        </p:nvSpPr>
        <p:spPr>
          <a:xfrm>
            <a:off x="2798064" y="2834640"/>
            <a:ext cx="1737360" cy="777240"/>
          </a:xfrm>
          <a:prstGeom prst="rect">
            <a:avLst/>
          </a:prstGeom>
          <a:noFill/>
          <a:ln/>
        </p:spPr>
        <p:txBody>
          <a:bodyPr wrap="square" lIns="0" tIns="0" rIns="0" bIns="0" rtlCol="0" anchor="ctr"/>
          <a:lstStyle/>
          <a:p>
            <a:pPr indent="0" marL="0">
              <a:lnSpc>
                <a:spcPct val="105000"/>
              </a:lnSpc>
              <a:buNone/>
            </a:pPr>
            <a:r>
              <a:rPr lang="en-US" sz="1500" b="1" dirty="0">
                <a:solidFill>
                  <a:srgbClr val="2B2420"/>
                </a:solidFill>
                <a:latin typeface="Cambria" pitchFamily="34" charset="0"/>
                <a:ea typeface="Cambria" pitchFamily="34" charset="-122"/>
                <a:cs typeface="Cambria" pitchFamily="34" charset="-120"/>
              </a:rPr>
              <a:t>Where the Money</a:t>
            </a:r>
            <a:endParaRPr lang="en-US" sz="1500" dirty="0"/>
          </a:p>
          <a:p>
            <a:pPr indent="0" marL="0">
              <a:lnSpc>
                <a:spcPct val="105000"/>
              </a:lnSpc>
              <a:buNone/>
            </a:pPr>
            <a:r>
              <a:rPr lang="en-US" sz="1500" b="1" dirty="0">
                <a:solidFill>
                  <a:srgbClr val="2B2420"/>
                </a:solidFill>
                <a:latin typeface="Cambria" pitchFamily="34" charset="0"/>
                <a:ea typeface="Cambria" pitchFamily="34" charset="-122"/>
                <a:cs typeface="Cambria" pitchFamily="34" charset="-120"/>
              </a:rPr>
              <a:t>Comes From</a:t>
            </a:r>
            <a:endParaRPr lang="en-US" sz="1500" dirty="0"/>
          </a:p>
        </p:txBody>
      </p:sp>
      <p:sp>
        <p:nvSpPr>
          <p:cNvPr id="12" name="Text 10"/>
          <p:cNvSpPr/>
          <p:nvPr/>
        </p:nvSpPr>
        <p:spPr>
          <a:xfrm>
            <a:off x="2798064" y="3657600"/>
            <a:ext cx="1737360" cy="594360"/>
          </a:xfrm>
          <a:prstGeom prst="rect">
            <a:avLst/>
          </a:prstGeom>
          <a:noFill/>
          <a:ln/>
        </p:spPr>
        <p:txBody>
          <a:bodyPr wrap="square" lIns="0" tIns="0" rIns="0" bIns="0" rtlCol="0" anchor="ctr"/>
          <a:lstStyle/>
          <a:p>
            <a:pPr indent="0" marL="0">
              <a:lnSpc>
                <a:spcPct val="110000"/>
              </a:lnSpc>
              <a:buNone/>
            </a:pPr>
            <a:r>
              <a:rPr lang="en-US" sz="1150" i="1" dirty="0">
                <a:solidFill>
                  <a:srgbClr val="5C1A2B"/>
                </a:solidFill>
                <a:latin typeface="Calibri" pitchFamily="34" charset="0"/>
                <a:ea typeface="Calibri" pitchFamily="34" charset="-122"/>
                <a:cs typeface="Calibri" pitchFamily="34" charset="-120"/>
              </a:rPr>
              <a:t>What’s actually selling?</a:t>
            </a:r>
            <a:endParaRPr lang="en-US" sz="1150" dirty="0"/>
          </a:p>
        </p:txBody>
      </p:sp>
      <p:sp>
        <p:nvSpPr>
          <p:cNvPr id="13" name="Text 11"/>
          <p:cNvSpPr/>
          <p:nvPr/>
        </p:nvSpPr>
        <p:spPr>
          <a:xfrm>
            <a:off x="2798064" y="4297680"/>
            <a:ext cx="1737360" cy="1508760"/>
          </a:xfrm>
          <a:prstGeom prst="rect">
            <a:avLst/>
          </a:prstGeom>
          <a:noFill/>
          <a:ln/>
        </p:spPr>
        <p:txBody>
          <a:bodyPr wrap="square" lIns="0" tIns="0" rIns="0" bIns="0" rtlCol="0" anchor="ctr"/>
          <a:lstStyle/>
          <a:p>
            <a:pPr indent="0" marL="0">
              <a:lnSpc>
                <a:spcPct val="120000"/>
              </a:lnSpc>
              <a:buNone/>
            </a:pPr>
            <a:r>
              <a:rPr lang="en-US" sz="1050" dirty="0">
                <a:solidFill>
                  <a:srgbClr val="6B655C"/>
                </a:solidFill>
                <a:latin typeface="Calibri" pitchFamily="34" charset="0"/>
                <a:ea typeface="Calibri" pitchFamily="34" charset="-122"/>
                <a:cs typeface="Calibri" pitchFamily="34" charset="-120"/>
              </a:rPr>
              <a:t>Revenue by category — wine mix and SKU concentration.</a:t>
            </a:r>
            <a:endParaRPr lang="en-US" sz="1050" dirty="0"/>
          </a:p>
        </p:txBody>
      </p:sp>
      <p:sp>
        <p:nvSpPr>
          <p:cNvPr id="14" name="Shape 12"/>
          <p:cNvSpPr/>
          <p:nvPr/>
        </p:nvSpPr>
        <p:spPr>
          <a:xfrm>
            <a:off x="4809744" y="2148840"/>
            <a:ext cx="2066544" cy="3794760"/>
          </a:xfrm>
          <a:prstGeom prst="roundRect">
            <a:avLst>
              <a:gd name="adj" fmla="val 3540"/>
            </a:avLst>
          </a:prstGeom>
          <a:solidFill>
            <a:srgbClr val="FFFFFF"/>
          </a:solidFill>
          <a:ln w="12700">
            <a:solidFill>
              <a:srgbClr val="D8C9B6"/>
            </a:solidFill>
            <a:prstDash val="solid"/>
          </a:ln>
        </p:spPr>
      </p:sp>
      <p:sp>
        <p:nvSpPr>
          <p:cNvPr id="15" name="Text 13"/>
          <p:cNvSpPr/>
          <p:nvPr/>
        </p:nvSpPr>
        <p:spPr>
          <a:xfrm>
            <a:off x="4974336" y="2313432"/>
            <a:ext cx="1737360" cy="502920"/>
          </a:xfrm>
          <a:prstGeom prst="rect">
            <a:avLst/>
          </a:prstGeom>
          <a:noFill/>
          <a:ln/>
        </p:spPr>
        <p:txBody>
          <a:bodyPr wrap="square" lIns="0" tIns="0" rIns="0" bIns="0" rtlCol="0" anchor="ctr"/>
          <a:lstStyle/>
          <a:p>
            <a:pPr indent="0" marL="0">
              <a:buNone/>
            </a:pPr>
            <a:r>
              <a:rPr lang="en-US" sz="2600" b="1" dirty="0">
                <a:solidFill>
                  <a:srgbClr val="C9A227"/>
                </a:solidFill>
                <a:latin typeface="Cambria" pitchFamily="34" charset="0"/>
                <a:ea typeface="Cambria" pitchFamily="34" charset="-122"/>
                <a:cs typeface="Cambria" pitchFamily="34" charset="-120"/>
              </a:rPr>
              <a:t>03</a:t>
            </a:r>
            <a:endParaRPr lang="en-US" sz="2600" dirty="0"/>
          </a:p>
        </p:txBody>
      </p:sp>
      <p:sp>
        <p:nvSpPr>
          <p:cNvPr id="16" name="Text 14"/>
          <p:cNvSpPr/>
          <p:nvPr/>
        </p:nvSpPr>
        <p:spPr>
          <a:xfrm>
            <a:off x="4974336" y="2834640"/>
            <a:ext cx="1737360" cy="777240"/>
          </a:xfrm>
          <a:prstGeom prst="rect">
            <a:avLst/>
          </a:prstGeom>
          <a:noFill/>
          <a:ln/>
        </p:spPr>
        <p:txBody>
          <a:bodyPr wrap="square" lIns="0" tIns="0" rIns="0" bIns="0" rtlCol="0" anchor="ctr"/>
          <a:lstStyle/>
          <a:p>
            <a:pPr indent="0" marL="0">
              <a:lnSpc>
                <a:spcPct val="105000"/>
              </a:lnSpc>
              <a:buNone/>
            </a:pPr>
            <a:r>
              <a:rPr lang="en-US" sz="1500" b="1" dirty="0">
                <a:solidFill>
                  <a:srgbClr val="2B2420"/>
                </a:solidFill>
                <a:latin typeface="Cambria" pitchFamily="34" charset="0"/>
                <a:ea typeface="Cambria" pitchFamily="34" charset="-122"/>
                <a:cs typeface="Cambria" pitchFamily="34" charset="-120"/>
              </a:rPr>
              <a:t>Margin &amp;</a:t>
            </a:r>
            <a:endParaRPr lang="en-US" sz="1500" dirty="0"/>
          </a:p>
          <a:p>
            <a:pPr indent="0" marL="0">
              <a:lnSpc>
                <a:spcPct val="105000"/>
              </a:lnSpc>
              <a:buNone/>
            </a:pPr>
            <a:r>
              <a:rPr lang="en-US" sz="1500" b="1" dirty="0">
                <a:solidFill>
                  <a:srgbClr val="2B2420"/>
                </a:solidFill>
                <a:latin typeface="Cambria" pitchFamily="34" charset="0"/>
                <a:ea typeface="Cambria" pitchFamily="34" charset="-122"/>
                <a:cs typeface="Cambria" pitchFamily="34" charset="-120"/>
              </a:rPr>
              <a:t>Membership</a:t>
            </a:r>
            <a:endParaRPr lang="en-US" sz="1500" dirty="0"/>
          </a:p>
        </p:txBody>
      </p:sp>
      <p:sp>
        <p:nvSpPr>
          <p:cNvPr id="17" name="Text 15"/>
          <p:cNvSpPr/>
          <p:nvPr/>
        </p:nvSpPr>
        <p:spPr>
          <a:xfrm>
            <a:off x="4974336" y="3657600"/>
            <a:ext cx="1737360" cy="594360"/>
          </a:xfrm>
          <a:prstGeom prst="rect">
            <a:avLst/>
          </a:prstGeom>
          <a:noFill/>
          <a:ln/>
        </p:spPr>
        <p:txBody>
          <a:bodyPr wrap="square" lIns="0" tIns="0" rIns="0" bIns="0" rtlCol="0" anchor="ctr"/>
          <a:lstStyle/>
          <a:p>
            <a:pPr indent="0" marL="0">
              <a:lnSpc>
                <a:spcPct val="110000"/>
              </a:lnSpc>
              <a:buNone/>
            </a:pPr>
            <a:r>
              <a:rPr lang="en-US" sz="1150" i="1" dirty="0">
                <a:solidFill>
                  <a:srgbClr val="5C1A2B"/>
                </a:solidFill>
                <a:latin typeface="Calibri" pitchFamily="34" charset="0"/>
                <a:ea typeface="Calibri" pitchFamily="34" charset="-122"/>
                <a:cs typeface="Calibri" pitchFamily="34" charset="-120"/>
              </a:rPr>
              <a:t>What’s it costing us,</a:t>
            </a:r>
            <a:endParaRPr lang="en-US" sz="1150" dirty="0"/>
          </a:p>
          <a:p>
            <a:pPr indent="0" marL="0">
              <a:lnSpc>
                <a:spcPct val="110000"/>
              </a:lnSpc>
              <a:buNone/>
            </a:pPr>
            <a:r>
              <a:rPr lang="en-US" sz="1150" i="1" dirty="0">
                <a:solidFill>
                  <a:srgbClr val="5C1A2B"/>
                </a:solidFill>
                <a:latin typeface="Calibri" pitchFamily="34" charset="0"/>
                <a:ea typeface="Calibri" pitchFamily="34" charset="-122"/>
                <a:cs typeface="Calibri" pitchFamily="34" charset="-120"/>
              </a:rPr>
              <a:t>and who’s valuable?</a:t>
            </a:r>
            <a:endParaRPr lang="en-US" sz="1150" dirty="0"/>
          </a:p>
        </p:txBody>
      </p:sp>
      <p:sp>
        <p:nvSpPr>
          <p:cNvPr id="18" name="Text 16"/>
          <p:cNvSpPr/>
          <p:nvPr/>
        </p:nvSpPr>
        <p:spPr>
          <a:xfrm>
            <a:off x="4974336" y="4297680"/>
            <a:ext cx="1737360" cy="1508760"/>
          </a:xfrm>
          <a:prstGeom prst="rect">
            <a:avLst/>
          </a:prstGeom>
          <a:noFill/>
          <a:ln/>
        </p:spPr>
        <p:txBody>
          <a:bodyPr wrap="square" lIns="0" tIns="0" rIns="0" bIns="0" rtlCol="0" anchor="ctr"/>
          <a:lstStyle/>
          <a:p>
            <a:pPr indent="0" marL="0">
              <a:lnSpc>
                <a:spcPct val="120000"/>
              </a:lnSpc>
              <a:buNone/>
            </a:pPr>
            <a:r>
              <a:rPr lang="en-US" sz="1050" dirty="0">
                <a:solidFill>
                  <a:srgbClr val="6B655C"/>
                </a:solidFill>
                <a:latin typeface="Calibri" pitchFamily="34" charset="0"/>
                <a:ea typeface="Calibri" pitchFamily="34" charset="-122"/>
                <a:cs typeface="Calibri" pitchFamily="34" charset="-120"/>
              </a:rPr>
              <a:t>Discount rate by category, plus member vs. non-member value.</a:t>
            </a:r>
            <a:endParaRPr lang="en-US" sz="1050" dirty="0"/>
          </a:p>
        </p:txBody>
      </p:sp>
      <p:sp>
        <p:nvSpPr>
          <p:cNvPr id="19" name="Shape 17"/>
          <p:cNvSpPr/>
          <p:nvPr/>
        </p:nvSpPr>
        <p:spPr>
          <a:xfrm>
            <a:off x="6986016" y="2148840"/>
            <a:ext cx="2066544" cy="3794760"/>
          </a:xfrm>
          <a:prstGeom prst="roundRect">
            <a:avLst>
              <a:gd name="adj" fmla="val 3540"/>
            </a:avLst>
          </a:prstGeom>
          <a:solidFill>
            <a:srgbClr val="FFFFFF"/>
          </a:solidFill>
          <a:ln w="12700">
            <a:solidFill>
              <a:srgbClr val="D8C9B6"/>
            </a:solidFill>
            <a:prstDash val="solid"/>
          </a:ln>
        </p:spPr>
      </p:sp>
      <p:sp>
        <p:nvSpPr>
          <p:cNvPr id="20" name="Text 18"/>
          <p:cNvSpPr/>
          <p:nvPr/>
        </p:nvSpPr>
        <p:spPr>
          <a:xfrm>
            <a:off x="7150608" y="2313432"/>
            <a:ext cx="1737360" cy="502920"/>
          </a:xfrm>
          <a:prstGeom prst="rect">
            <a:avLst/>
          </a:prstGeom>
          <a:noFill/>
          <a:ln/>
        </p:spPr>
        <p:txBody>
          <a:bodyPr wrap="square" lIns="0" tIns="0" rIns="0" bIns="0" rtlCol="0" anchor="ctr"/>
          <a:lstStyle/>
          <a:p>
            <a:pPr indent="0" marL="0">
              <a:buNone/>
            </a:pPr>
            <a:r>
              <a:rPr lang="en-US" sz="2600" b="1" dirty="0">
                <a:solidFill>
                  <a:srgbClr val="C9A227"/>
                </a:solidFill>
                <a:latin typeface="Cambria" pitchFamily="34" charset="0"/>
                <a:ea typeface="Cambria" pitchFamily="34" charset="-122"/>
                <a:cs typeface="Cambria" pitchFamily="34" charset="-120"/>
              </a:rPr>
              <a:t>04</a:t>
            </a:r>
            <a:endParaRPr lang="en-US" sz="2600" dirty="0"/>
          </a:p>
        </p:txBody>
      </p:sp>
      <p:sp>
        <p:nvSpPr>
          <p:cNvPr id="21" name="Text 19"/>
          <p:cNvSpPr/>
          <p:nvPr/>
        </p:nvSpPr>
        <p:spPr>
          <a:xfrm>
            <a:off x="7150608" y="2834640"/>
            <a:ext cx="1737360" cy="777240"/>
          </a:xfrm>
          <a:prstGeom prst="rect">
            <a:avLst/>
          </a:prstGeom>
          <a:noFill/>
          <a:ln/>
        </p:spPr>
        <p:txBody>
          <a:bodyPr wrap="square" lIns="0" tIns="0" rIns="0" bIns="0" rtlCol="0" anchor="ctr"/>
          <a:lstStyle/>
          <a:p>
            <a:pPr indent="0" marL="0">
              <a:lnSpc>
                <a:spcPct val="105000"/>
              </a:lnSpc>
              <a:buNone/>
            </a:pPr>
            <a:r>
              <a:rPr lang="en-US" sz="1500" b="1" dirty="0">
                <a:solidFill>
                  <a:srgbClr val="2B2420"/>
                </a:solidFill>
                <a:latin typeface="Cambria" pitchFamily="34" charset="0"/>
                <a:ea typeface="Cambria" pitchFamily="34" charset="-122"/>
                <a:cs typeface="Cambria" pitchFamily="34" charset="-120"/>
              </a:rPr>
              <a:t>The Online</a:t>
            </a:r>
            <a:endParaRPr lang="en-US" sz="1500" dirty="0"/>
          </a:p>
          <a:p>
            <a:pPr indent="0" marL="0">
              <a:lnSpc>
                <a:spcPct val="105000"/>
              </a:lnSpc>
              <a:buNone/>
            </a:pPr>
            <a:r>
              <a:rPr lang="en-US" sz="1500" b="1" dirty="0">
                <a:solidFill>
                  <a:srgbClr val="2B2420"/>
                </a:solidFill>
                <a:latin typeface="Cambria" pitchFamily="34" charset="0"/>
                <a:ea typeface="Cambria" pitchFamily="34" charset="-122"/>
                <a:cs typeface="Cambria" pitchFamily="34" charset="-120"/>
              </a:rPr>
              <a:t>Channel</a:t>
            </a:r>
            <a:endParaRPr lang="en-US" sz="1500" dirty="0"/>
          </a:p>
        </p:txBody>
      </p:sp>
      <p:sp>
        <p:nvSpPr>
          <p:cNvPr id="22" name="Text 20"/>
          <p:cNvSpPr/>
          <p:nvPr/>
        </p:nvSpPr>
        <p:spPr>
          <a:xfrm>
            <a:off x="7150608" y="3657600"/>
            <a:ext cx="1737360" cy="594360"/>
          </a:xfrm>
          <a:prstGeom prst="rect">
            <a:avLst/>
          </a:prstGeom>
          <a:noFill/>
          <a:ln/>
        </p:spPr>
        <p:txBody>
          <a:bodyPr wrap="square" lIns="0" tIns="0" rIns="0" bIns="0" rtlCol="0" anchor="ctr"/>
          <a:lstStyle/>
          <a:p>
            <a:pPr indent="0" marL="0">
              <a:lnSpc>
                <a:spcPct val="110000"/>
              </a:lnSpc>
              <a:buNone/>
            </a:pPr>
            <a:r>
              <a:rPr lang="en-US" sz="1150" i="1" dirty="0">
                <a:solidFill>
                  <a:srgbClr val="5C1A2B"/>
                </a:solidFill>
                <a:latin typeface="Calibri" pitchFamily="34" charset="0"/>
                <a:ea typeface="Calibri" pitchFamily="34" charset="-122"/>
                <a:cs typeface="Calibri" pitchFamily="34" charset="-120"/>
              </a:rPr>
              <a:t>Should we fix</a:t>
            </a:r>
            <a:endParaRPr lang="en-US" sz="1150" dirty="0"/>
          </a:p>
          <a:p>
            <a:pPr indent="0" marL="0">
              <a:lnSpc>
                <a:spcPct val="110000"/>
              </a:lnSpc>
              <a:buNone/>
            </a:pPr>
            <a:r>
              <a:rPr lang="en-US" sz="1150" i="1" dirty="0">
                <a:solidFill>
                  <a:srgbClr val="5C1A2B"/>
                </a:solidFill>
                <a:latin typeface="Calibri" pitchFamily="34" charset="0"/>
                <a:ea typeface="Calibri" pitchFamily="34" charset="-122"/>
                <a:cs typeface="Calibri" pitchFamily="34" charset="-120"/>
              </a:rPr>
              <a:t>the website?</a:t>
            </a:r>
            <a:endParaRPr lang="en-US" sz="1150" dirty="0"/>
          </a:p>
        </p:txBody>
      </p:sp>
      <p:sp>
        <p:nvSpPr>
          <p:cNvPr id="23" name="Text 21"/>
          <p:cNvSpPr/>
          <p:nvPr/>
        </p:nvSpPr>
        <p:spPr>
          <a:xfrm>
            <a:off x="7150608" y="4297680"/>
            <a:ext cx="1737360" cy="1508760"/>
          </a:xfrm>
          <a:prstGeom prst="rect">
            <a:avLst/>
          </a:prstGeom>
          <a:noFill/>
          <a:ln/>
        </p:spPr>
        <p:txBody>
          <a:bodyPr wrap="square" lIns="0" tIns="0" rIns="0" bIns="0" rtlCol="0" anchor="ctr"/>
          <a:lstStyle/>
          <a:p>
            <a:pPr indent="0" marL="0">
              <a:lnSpc>
                <a:spcPct val="120000"/>
              </a:lnSpc>
              <a:buNone/>
            </a:pPr>
            <a:r>
              <a:rPr lang="en-US" sz="1050" dirty="0">
                <a:solidFill>
                  <a:srgbClr val="6B655C"/>
                </a:solidFill>
                <a:latin typeface="Calibri" pitchFamily="34" charset="0"/>
                <a:ea typeface="Calibri" pitchFamily="34" charset="-122"/>
                <a:cs typeface="Calibri" pitchFamily="34" charset="-120"/>
              </a:rPr>
              <a:t>Stock-outs and conversion on the Shopify store.</a:t>
            </a:r>
            <a:endParaRPr lang="en-US" sz="1050" dirty="0"/>
          </a:p>
        </p:txBody>
      </p:sp>
      <p:sp>
        <p:nvSpPr>
          <p:cNvPr id="24" name="Shape 22"/>
          <p:cNvSpPr/>
          <p:nvPr/>
        </p:nvSpPr>
        <p:spPr>
          <a:xfrm>
            <a:off x="9162288" y="2148840"/>
            <a:ext cx="2066544" cy="3794760"/>
          </a:xfrm>
          <a:prstGeom prst="roundRect">
            <a:avLst>
              <a:gd name="adj" fmla="val 3540"/>
            </a:avLst>
          </a:prstGeom>
          <a:solidFill>
            <a:srgbClr val="5C1A2B"/>
          </a:solidFill>
          <a:ln w="12700">
            <a:solidFill>
              <a:srgbClr val="D8C9B6"/>
            </a:solidFill>
            <a:prstDash val="solid"/>
          </a:ln>
        </p:spPr>
      </p:sp>
      <p:sp>
        <p:nvSpPr>
          <p:cNvPr id="25" name="Text 23"/>
          <p:cNvSpPr/>
          <p:nvPr/>
        </p:nvSpPr>
        <p:spPr>
          <a:xfrm>
            <a:off x="9326880" y="2313432"/>
            <a:ext cx="1737360" cy="502920"/>
          </a:xfrm>
          <a:prstGeom prst="rect">
            <a:avLst/>
          </a:prstGeom>
          <a:noFill/>
          <a:ln/>
        </p:spPr>
        <p:txBody>
          <a:bodyPr wrap="square" lIns="0" tIns="0" rIns="0" bIns="0" rtlCol="0" anchor="ctr"/>
          <a:lstStyle/>
          <a:p>
            <a:pPr indent="0" marL="0">
              <a:buNone/>
            </a:pPr>
            <a:r>
              <a:rPr lang="en-US" sz="2600" b="1" dirty="0">
                <a:solidFill>
                  <a:srgbClr val="E3B96B"/>
                </a:solidFill>
                <a:latin typeface="Cambria" pitchFamily="34" charset="0"/>
                <a:ea typeface="Cambria" pitchFamily="34" charset="-122"/>
                <a:cs typeface="Cambria" pitchFamily="34" charset="-120"/>
              </a:rPr>
              <a:t>05</a:t>
            </a:r>
            <a:endParaRPr lang="en-US" sz="2600" dirty="0"/>
          </a:p>
        </p:txBody>
      </p:sp>
      <p:sp>
        <p:nvSpPr>
          <p:cNvPr id="26" name="Text 24"/>
          <p:cNvSpPr/>
          <p:nvPr/>
        </p:nvSpPr>
        <p:spPr>
          <a:xfrm>
            <a:off x="9326880" y="2834640"/>
            <a:ext cx="1737360" cy="777240"/>
          </a:xfrm>
          <a:prstGeom prst="rect">
            <a:avLst/>
          </a:prstGeom>
          <a:noFill/>
          <a:ln/>
        </p:spPr>
        <p:txBody>
          <a:bodyPr wrap="square" lIns="0" tIns="0" rIns="0" bIns="0" rtlCol="0" anchor="ctr"/>
          <a:lstStyle/>
          <a:p>
            <a:pPr indent="0" marL="0">
              <a:lnSpc>
                <a:spcPct val="105000"/>
              </a:lnSpc>
              <a:buNone/>
            </a:pPr>
            <a:r>
              <a:rPr lang="en-US" sz="1500" b="1" dirty="0">
                <a:solidFill>
                  <a:srgbClr val="FFFFFF"/>
                </a:solidFill>
                <a:latin typeface="Cambria" pitchFamily="34" charset="0"/>
                <a:ea typeface="Cambria" pitchFamily="34" charset="-122"/>
                <a:cs typeface="Cambria" pitchFamily="34" charset="-120"/>
              </a:rPr>
              <a:t>The</a:t>
            </a:r>
            <a:endParaRPr lang="en-US" sz="1500" dirty="0"/>
          </a:p>
          <a:p>
            <a:pPr indent="0" marL="0">
              <a:lnSpc>
                <a:spcPct val="105000"/>
              </a:lnSpc>
              <a:buNone/>
            </a:pPr>
            <a:r>
              <a:rPr lang="en-US" sz="1500" b="1" dirty="0">
                <a:solidFill>
                  <a:srgbClr val="FFFFFF"/>
                </a:solidFill>
                <a:latin typeface="Cambria" pitchFamily="34" charset="0"/>
                <a:ea typeface="Cambria" pitchFamily="34" charset="-122"/>
                <a:cs typeface="Cambria" pitchFamily="34" charset="-120"/>
              </a:rPr>
              <a:t>Recommendation</a:t>
            </a:r>
            <a:endParaRPr lang="en-US" sz="1500" dirty="0"/>
          </a:p>
        </p:txBody>
      </p:sp>
      <p:sp>
        <p:nvSpPr>
          <p:cNvPr id="27" name="Text 25"/>
          <p:cNvSpPr/>
          <p:nvPr/>
        </p:nvSpPr>
        <p:spPr>
          <a:xfrm>
            <a:off x="9326880" y="3657600"/>
            <a:ext cx="1737360" cy="594360"/>
          </a:xfrm>
          <a:prstGeom prst="rect">
            <a:avLst/>
          </a:prstGeom>
          <a:noFill/>
          <a:ln/>
        </p:spPr>
        <p:txBody>
          <a:bodyPr wrap="square" lIns="0" tIns="0" rIns="0" bIns="0" rtlCol="0" anchor="ctr"/>
          <a:lstStyle/>
          <a:p>
            <a:pPr indent="0" marL="0">
              <a:lnSpc>
                <a:spcPct val="110000"/>
              </a:lnSpc>
              <a:buNone/>
            </a:pPr>
            <a:r>
              <a:rPr lang="en-US" sz="1150" i="1" dirty="0">
                <a:solidFill>
                  <a:srgbClr val="E3B96B"/>
                </a:solidFill>
                <a:latin typeface="Calibri" pitchFamily="34" charset="0"/>
                <a:ea typeface="Calibri" pitchFamily="34" charset="-122"/>
                <a:cs typeface="Calibri" pitchFamily="34" charset="-120"/>
              </a:rPr>
              <a:t>So what do</a:t>
            </a:r>
            <a:endParaRPr lang="en-US" sz="1150" dirty="0"/>
          </a:p>
          <a:p>
            <a:pPr indent="0" marL="0">
              <a:lnSpc>
                <a:spcPct val="110000"/>
              </a:lnSpc>
              <a:buNone/>
            </a:pPr>
            <a:r>
              <a:rPr lang="en-US" sz="1150" i="1" dirty="0">
                <a:solidFill>
                  <a:srgbClr val="E3B96B"/>
                </a:solidFill>
                <a:latin typeface="Calibri" pitchFamily="34" charset="0"/>
                <a:ea typeface="Calibri" pitchFamily="34" charset="-122"/>
                <a:cs typeface="Calibri" pitchFamily="34" charset="-120"/>
              </a:rPr>
              <a:t>we do?</a:t>
            </a:r>
            <a:endParaRPr lang="en-US" sz="1150" dirty="0"/>
          </a:p>
        </p:txBody>
      </p:sp>
      <p:sp>
        <p:nvSpPr>
          <p:cNvPr id="28" name="Text 26"/>
          <p:cNvSpPr/>
          <p:nvPr/>
        </p:nvSpPr>
        <p:spPr>
          <a:xfrm>
            <a:off x="9326880" y="4297680"/>
            <a:ext cx="1737360" cy="1508760"/>
          </a:xfrm>
          <a:prstGeom prst="rect">
            <a:avLst/>
          </a:prstGeom>
          <a:noFill/>
          <a:ln/>
        </p:spPr>
        <p:txBody>
          <a:bodyPr wrap="square" lIns="0" tIns="0" rIns="0" bIns="0" rtlCol="0" anchor="ctr"/>
          <a:lstStyle/>
          <a:p>
            <a:pPr indent="0" marL="0">
              <a:lnSpc>
                <a:spcPct val="120000"/>
              </a:lnSpc>
              <a:buNone/>
            </a:pPr>
            <a:r>
              <a:rPr lang="en-US" sz="1050" dirty="0">
                <a:solidFill>
                  <a:srgbClr val="E7DCD5"/>
                </a:solidFill>
                <a:latin typeface="Calibri" pitchFamily="34" charset="0"/>
                <a:ea typeface="Calibri" pitchFamily="34" charset="-122"/>
                <a:cs typeface="Calibri" pitchFamily="34" charset="-120"/>
              </a:rPr>
              <a:t>Three prioritized levers with expected impact.</a:t>
            </a:r>
            <a:endParaRPr lang="en-US" sz="1050" dirty="0"/>
          </a:p>
        </p:txBody>
      </p:sp>
      <p:sp>
        <p:nvSpPr>
          <p:cNvPr id="29" name="Text 27"/>
          <p:cNvSpPr/>
          <p:nvPr/>
        </p:nvSpPr>
        <p:spPr>
          <a:xfrm>
            <a:off x="11277295" y="6355080"/>
            <a:ext cx="548640" cy="320040"/>
          </a:xfrm>
          <a:prstGeom prst="rect">
            <a:avLst/>
          </a:prstGeom>
          <a:noFill/>
          <a:ln/>
        </p:spPr>
        <p:txBody>
          <a:bodyPr wrap="square" rtlCol="0" anchor="ctr"/>
          <a:lstStyle/>
          <a:p>
            <a:pPr algn="r" indent="0" marL="0">
              <a:buNone/>
            </a:pPr>
            <a:r>
              <a:rPr lang="en-US" sz="1000" dirty="0">
                <a:solidFill>
                  <a:srgbClr val="6B655C"/>
                </a:solidFill>
                <a:latin typeface="Calibri" pitchFamily="34" charset="0"/>
                <a:ea typeface="Calibri" pitchFamily="34" charset="-122"/>
                <a:cs typeface="Calibri" pitchFamily="34" charset="-120"/>
              </a:rPr>
              <a:t>03</a:t>
            </a:r>
            <a:endParaRPr lang="en-US" sz="1000" dirty="0"/>
          </a:p>
        </p:txBody>
      </p:sp>
      <p:sp>
        <p:nvSpPr>
          <p:cNvPr id="30" name="Text 28"/>
          <p:cNvSpPr/>
          <p:nvPr/>
        </p:nvSpPr>
        <p:spPr>
          <a:xfrm>
            <a:off x="457200" y="6355080"/>
            <a:ext cx="2743200" cy="320040"/>
          </a:xfrm>
          <a:prstGeom prst="rect">
            <a:avLst/>
          </a:prstGeom>
          <a:noFill/>
          <a:ln/>
        </p:spPr>
        <p:txBody>
          <a:bodyPr wrap="square" rtlCol="0" anchor="ctr"/>
          <a:lstStyle/>
          <a:p>
            <a:pPr indent="0" marL="0">
              <a:buNone/>
            </a:pPr>
            <a:r>
              <a:rPr lang="en-US" sz="1000" spc="200" kern="0" dirty="0">
                <a:solidFill>
                  <a:srgbClr val="6B655C"/>
                </a:solidFill>
                <a:latin typeface="Calibri" pitchFamily="34" charset="0"/>
                <a:ea typeface="Calibri" pitchFamily="34" charset="-122"/>
                <a:cs typeface="Calibri" pitchFamily="34" charset="-120"/>
              </a:rPr>
              <a:t>CELLAR V</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DFCFA"/>
        </a:solidFill>
      </p:bgPr>
    </p:bg>
    <p:spTree>
      <p:nvGrpSpPr>
        <p:cNvPr id="1" name=""/>
        <p:cNvGrpSpPr/>
        <p:nvPr/>
      </p:nvGrpSpPr>
      <p:grpSpPr>
        <a:xfrm>
          <a:off x="0" y="0"/>
          <a:ext cx="0" cy="0"/>
          <a:chOff x="0" y="0"/>
          <a:chExt cx="0" cy="0"/>
        </a:xfrm>
      </p:grpSpPr>
      <p:sp>
        <p:nvSpPr>
          <p:cNvPr id="2" name="Text 0"/>
          <p:cNvSpPr/>
          <p:nvPr/>
        </p:nvSpPr>
        <p:spPr>
          <a:xfrm>
            <a:off x="457200" y="411480"/>
            <a:ext cx="7315200" cy="320040"/>
          </a:xfrm>
          <a:prstGeom prst="rect">
            <a:avLst/>
          </a:prstGeom>
          <a:noFill/>
          <a:ln/>
        </p:spPr>
        <p:txBody>
          <a:bodyPr wrap="square" lIns="0" tIns="0" rIns="0" bIns="0" rtlCol="0" anchor="ctr"/>
          <a:lstStyle/>
          <a:p>
            <a:pPr indent="0" marL="0">
              <a:buNone/>
            </a:pPr>
            <a:r>
              <a:rPr lang="en-US" sz="1200" b="1" spc="200" kern="0" dirty="0">
                <a:solidFill>
                  <a:srgbClr val="C9A227"/>
                </a:solidFill>
                <a:latin typeface="Calibri" pitchFamily="34" charset="0"/>
                <a:ea typeface="Calibri" pitchFamily="34" charset="-122"/>
                <a:cs typeface="Calibri" pitchFamily="34" charset="-120"/>
              </a:rPr>
              <a:t>THE ARTEFACT</a:t>
            </a:r>
            <a:endParaRPr lang="en-US" sz="1200" dirty="0"/>
          </a:p>
        </p:txBody>
      </p:sp>
      <p:sp>
        <p:nvSpPr>
          <p:cNvPr id="3" name="Text 1"/>
          <p:cNvSpPr/>
          <p:nvPr/>
        </p:nvSpPr>
        <p:spPr>
          <a:xfrm>
            <a:off x="457200" y="731520"/>
            <a:ext cx="10332720" cy="1188720"/>
          </a:xfrm>
          <a:prstGeom prst="rect">
            <a:avLst/>
          </a:prstGeom>
          <a:noFill/>
          <a:ln/>
        </p:spPr>
        <p:txBody>
          <a:bodyPr wrap="square" lIns="0" tIns="0" rIns="0" bIns="0" rtlCol="0" anchor="ctr"/>
          <a:lstStyle/>
          <a:p>
            <a:pPr indent="0" marL="0">
              <a:lnSpc>
                <a:spcPct val="105000"/>
              </a:lnSpc>
              <a:buNone/>
            </a:pPr>
            <a:r>
              <a:rPr lang="en-US" sz="2700" b="1" dirty="0">
                <a:solidFill>
                  <a:srgbClr val="2B2420"/>
                </a:solidFill>
                <a:latin typeface="Cambria" pitchFamily="34" charset="0"/>
                <a:ea typeface="Cambria" pitchFamily="34" charset="-122"/>
                <a:cs typeface="Cambria" pitchFamily="34" charset="-120"/>
              </a:rPr>
              <a:t>A lightweight Streamlit app, built on</a:t>
            </a:r>
            <a:endParaRPr lang="en-US" sz="2700" dirty="0"/>
          </a:p>
          <a:p>
            <a:pPr indent="0" marL="0">
              <a:lnSpc>
                <a:spcPct val="105000"/>
              </a:lnSpc>
              <a:buNone/>
            </a:pPr>
            <a:r>
              <a:rPr lang="en-US" sz="2700" b="1" dirty="0">
                <a:solidFill>
                  <a:srgbClr val="2B2420"/>
                </a:solidFill>
                <a:latin typeface="Cambria" pitchFamily="34" charset="0"/>
                <a:ea typeface="Cambria" pitchFamily="34" charset="-122"/>
                <a:cs typeface="Cambria" pitchFamily="34" charset="-120"/>
              </a:rPr>
              <a:t>combined POS and Shopify data.</a:t>
            </a:r>
            <a:endParaRPr lang="en-US" sz="2700" dirty="0"/>
          </a:p>
        </p:txBody>
      </p:sp>
      <p:sp>
        <p:nvSpPr>
          <p:cNvPr id="4" name="Text 2"/>
          <p:cNvSpPr/>
          <p:nvPr/>
        </p:nvSpPr>
        <p:spPr>
          <a:xfrm>
            <a:off x="457200" y="2103120"/>
            <a:ext cx="10332720" cy="731520"/>
          </a:xfrm>
          <a:prstGeom prst="rect">
            <a:avLst/>
          </a:prstGeom>
          <a:noFill/>
          <a:ln/>
        </p:spPr>
        <p:txBody>
          <a:bodyPr wrap="square" lIns="0" tIns="0" rIns="0" bIns="0" rtlCol="0" anchor="ctr"/>
          <a:lstStyle/>
          <a:p>
            <a:pPr indent="0" marL="0">
              <a:lnSpc>
                <a:spcPct val="125000"/>
              </a:lnSpc>
              <a:buNone/>
            </a:pPr>
            <a:r>
              <a:rPr lang="en-US" sz="1400" dirty="0">
                <a:solidFill>
                  <a:srgbClr val="2B2420"/>
                </a:solidFill>
                <a:latin typeface="Calibri" pitchFamily="34" charset="0"/>
                <a:ea typeface="Calibri" pitchFamily="34" charset="-122"/>
                <a:cs typeface="Calibri" pitchFamily="34" charset="-120"/>
              </a:rPr>
              <a:t>Six linked tabs mirror the story points on this deck, reading live from the combined 2025-2026 POS exports and the Shopify Admin API. A reporting-period filter re-cuts every in-person figure for 2025, 2026 to date, or both. The figures on the following slides come directly from this app.</a:t>
            </a:r>
            <a:endParaRPr lang="en-US" sz="1400" dirty="0"/>
          </a:p>
        </p:txBody>
      </p:sp>
      <p:sp>
        <p:nvSpPr>
          <p:cNvPr id="5" name="Shape 3"/>
          <p:cNvSpPr/>
          <p:nvPr/>
        </p:nvSpPr>
        <p:spPr>
          <a:xfrm>
            <a:off x="457200" y="2971800"/>
            <a:ext cx="3337560" cy="1234440"/>
          </a:xfrm>
          <a:prstGeom prst="roundRect">
            <a:avLst>
              <a:gd name="adj" fmla="val 5926"/>
            </a:avLst>
          </a:prstGeom>
          <a:solidFill>
            <a:srgbClr val="FFFFFF"/>
          </a:solidFill>
          <a:ln w="12700">
            <a:solidFill>
              <a:srgbClr val="D8C9B6"/>
            </a:solidFill>
            <a:prstDash val="solid"/>
          </a:ln>
        </p:spPr>
      </p:sp>
      <p:sp>
        <p:nvSpPr>
          <p:cNvPr id="6" name="Shape 4"/>
          <p:cNvSpPr/>
          <p:nvPr/>
        </p:nvSpPr>
        <p:spPr>
          <a:xfrm>
            <a:off x="640080" y="3136392"/>
            <a:ext cx="365760" cy="365760"/>
          </a:xfrm>
          <a:prstGeom prst="ellipse">
            <a:avLst/>
          </a:prstGeom>
          <a:solidFill>
            <a:srgbClr val="5C1A2B"/>
          </a:solidFill>
          <a:ln/>
        </p:spPr>
      </p:sp>
      <p:sp>
        <p:nvSpPr>
          <p:cNvPr id="7" name="Text 5"/>
          <p:cNvSpPr/>
          <p:nvPr/>
        </p:nvSpPr>
        <p:spPr>
          <a:xfrm>
            <a:off x="640080" y="313639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p:nvPr/>
        </p:nvSpPr>
        <p:spPr>
          <a:xfrm>
            <a:off x="1115568" y="3063240"/>
            <a:ext cx="2514600" cy="548640"/>
          </a:xfrm>
          <a:prstGeom prst="rect">
            <a:avLst/>
          </a:prstGeom>
          <a:noFill/>
          <a:ln/>
        </p:spPr>
        <p:txBody>
          <a:bodyPr wrap="square" lIns="0" tIns="0" rIns="0" bIns="0" rtlCol="0" anchor="ctr"/>
          <a:lstStyle/>
          <a:p>
            <a:pPr indent="0" marL="0">
              <a:lnSpc>
                <a:spcPct val="102000"/>
              </a:lnSpc>
              <a:buNone/>
            </a:pPr>
            <a:r>
              <a:rPr lang="en-US" sz="1200" b="1" dirty="0">
                <a:solidFill>
                  <a:srgbClr val="2B2420"/>
                </a:solidFill>
                <a:latin typeface="Cambria" pitchFamily="34" charset="0"/>
                <a:ea typeface="Cambria" pitchFamily="34" charset="-122"/>
                <a:cs typeface="Cambria" pitchFamily="34" charset="-120"/>
              </a:rPr>
              <a:t>The Full Picture</a:t>
            </a:r>
            <a:endParaRPr lang="en-US" sz="1200" dirty="0"/>
          </a:p>
        </p:txBody>
      </p:sp>
      <p:sp>
        <p:nvSpPr>
          <p:cNvPr id="9" name="Text 7"/>
          <p:cNvSpPr/>
          <p:nvPr/>
        </p:nvSpPr>
        <p:spPr>
          <a:xfrm>
            <a:off x="640080" y="3721608"/>
            <a:ext cx="2971800" cy="438912"/>
          </a:xfrm>
          <a:prstGeom prst="rect">
            <a:avLst/>
          </a:prstGeom>
          <a:noFill/>
          <a:ln/>
        </p:spPr>
        <p:txBody>
          <a:bodyPr wrap="square" lIns="0" tIns="0" rIns="0" bIns="0" rtlCol="0" anchor="ctr"/>
          <a:lstStyle/>
          <a:p>
            <a:pPr indent="0" marL="0">
              <a:lnSpc>
                <a:spcPct val="110000"/>
              </a:lnSpc>
              <a:buNone/>
            </a:pPr>
            <a:r>
              <a:rPr lang="en-US" sz="950" dirty="0">
                <a:solidFill>
                  <a:srgbClr val="6B655C"/>
                </a:solidFill>
                <a:latin typeface="Calibri" pitchFamily="34" charset="0"/>
                <a:ea typeface="Calibri" pitchFamily="34" charset="-122"/>
                <a:cs typeface="Calibri" pitchFamily="34" charset="-120"/>
              </a:rPr>
              <a:t>Channel comparison &amp; by-year KPIs</a:t>
            </a:r>
            <a:endParaRPr lang="en-US" sz="950" dirty="0"/>
          </a:p>
        </p:txBody>
      </p:sp>
      <p:sp>
        <p:nvSpPr>
          <p:cNvPr id="10" name="Shape 8"/>
          <p:cNvSpPr/>
          <p:nvPr/>
        </p:nvSpPr>
        <p:spPr>
          <a:xfrm>
            <a:off x="3977640" y="2971800"/>
            <a:ext cx="3337560" cy="1234440"/>
          </a:xfrm>
          <a:prstGeom prst="roundRect">
            <a:avLst>
              <a:gd name="adj" fmla="val 5926"/>
            </a:avLst>
          </a:prstGeom>
          <a:solidFill>
            <a:srgbClr val="FFFFFF"/>
          </a:solidFill>
          <a:ln w="12700">
            <a:solidFill>
              <a:srgbClr val="D8C9B6"/>
            </a:solidFill>
            <a:prstDash val="solid"/>
          </a:ln>
        </p:spPr>
      </p:sp>
      <p:sp>
        <p:nvSpPr>
          <p:cNvPr id="11" name="Shape 9"/>
          <p:cNvSpPr/>
          <p:nvPr/>
        </p:nvSpPr>
        <p:spPr>
          <a:xfrm>
            <a:off x="4160520" y="3136392"/>
            <a:ext cx="365760" cy="365760"/>
          </a:xfrm>
          <a:prstGeom prst="ellipse">
            <a:avLst/>
          </a:prstGeom>
          <a:solidFill>
            <a:srgbClr val="5C1A2B"/>
          </a:solidFill>
          <a:ln/>
        </p:spPr>
      </p:sp>
      <p:sp>
        <p:nvSpPr>
          <p:cNvPr id="12" name="Text 10"/>
          <p:cNvSpPr/>
          <p:nvPr/>
        </p:nvSpPr>
        <p:spPr>
          <a:xfrm>
            <a:off x="4160520" y="313639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3" name="Text 11"/>
          <p:cNvSpPr/>
          <p:nvPr/>
        </p:nvSpPr>
        <p:spPr>
          <a:xfrm>
            <a:off x="4636008" y="3063240"/>
            <a:ext cx="2514600" cy="548640"/>
          </a:xfrm>
          <a:prstGeom prst="rect">
            <a:avLst/>
          </a:prstGeom>
          <a:noFill/>
          <a:ln/>
        </p:spPr>
        <p:txBody>
          <a:bodyPr wrap="square" lIns="0" tIns="0" rIns="0" bIns="0" rtlCol="0" anchor="ctr"/>
          <a:lstStyle/>
          <a:p>
            <a:pPr indent="0" marL="0">
              <a:lnSpc>
                <a:spcPct val="102000"/>
              </a:lnSpc>
              <a:buNone/>
            </a:pPr>
            <a:r>
              <a:rPr lang="en-US" sz="1200" b="1" dirty="0">
                <a:solidFill>
                  <a:srgbClr val="2B2420"/>
                </a:solidFill>
                <a:latin typeface="Cambria" pitchFamily="34" charset="0"/>
                <a:ea typeface="Cambria" pitchFamily="34" charset="-122"/>
                <a:cs typeface="Cambria" pitchFamily="34" charset="-120"/>
              </a:rPr>
              <a:t>Where the Money</a:t>
            </a:r>
            <a:endParaRPr lang="en-US" sz="1200" dirty="0"/>
          </a:p>
          <a:p>
            <a:pPr indent="0" marL="0">
              <a:lnSpc>
                <a:spcPct val="102000"/>
              </a:lnSpc>
              <a:buNone/>
            </a:pPr>
            <a:r>
              <a:rPr lang="en-US" sz="1200" b="1" dirty="0">
                <a:solidFill>
                  <a:srgbClr val="2B2420"/>
                </a:solidFill>
                <a:latin typeface="Cambria" pitchFamily="34" charset="0"/>
                <a:ea typeface="Cambria" pitchFamily="34" charset="-122"/>
                <a:cs typeface="Cambria" pitchFamily="34" charset="-120"/>
              </a:rPr>
              <a:t>Comes From</a:t>
            </a:r>
            <a:endParaRPr lang="en-US" sz="1200" dirty="0"/>
          </a:p>
        </p:txBody>
      </p:sp>
      <p:sp>
        <p:nvSpPr>
          <p:cNvPr id="14" name="Text 12"/>
          <p:cNvSpPr/>
          <p:nvPr/>
        </p:nvSpPr>
        <p:spPr>
          <a:xfrm>
            <a:off x="4160520" y="3721608"/>
            <a:ext cx="2971800" cy="438912"/>
          </a:xfrm>
          <a:prstGeom prst="rect">
            <a:avLst/>
          </a:prstGeom>
          <a:noFill/>
          <a:ln/>
        </p:spPr>
        <p:txBody>
          <a:bodyPr wrap="square" lIns="0" tIns="0" rIns="0" bIns="0" rtlCol="0" anchor="ctr"/>
          <a:lstStyle/>
          <a:p>
            <a:pPr indent="0" marL="0">
              <a:lnSpc>
                <a:spcPct val="110000"/>
              </a:lnSpc>
              <a:buNone/>
            </a:pPr>
            <a:r>
              <a:rPr lang="en-US" sz="950" dirty="0">
                <a:solidFill>
                  <a:srgbClr val="6B655C"/>
                </a:solidFill>
                <a:latin typeface="Calibri" pitchFamily="34" charset="0"/>
                <a:ea typeface="Calibri" pitchFamily="34" charset="-122"/>
                <a:cs typeface="Calibri" pitchFamily="34" charset="-120"/>
              </a:rPr>
              <a:t>Revenue by category &amp; top SKUs</a:t>
            </a:r>
            <a:endParaRPr lang="en-US" sz="950" dirty="0"/>
          </a:p>
        </p:txBody>
      </p:sp>
      <p:sp>
        <p:nvSpPr>
          <p:cNvPr id="15" name="Shape 13"/>
          <p:cNvSpPr/>
          <p:nvPr/>
        </p:nvSpPr>
        <p:spPr>
          <a:xfrm>
            <a:off x="7498080" y="2971800"/>
            <a:ext cx="3337560" cy="1234440"/>
          </a:xfrm>
          <a:prstGeom prst="roundRect">
            <a:avLst>
              <a:gd name="adj" fmla="val 5926"/>
            </a:avLst>
          </a:prstGeom>
          <a:solidFill>
            <a:srgbClr val="FFFFFF"/>
          </a:solidFill>
          <a:ln w="12700">
            <a:solidFill>
              <a:srgbClr val="D8C9B6"/>
            </a:solidFill>
            <a:prstDash val="solid"/>
          </a:ln>
        </p:spPr>
      </p:sp>
      <p:sp>
        <p:nvSpPr>
          <p:cNvPr id="16" name="Shape 14"/>
          <p:cNvSpPr/>
          <p:nvPr/>
        </p:nvSpPr>
        <p:spPr>
          <a:xfrm>
            <a:off x="7680960" y="3136392"/>
            <a:ext cx="365760" cy="365760"/>
          </a:xfrm>
          <a:prstGeom prst="ellipse">
            <a:avLst/>
          </a:prstGeom>
          <a:solidFill>
            <a:srgbClr val="5C1A2B"/>
          </a:solidFill>
          <a:ln/>
        </p:spPr>
      </p:sp>
      <p:sp>
        <p:nvSpPr>
          <p:cNvPr id="17" name="Text 15"/>
          <p:cNvSpPr/>
          <p:nvPr/>
        </p:nvSpPr>
        <p:spPr>
          <a:xfrm>
            <a:off x="7680960" y="313639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8" name="Text 16"/>
          <p:cNvSpPr/>
          <p:nvPr/>
        </p:nvSpPr>
        <p:spPr>
          <a:xfrm>
            <a:off x="8156448" y="3063240"/>
            <a:ext cx="2514600" cy="548640"/>
          </a:xfrm>
          <a:prstGeom prst="rect">
            <a:avLst/>
          </a:prstGeom>
          <a:noFill/>
          <a:ln/>
        </p:spPr>
        <p:txBody>
          <a:bodyPr wrap="square" lIns="0" tIns="0" rIns="0" bIns="0" rtlCol="0" anchor="ctr"/>
          <a:lstStyle/>
          <a:p>
            <a:pPr indent="0" marL="0">
              <a:lnSpc>
                <a:spcPct val="102000"/>
              </a:lnSpc>
              <a:buNone/>
            </a:pPr>
            <a:r>
              <a:rPr lang="en-US" sz="1200" b="1" dirty="0">
                <a:solidFill>
                  <a:srgbClr val="2B2420"/>
                </a:solidFill>
                <a:latin typeface="Cambria" pitchFamily="34" charset="0"/>
                <a:ea typeface="Cambria" pitchFamily="34" charset="-122"/>
                <a:cs typeface="Cambria" pitchFamily="34" charset="-120"/>
              </a:rPr>
              <a:t>Margin &amp;</a:t>
            </a:r>
            <a:endParaRPr lang="en-US" sz="1200" dirty="0"/>
          </a:p>
          <a:p>
            <a:pPr indent="0" marL="0">
              <a:lnSpc>
                <a:spcPct val="102000"/>
              </a:lnSpc>
              <a:buNone/>
            </a:pPr>
            <a:r>
              <a:rPr lang="en-US" sz="1200" b="1" dirty="0">
                <a:solidFill>
                  <a:srgbClr val="2B2420"/>
                </a:solidFill>
                <a:latin typeface="Cambria" pitchFamily="34" charset="0"/>
                <a:ea typeface="Cambria" pitchFamily="34" charset="-122"/>
                <a:cs typeface="Cambria" pitchFamily="34" charset="-120"/>
              </a:rPr>
              <a:t>Membership</a:t>
            </a:r>
            <a:endParaRPr lang="en-US" sz="1200" dirty="0"/>
          </a:p>
        </p:txBody>
      </p:sp>
      <p:sp>
        <p:nvSpPr>
          <p:cNvPr id="19" name="Text 17"/>
          <p:cNvSpPr/>
          <p:nvPr/>
        </p:nvSpPr>
        <p:spPr>
          <a:xfrm>
            <a:off x="7680960" y="3721608"/>
            <a:ext cx="2971800" cy="438912"/>
          </a:xfrm>
          <a:prstGeom prst="rect">
            <a:avLst/>
          </a:prstGeom>
          <a:noFill/>
          <a:ln/>
        </p:spPr>
        <p:txBody>
          <a:bodyPr wrap="square" lIns="0" tIns="0" rIns="0" bIns="0" rtlCol="0" anchor="ctr"/>
          <a:lstStyle/>
          <a:p>
            <a:pPr indent="0" marL="0">
              <a:lnSpc>
                <a:spcPct val="110000"/>
              </a:lnSpc>
              <a:buNone/>
            </a:pPr>
            <a:r>
              <a:rPr lang="en-US" sz="950" dirty="0">
                <a:solidFill>
                  <a:srgbClr val="6B655C"/>
                </a:solidFill>
                <a:latin typeface="Calibri" pitchFamily="34" charset="0"/>
                <a:ea typeface="Calibri" pitchFamily="34" charset="-122"/>
                <a:cs typeface="Calibri" pitchFamily="34" charset="-120"/>
              </a:rPr>
              <a:t>Discount rate by category &amp; member value</a:t>
            </a:r>
            <a:endParaRPr lang="en-US" sz="950" dirty="0"/>
          </a:p>
        </p:txBody>
      </p:sp>
      <p:sp>
        <p:nvSpPr>
          <p:cNvPr id="20" name="Shape 18"/>
          <p:cNvSpPr/>
          <p:nvPr/>
        </p:nvSpPr>
        <p:spPr>
          <a:xfrm>
            <a:off x="457200" y="4370832"/>
            <a:ext cx="3337560" cy="1234440"/>
          </a:xfrm>
          <a:prstGeom prst="roundRect">
            <a:avLst>
              <a:gd name="adj" fmla="val 5926"/>
            </a:avLst>
          </a:prstGeom>
          <a:solidFill>
            <a:srgbClr val="FFFFFF"/>
          </a:solidFill>
          <a:ln w="12700">
            <a:solidFill>
              <a:srgbClr val="D8C9B6"/>
            </a:solidFill>
            <a:prstDash val="solid"/>
          </a:ln>
        </p:spPr>
      </p:sp>
      <p:sp>
        <p:nvSpPr>
          <p:cNvPr id="21" name="Shape 19"/>
          <p:cNvSpPr/>
          <p:nvPr/>
        </p:nvSpPr>
        <p:spPr>
          <a:xfrm>
            <a:off x="640080" y="4535424"/>
            <a:ext cx="365760" cy="365760"/>
          </a:xfrm>
          <a:prstGeom prst="ellipse">
            <a:avLst/>
          </a:prstGeom>
          <a:solidFill>
            <a:srgbClr val="5C1A2B"/>
          </a:solidFill>
          <a:ln/>
        </p:spPr>
      </p:sp>
      <p:sp>
        <p:nvSpPr>
          <p:cNvPr id="22" name="Text 20"/>
          <p:cNvSpPr/>
          <p:nvPr/>
        </p:nvSpPr>
        <p:spPr>
          <a:xfrm>
            <a:off x="640080" y="453542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23" name="Text 21"/>
          <p:cNvSpPr/>
          <p:nvPr/>
        </p:nvSpPr>
        <p:spPr>
          <a:xfrm>
            <a:off x="1115568" y="4462272"/>
            <a:ext cx="2514600" cy="548640"/>
          </a:xfrm>
          <a:prstGeom prst="rect">
            <a:avLst/>
          </a:prstGeom>
          <a:noFill/>
          <a:ln/>
        </p:spPr>
        <p:txBody>
          <a:bodyPr wrap="square" lIns="0" tIns="0" rIns="0" bIns="0" rtlCol="0" anchor="ctr"/>
          <a:lstStyle/>
          <a:p>
            <a:pPr indent="0" marL="0">
              <a:lnSpc>
                <a:spcPct val="102000"/>
              </a:lnSpc>
              <a:buNone/>
            </a:pPr>
            <a:r>
              <a:rPr lang="en-US" sz="1200" b="1" dirty="0">
                <a:solidFill>
                  <a:srgbClr val="2B2420"/>
                </a:solidFill>
                <a:latin typeface="Cambria" pitchFamily="34" charset="0"/>
                <a:ea typeface="Cambria" pitchFamily="34" charset="-122"/>
                <a:cs typeface="Cambria" pitchFamily="34" charset="-120"/>
              </a:rPr>
              <a:t>Online Channel</a:t>
            </a:r>
            <a:endParaRPr lang="en-US" sz="1200" dirty="0"/>
          </a:p>
        </p:txBody>
      </p:sp>
      <p:sp>
        <p:nvSpPr>
          <p:cNvPr id="24" name="Text 22"/>
          <p:cNvSpPr/>
          <p:nvPr/>
        </p:nvSpPr>
        <p:spPr>
          <a:xfrm>
            <a:off x="640080" y="5120640"/>
            <a:ext cx="2971800" cy="438912"/>
          </a:xfrm>
          <a:prstGeom prst="rect">
            <a:avLst/>
          </a:prstGeom>
          <a:noFill/>
          <a:ln/>
        </p:spPr>
        <p:txBody>
          <a:bodyPr wrap="square" lIns="0" tIns="0" rIns="0" bIns="0" rtlCol="0" anchor="ctr"/>
          <a:lstStyle/>
          <a:p>
            <a:pPr indent="0" marL="0">
              <a:lnSpc>
                <a:spcPct val="110000"/>
              </a:lnSpc>
              <a:buNone/>
            </a:pPr>
            <a:r>
              <a:rPr lang="en-US" sz="950" dirty="0">
                <a:solidFill>
                  <a:srgbClr val="6B655C"/>
                </a:solidFill>
                <a:latin typeface="Calibri" pitchFamily="34" charset="0"/>
                <a:ea typeface="Calibri" pitchFamily="34" charset="-122"/>
                <a:cs typeface="Calibri" pitchFamily="34" charset="-120"/>
              </a:rPr>
              <a:t>Stock status &amp; conversion</a:t>
            </a:r>
            <a:endParaRPr lang="en-US" sz="950" dirty="0"/>
          </a:p>
        </p:txBody>
      </p:sp>
      <p:sp>
        <p:nvSpPr>
          <p:cNvPr id="25" name="Shape 23"/>
          <p:cNvSpPr/>
          <p:nvPr/>
        </p:nvSpPr>
        <p:spPr>
          <a:xfrm>
            <a:off x="3977640" y="4370832"/>
            <a:ext cx="3337560" cy="1234440"/>
          </a:xfrm>
          <a:prstGeom prst="roundRect">
            <a:avLst>
              <a:gd name="adj" fmla="val 5926"/>
            </a:avLst>
          </a:prstGeom>
          <a:solidFill>
            <a:srgbClr val="FFFFFF"/>
          </a:solidFill>
          <a:ln w="12700">
            <a:solidFill>
              <a:srgbClr val="D8C9B6"/>
            </a:solidFill>
            <a:prstDash val="solid"/>
          </a:ln>
        </p:spPr>
      </p:sp>
      <p:sp>
        <p:nvSpPr>
          <p:cNvPr id="26" name="Shape 24"/>
          <p:cNvSpPr/>
          <p:nvPr/>
        </p:nvSpPr>
        <p:spPr>
          <a:xfrm>
            <a:off x="4160520" y="4535424"/>
            <a:ext cx="365760" cy="365760"/>
          </a:xfrm>
          <a:prstGeom prst="ellipse">
            <a:avLst/>
          </a:prstGeom>
          <a:solidFill>
            <a:srgbClr val="5C1A2B"/>
          </a:solidFill>
          <a:ln/>
        </p:spPr>
      </p:sp>
      <p:sp>
        <p:nvSpPr>
          <p:cNvPr id="27" name="Text 25"/>
          <p:cNvSpPr/>
          <p:nvPr/>
        </p:nvSpPr>
        <p:spPr>
          <a:xfrm>
            <a:off x="4160520" y="453542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8" name="Text 26"/>
          <p:cNvSpPr/>
          <p:nvPr/>
        </p:nvSpPr>
        <p:spPr>
          <a:xfrm>
            <a:off x="4636008" y="4462272"/>
            <a:ext cx="2514600" cy="548640"/>
          </a:xfrm>
          <a:prstGeom prst="rect">
            <a:avLst/>
          </a:prstGeom>
          <a:noFill/>
          <a:ln/>
        </p:spPr>
        <p:txBody>
          <a:bodyPr wrap="square" lIns="0" tIns="0" rIns="0" bIns="0" rtlCol="0" anchor="ctr"/>
          <a:lstStyle/>
          <a:p>
            <a:pPr indent="0" marL="0">
              <a:lnSpc>
                <a:spcPct val="102000"/>
              </a:lnSpc>
              <a:buNone/>
            </a:pPr>
            <a:r>
              <a:rPr lang="en-US" sz="1200" b="1" dirty="0">
                <a:solidFill>
                  <a:srgbClr val="2B2420"/>
                </a:solidFill>
                <a:latin typeface="Cambria" pitchFamily="34" charset="0"/>
                <a:ea typeface="Cambria" pitchFamily="34" charset="-122"/>
                <a:cs typeface="Cambria" pitchFamily="34" charset="-120"/>
              </a:rPr>
              <a:t>Recommendation</a:t>
            </a:r>
            <a:endParaRPr lang="en-US" sz="1200" dirty="0"/>
          </a:p>
        </p:txBody>
      </p:sp>
      <p:sp>
        <p:nvSpPr>
          <p:cNvPr id="29" name="Text 27"/>
          <p:cNvSpPr/>
          <p:nvPr/>
        </p:nvSpPr>
        <p:spPr>
          <a:xfrm>
            <a:off x="4160520" y="5120640"/>
            <a:ext cx="2971800" cy="438912"/>
          </a:xfrm>
          <a:prstGeom prst="rect">
            <a:avLst/>
          </a:prstGeom>
          <a:noFill/>
          <a:ln/>
        </p:spPr>
        <p:txBody>
          <a:bodyPr wrap="square" lIns="0" tIns="0" rIns="0" bIns="0" rtlCol="0" anchor="ctr"/>
          <a:lstStyle/>
          <a:p>
            <a:pPr indent="0" marL="0">
              <a:lnSpc>
                <a:spcPct val="110000"/>
              </a:lnSpc>
              <a:buNone/>
            </a:pPr>
            <a:r>
              <a:rPr lang="en-US" sz="950" dirty="0">
                <a:solidFill>
                  <a:srgbClr val="6B655C"/>
                </a:solidFill>
                <a:latin typeface="Calibri" pitchFamily="34" charset="0"/>
                <a:ea typeface="Calibri" pitchFamily="34" charset="-122"/>
                <a:cs typeface="Calibri" pitchFamily="34" charset="-120"/>
              </a:rPr>
              <a:t>Three prioritized levers</a:t>
            </a:r>
            <a:endParaRPr lang="en-US" sz="950" dirty="0"/>
          </a:p>
        </p:txBody>
      </p:sp>
      <p:sp>
        <p:nvSpPr>
          <p:cNvPr id="30" name="Shape 28"/>
          <p:cNvSpPr/>
          <p:nvPr/>
        </p:nvSpPr>
        <p:spPr>
          <a:xfrm>
            <a:off x="7498080" y="4370832"/>
            <a:ext cx="3337560" cy="1234440"/>
          </a:xfrm>
          <a:prstGeom prst="roundRect">
            <a:avLst>
              <a:gd name="adj" fmla="val 5926"/>
            </a:avLst>
          </a:prstGeom>
          <a:solidFill>
            <a:srgbClr val="FFFFFF"/>
          </a:solidFill>
          <a:ln w="12700">
            <a:solidFill>
              <a:srgbClr val="D8C9B6"/>
            </a:solidFill>
            <a:prstDash val="solid"/>
          </a:ln>
        </p:spPr>
      </p:sp>
      <p:sp>
        <p:nvSpPr>
          <p:cNvPr id="31" name="Shape 29"/>
          <p:cNvSpPr/>
          <p:nvPr/>
        </p:nvSpPr>
        <p:spPr>
          <a:xfrm>
            <a:off x="7680960" y="4535424"/>
            <a:ext cx="365760" cy="365760"/>
          </a:xfrm>
          <a:prstGeom prst="ellipse">
            <a:avLst/>
          </a:prstGeom>
          <a:solidFill>
            <a:srgbClr val="5C1A2B"/>
          </a:solidFill>
          <a:ln/>
        </p:spPr>
      </p:sp>
      <p:sp>
        <p:nvSpPr>
          <p:cNvPr id="32" name="Text 30"/>
          <p:cNvSpPr/>
          <p:nvPr/>
        </p:nvSpPr>
        <p:spPr>
          <a:xfrm>
            <a:off x="7680960" y="453542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33" name="Text 31"/>
          <p:cNvSpPr/>
          <p:nvPr/>
        </p:nvSpPr>
        <p:spPr>
          <a:xfrm>
            <a:off x="8156448" y="4462272"/>
            <a:ext cx="2514600" cy="548640"/>
          </a:xfrm>
          <a:prstGeom prst="rect">
            <a:avLst/>
          </a:prstGeom>
          <a:noFill/>
          <a:ln/>
        </p:spPr>
        <p:txBody>
          <a:bodyPr wrap="square" lIns="0" tIns="0" rIns="0" bIns="0" rtlCol="0" anchor="ctr"/>
          <a:lstStyle/>
          <a:p>
            <a:pPr indent="0" marL="0">
              <a:lnSpc>
                <a:spcPct val="102000"/>
              </a:lnSpc>
              <a:buNone/>
            </a:pPr>
            <a:r>
              <a:rPr lang="en-US" sz="1200" b="1" dirty="0">
                <a:solidFill>
                  <a:srgbClr val="2B2420"/>
                </a:solidFill>
                <a:latin typeface="Cambria" pitchFamily="34" charset="0"/>
                <a:ea typeface="Cambria" pitchFamily="34" charset="-122"/>
                <a:cs typeface="Cambria" pitchFamily="34" charset="-120"/>
              </a:rPr>
              <a:t>Assumptions &amp;</a:t>
            </a:r>
            <a:endParaRPr lang="en-US" sz="1200" dirty="0"/>
          </a:p>
          <a:p>
            <a:pPr indent="0" marL="0">
              <a:lnSpc>
                <a:spcPct val="102000"/>
              </a:lnSpc>
              <a:buNone/>
            </a:pPr>
            <a:r>
              <a:rPr lang="en-US" sz="1200" b="1" dirty="0">
                <a:solidFill>
                  <a:srgbClr val="2B2420"/>
                </a:solidFill>
                <a:latin typeface="Cambria" pitchFamily="34" charset="0"/>
                <a:ea typeface="Cambria" pitchFamily="34" charset="-122"/>
                <a:cs typeface="Cambria" pitchFamily="34" charset="-120"/>
              </a:rPr>
              <a:t>Limitations</a:t>
            </a:r>
            <a:endParaRPr lang="en-US" sz="1200" dirty="0"/>
          </a:p>
        </p:txBody>
      </p:sp>
      <p:sp>
        <p:nvSpPr>
          <p:cNvPr id="34" name="Text 32"/>
          <p:cNvSpPr/>
          <p:nvPr/>
        </p:nvSpPr>
        <p:spPr>
          <a:xfrm>
            <a:off x="7680960" y="5120640"/>
            <a:ext cx="2971800" cy="438912"/>
          </a:xfrm>
          <a:prstGeom prst="rect">
            <a:avLst/>
          </a:prstGeom>
          <a:noFill/>
          <a:ln/>
        </p:spPr>
        <p:txBody>
          <a:bodyPr wrap="square" lIns="0" tIns="0" rIns="0" bIns="0" rtlCol="0" anchor="ctr"/>
          <a:lstStyle/>
          <a:p>
            <a:pPr indent="0" marL="0">
              <a:lnSpc>
                <a:spcPct val="110000"/>
              </a:lnSpc>
              <a:buNone/>
            </a:pPr>
            <a:r>
              <a:rPr lang="en-US" sz="950" dirty="0">
                <a:solidFill>
                  <a:srgbClr val="6B655C"/>
                </a:solidFill>
                <a:latin typeface="Calibri" pitchFamily="34" charset="0"/>
                <a:ea typeface="Calibri" pitchFamily="34" charset="-122"/>
                <a:cs typeface="Calibri" pitchFamily="34" charset="-120"/>
              </a:rPr>
              <a:t>What would change this analysis</a:t>
            </a:r>
            <a:endParaRPr lang="en-US" sz="950" dirty="0"/>
          </a:p>
        </p:txBody>
      </p:sp>
      <p:sp>
        <p:nvSpPr>
          <p:cNvPr id="35" name="Text 33"/>
          <p:cNvSpPr/>
          <p:nvPr/>
        </p:nvSpPr>
        <p:spPr>
          <a:xfrm>
            <a:off x="457200" y="5907024"/>
            <a:ext cx="10332720" cy="320040"/>
          </a:xfrm>
          <a:prstGeom prst="rect">
            <a:avLst/>
          </a:prstGeom>
          <a:noFill/>
          <a:ln/>
        </p:spPr>
        <p:txBody>
          <a:bodyPr wrap="square" lIns="0" tIns="0" rIns="0" bIns="0" rtlCol="0" anchor="ctr"/>
          <a:lstStyle/>
          <a:p>
            <a:pPr indent="0" marL="0">
              <a:buNone/>
            </a:pPr>
            <a:r>
              <a:rPr lang="en-US" sz="1200" i="1" dirty="0">
                <a:solidFill>
                  <a:srgbClr val="5C1A2B"/>
                </a:solidFill>
                <a:latin typeface="Calibri" pitchFamily="34" charset="0"/>
                <a:ea typeface="Calibri" pitchFamily="34" charset="-122"/>
                <a:cs typeface="Calibri" pitchFamily="34" charset="-120"/>
              </a:rPr>
              <a:t>▶  Live demo: this is the point in the recording where I switch to screen-share and walk through the app itself.</a:t>
            </a:r>
            <a:endParaRPr lang="en-US" sz="1200" dirty="0"/>
          </a:p>
        </p:txBody>
      </p:sp>
      <p:sp>
        <p:nvSpPr>
          <p:cNvPr id="36" name="Text 34"/>
          <p:cNvSpPr/>
          <p:nvPr/>
        </p:nvSpPr>
        <p:spPr>
          <a:xfrm>
            <a:off x="11277295" y="6355080"/>
            <a:ext cx="548640" cy="320040"/>
          </a:xfrm>
          <a:prstGeom prst="rect">
            <a:avLst/>
          </a:prstGeom>
          <a:noFill/>
          <a:ln/>
        </p:spPr>
        <p:txBody>
          <a:bodyPr wrap="square" rtlCol="0" anchor="ctr"/>
          <a:lstStyle/>
          <a:p>
            <a:pPr algn="r" indent="0" marL="0">
              <a:buNone/>
            </a:pPr>
            <a:r>
              <a:rPr lang="en-US" sz="1000" dirty="0">
                <a:solidFill>
                  <a:srgbClr val="6B655C"/>
                </a:solidFill>
                <a:latin typeface="Calibri" pitchFamily="34" charset="0"/>
                <a:ea typeface="Calibri" pitchFamily="34" charset="-122"/>
                <a:cs typeface="Calibri" pitchFamily="34" charset="-120"/>
              </a:rPr>
              <a:t>04</a:t>
            </a:r>
            <a:endParaRPr lang="en-US" sz="1000" dirty="0"/>
          </a:p>
        </p:txBody>
      </p:sp>
      <p:sp>
        <p:nvSpPr>
          <p:cNvPr id="37" name="Text 35"/>
          <p:cNvSpPr/>
          <p:nvPr/>
        </p:nvSpPr>
        <p:spPr>
          <a:xfrm>
            <a:off x="457200" y="6355080"/>
            <a:ext cx="2743200" cy="320040"/>
          </a:xfrm>
          <a:prstGeom prst="rect">
            <a:avLst/>
          </a:prstGeom>
          <a:noFill/>
          <a:ln/>
        </p:spPr>
        <p:txBody>
          <a:bodyPr wrap="square" rtlCol="0" anchor="ctr"/>
          <a:lstStyle/>
          <a:p>
            <a:pPr indent="0" marL="0">
              <a:buNone/>
            </a:pPr>
            <a:r>
              <a:rPr lang="en-US" sz="1000" spc="200" kern="0" dirty="0">
                <a:solidFill>
                  <a:srgbClr val="6B655C"/>
                </a:solidFill>
                <a:latin typeface="Calibri" pitchFamily="34" charset="0"/>
                <a:ea typeface="Calibri" pitchFamily="34" charset="-122"/>
                <a:cs typeface="Calibri" pitchFamily="34" charset="-120"/>
              </a:rPr>
              <a:t>CELLAR V</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DFCFA"/>
        </a:solidFill>
      </p:bgPr>
    </p:bg>
    <p:spTree>
      <p:nvGrpSpPr>
        <p:cNvPr id="1" name=""/>
        <p:cNvGrpSpPr/>
        <p:nvPr/>
      </p:nvGrpSpPr>
      <p:grpSpPr>
        <a:xfrm>
          <a:off x="0" y="0"/>
          <a:ext cx="0" cy="0"/>
          <a:chOff x="0" y="0"/>
          <a:chExt cx="0" cy="0"/>
        </a:xfrm>
      </p:grpSpPr>
      <p:sp>
        <p:nvSpPr>
          <p:cNvPr id="2" name="Text 0"/>
          <p:cNvSpPr/>
          <p:nvPr/>
        </p:nvSpPr>
        <p:spPr>
          <a:xfrm>
            <a:off x="457200" y="411480"/>
            <a:ext cx="7315200" cy="320040"/>
          </a:xfrm>
          <a:prstGeom prst="rect">
            <a:avLst/>
          </a:prstGeom>
          <a:noFill/>
          <a:ln/>
        </p:spPr>
        <p:txBody>
          <a:bodyPr wrap="square" lIns="0" tIns="0" rIns="0" bIns="0" rtlCol="0" anchor="ctr"/>
          <a:lstStyle/>
          <a:p>
            <a:pPr indent="0" marL="0">
              <a:buNone/>
            </a:pPr>
            <a:r>
              <a:rPr lang="en-US" sz="1200" b="1" spc="200" kern="0" dirty="0">
                <a:solidFill>
                  <a:srgbClr val="C9A227"/>
                </a:solidFill>
                <a:latin typeface="Calibri" pitchFamily="34" charset="0"/>
                <a:ea typeface="Calibri" pitchFamily="34" charset="-122"/>
                <a:cs typeface="Calibri" pitchFamily="34" charset="-120"/>
              </a:rPr>
              <a:t>STORY 01 · THE FULL PICTURE</a:t>
            </a:r>
            <a:endParaRPr lang="en-US" sz="1200" dirty="0"/>
          </a:p>
        </p:txBody>
      </p:sp>
      <p:sp>
        <p:nvSpPr>
          <p:cNvPr id="3" name="Text 1"/>
          <p:cNvSpPr/>
          <p:nvPr/>
        </p:nvSpPr>
        <p:spPr>
          <a:xfrm>
            <a:off x="457200" y="731520"/>
            <a:ext cx="10332720" cy="548640"/>
          </a:xfrm>
          <a:prstGeom prst="rect">
            <a:avLst/>
          </a:prstGeom>
          <a:noFill/>
          <a:ln/>
        </p:spPr>
        <p:txBody>
          <a:bodyPr wrap="square" lIns="0" tIns="0" rIns="0" bIns="0" rtlCol="0" anchor="ctr"/>
          <a:lstStyle/>
          <a:p>
            <a:pPr indent="0" marL="0">
              <a:lnSpc>
                <a:spcPct val="105000"/>
              </a:lnSpc>
              <a:buNone/>
            </a:pPr>
            <a:r>
              <a:rPr lang="en-US" sz="2700" b="1" dirty="0">
                <a:solidFill>
                  <a:srgbClr val="2B2420"/>
                </a:solidFill>
                <a:latin typeface="Cambria" pitchFamily="34" charset="0"/>
                <a:ea typeface="Cambria" pitchFamily="34" charset="-122"/>
                <a:cs typeface="Cambria" pitchFamily="34" charset="-120"/>
              </a:rPr>
              <a:t>Is the business healthy?</a:t>
            </a:r>
            <a:endParaRPr lang="en-US" sz="2700" dirty="0"/>
          </a:p>
        </p:txBody>
      </p:sp>
      <p:sp>
        <p:nvSpPr>
          <p:cNvPr id="4" name="Text 2"/>
          <p:cNvSpPr/>
          <p:nvPr/>
        </p:nvSpPr>
        <p:spPr>
          <a:xfrm>
            <a:off x="457200" y="1298448"/>
            <a:ext cx="9144000" cy="320040"/>
          </a:xfrm>
          <a:prstGeom prst="rect">
            <a:avLst/>
          </a:prstGeom>
          <a:noFill/>
          <a:ln/>
        </p:spPr>
        <p:txBody>
          <a:bodyPr wrap="square" lIns="0" tIns="0" rIns="0" bIns="0" rtlCol="0" anchor="ctr"/>
          <a:lstStyle/>
          <a:p>
            <a:pPr indent="0" marL="0">
              <a:buNone/>
            </a:pPr>
            <a:r>
              <a:rPr lang="en-US" sz="1300" dirty="0">
                <a:solidFill>
                  <a:srgbClr val="6B655C"/>
                </a:solidFill>
                <a:latin typeface="Calibri" pitchFamily="34" charset="0"/>
                <a:ea typeface="Calibri" pitchFamily="34" charset="-122"/>
                <a:cs typeface="Calibri" pitchFamily="34" charset="-120"/>
              </a:rPr>
              <a:t>January 2025 – August 2026  ·  2,363 transactions  ·  4,618 guests</a:t>
            </a:r>
            <a:endParaRPr lang="en-US" sz="1300" dirty="0"/>
          </a:p>
        </p:txBody>
      </p:sp>
      <p:sp>
        <p:nvSpPr>
          <p:cNvPr id="5" name="Shape 3"/>
          <p:cNvSpPr/>
          <p:nvPr/>
        </p:nvSpPr>
        <p:spPr>
          <a:xfrm>
            <a:off x="457200" y="1783080"/>
            <a:ext cx="5074920" cy="1600200"/>
          </a:xfrm>
          <a:prstGeom prst="roundRect">
            <a:avLst>
              <a:gd name="adj" fmla="val 4571"/>
            </a:avLst>
          </a:prstGeom>
          <a:solidFill>
            <a:srgbClr val="5C1A2B"/>
          </a:solidFill>
          <a:ln/>
        </p:spPr>
      </p:sp>
      <p:sp>
        <p:nvSpPr>
          <p:cNvPr id="6" name="Text 4"/>
          <p:cNvSpPr/>
          <p:nvPr/>
        </p:nvSpPr>
        <p:spPr>
          <a:xfrm>
            <a:off x="685800" y="1947672"/>
            <a:ext cx="4572000" cy="274320"/>
          </a:xfrm>
          <a:prstGeom prst="rect">
            <a:avLst/>
          </a:prstGeom>
          <a:noFill/>
          <a:ln/>
        </p:spPr>
        <p:txBody>
          <a:bodyPr wrap="square" lIns="0" tIns="0" rIns="0" bIns="0" rtlCol="0" anchor="ctr"/>
          <a:lstStyle/>
          <a:p>
            <a:pPr indent="0" marL="0">
              <a:buNone/>
            </a:pPr>
            <a:r>
              <a:rPr lang="en-US" sz="1100" b="1" spc="150" kern="0" dirty="0">
                <a:solidFill>
                  <a:srgbClr val="E3B96B"/>
                </a:solidFill>
                <a:latin typeface="Calibri" pitchFamily="34" charset="0"/>
                <a:ea typeface="Calibri" pitchFamily="34" charset="-122"/>
                <a:cs typeface="Calibri" pitchFamily="34" charset="-120"/>
              </a:rPr>
              <a:t>IN-PERSON (POS)</a:t>
            </a:r>
            <a:endParaRPr lang="en-US" sz="1100" dirty="0"/>
          </a:p>
        </p:txBody>
      </p:sp>
      <p:sp>
        <p:nvSpPr>
          <p:cNvPr id="7" name="Text 5"/>
          <p:cNvSpPr/>
          <p:nvPr/>
        </p:nvSpPr>
        <p:spPr>
          <a:xfrm>
            <a:off x="685800" y="2194560"/>
            <a:ext cx="4572000" cy="68580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S$293,467</a:t>
            </a:r>
            <a:endParaRPr lang="en-US" sz="3800" dirty="0"/>
          </a:p>
        </p:txBody>
      </p:sp>
      <p:sp>
        <p:nvSpPr>
          <p:cNvPr id="8" name="Text 6"/>
          <p:cNvSpPr/>
          <p:nvPr/>
        </p:nvSpPr>
        <p:spPr>
          <a:xfrm>
            <a:off x="685800" y="2953512"/>
            <a:ext cx="4572000" cy="365760"/>
          </a:xfrm>
          <a:prstGeom prst="rect">
            <a:avLst/>
          </a:prstGeom>
          <a:noFill/>
          <a:ln/>
        </p:spPr>
        <p:txBody>
          <a:bodyPr wrap="square" lIns="0" tIns="0" rIns="0" bIns="0" rtlCol="0" anchor="ctr"/>
          <a:lstStyle/>
          <a:p>
            <a:pPr indent="0" marL="0">
              <a:buNone/>
            </a:pPr>
            <a:r>
              <a:rPr lang="en-US" sz="1200" dirty="0">
                <a:solidFill>
                  <a:srgbClr val="E7DCD5"/>
                </a:solidFill>
                <a:latin typeface="Calibri" pitchFamily="34" charset="0"/>
                <a:ea typeface="Calibri" pitchFamily="34" charset="-122"/>
                <a:cs typeface="Calibri" pitchFamily="34" charset="-120"/>
              </a:rPr>
              <a:t>2,363 transactions · about S$494 a day</a:t>
            </a:r>
            <a:endParaRPr lang="en-US" sz="1200" dirty="0"/>
          </a:p>
        </p:txBody>
      </p:sp>
      <p:sp>
        <p:nvSpPr>
          <p:cNvPr id="9" name="Shape 7"/>
          <p:cNvSpPr/>
          <p:nvPr/>
        </p:nvSpPr>
        <p:spPr>
          <a:xfrm>
            <a:off x="5715000" y="1783080"/>
            <a:ext cx="5074920" cy="1600200"/>
          </a:xfrm>
          <a:prstGeom prst="roundRect">
            <a:avLst>
              <a:gd name="adj" fmla="val 4571"/>
            </a:avLst>
          </a:prstGeom>
          <a:solidFill>
            <a:srgbClr val="FFFFFF"/>
          </a:solidFill>
          <a:ln w="12700">
            <a:solidFill>
              <a:srgbClr val="D8C9B6"/>
            </a:solidFill>
            <a:prstDash val="solid"/>
          </a:ln>
        </p:spPr>
      </p:sp>
      <p:sp>
        <p:nvSpPr>
          <p:cNvPr id="10" name="Text 8"/>
          <p:cNvSpPr/>
          <p:nvPr/>
        </p:nvSpPr>
        <p:spPr>
          <a:xfrm>
            <a:off x="5943600" y="1947672"/>
            <a:ext cx="4572000" cy="274320"/>
          </a:xfrm>
          <a:prstGeom prst="rect">
            <a:avLst/>
          </a:prstGeom>
          <a:noFill/>
          <a:ln/>
        </p:spPr>
        <p:txBody>
          <a:bodyPr wrap="square" lIns="0" tIns="0" rIns="0" bIns="0" rtlCol="0" anchor="ctr"/>
          <a:lstStyle/>
          <a:p>
            <a:pPr indent="0" marL="0">
              <a:buNone/>
            </a:pPr>
            <a:r>
              <a:rPr lang="en-US" sz="1100" b="1" spc="150" kern="0" dirty="0">
                <a:solidFill>
                  <a:srgbClr val="6B655C"/>
                </a:solidFill>
                <a:latin typeface="Calibri" pitchFamily="34" charset="0"/>
                <a:ea typeface="Calibri" pitchFamily="34" charset="-122"/>
                <a:cs typeface="Calibri" pitchFamily="34" charset="-120"/>
              </a:rPr>
              <a:t>ONLINE (SHOPIFY), 3-YEAR LIFETIME</a:t>
            </a:r>
            <a:endParaRPr lang="en-US" sz="1100" dirty="0"/>
          </a:p>
        </p:txBody>
      </p:sp>
      <p:sp>
        <p:nvSpPr>
          <p:cNvPr id="11" name="Text 9"/>
          <p:cNvSpPr/>
          <p:nvPr/>
        </p:nvSpPr>
        <p:spPr>
          <a:xfrm>
            <a:off x="5943600" y="2194560"/>
            <a:ext cx="4572000" cy="685800"/>
          </a:xfrm>
          <a:prstGeom prst="rect">
            <a:avLst/>
          </a:prstGeom>
          <a:noFill/>
          <a:ln/>
        </p:spPr>
        <p:txBody>
          <a:bodyPr wrap="square" lIns="0" tIns="0" rIns="0" bIns="0" rtlCol="0" anchor="ctr"/>
          <a:lstStyle/>
          <a:p>
            <a:pPr indent="0" marL="0">
              <a:buNone/>
            </a:pPr>
            <a:r>
              <a:rPr lang="en-US" sz="3800" b="1" dirty="0">
                <a:solidFill>
                  <a:srgbClr val="E34948"/>
                </a:solidFill>
                <a:latin typeface="Cambria" pitchFamily="34" charset="0"/>
                <a:ea typeface="Cambria" pitchFamily="34" charset="-122"/>
                <a:cs typeface="Cambria" pitchFamily="34" charset="-120"/>
              </a:rPr>
              <a:t>S$176</a:t>
            </a:r>
            <a:endParaRPr lang="en-US" sz="3800" dirty="0"/>
          </a:p>
        </p:txBody>
      </p:sp>
      <p:sp>
        <p:nvSpPr>
          <p:cNvPr id="12" name="Text 10"/>
          <p:cNvSpPr/>
          <p:nvPr/>
        </p:nvSpPr>
        <p:spPr>
          <a:xfrm>
            <a:off x="5943600" y="2953512"/>
            <a:ext cx="4572000" cy="365760"/>
          </a:xfrm>
          <a:prstGeom prst="rect">
            <a:avLst/>
          </a:prstGeom>
          <a:noFill/>
          <a:ln/>
        </p:spPr>
        <p:txBody>
          <a:bodyPr wrap="square" lIns="0" tIns="0" rIns="0" bIns="0" rtlCol="0" anchor="ctr"/>
          <a:lstStyle/>
          <a:p>
            <a:pPr indent="0" marL="0">
              <a:buNone/>
            </a:pPr>
            <a:r>
              <a:rPr lang="en-US" sz="1200" dirty="0">
                <a:solidFill>
                  <a:srgbClr val="6B655C"/>
                </a:solidFill>
                <a:latin typeface="Calibri" pitchFamily="34" charset="0"/>
                <a:ea typeface="Calibri" pitchFamily="34" charset="-122"/>
                <a:cs typeface="Calibri" pitchFamily="34" charset="-120"/>
              </a:rPr>
              <a:t>2 orders total · nothing in the last 551 days</a:t>
            </a:r>
            <a:endParaRPr lang="en-US" sz="1200" dirty="0"/>
          </a:p>
        </p:txBody>
      </p:sp>
      <p:sp>
        <p:nvSpPr>
          <p:cNvPr id="13" name="Text 11"/>
          <p:cNvSpPr/>
          <p:nvPr/>
        </p:nvSpPr>
        <p:spPr>
          <a:xfrm>
            <a:off x="457200" y="3749040"/>
            <a:ext cx="3657600" cy="274320"/>
          </a:xfrm>
          <a:prstGeom prst="rect">
            <a:avLst/>
          </a:prstGeom>
          <a:noFill/>
          <a:ln/>
        </p:spPr>
        <p:txBody>
          <a:bodyPr wrap="square" lIns="0" tIns="0" rIns="0" bIns="0" rtlCol="0" anchor="ctr"/>
          <a:lstStyle/>
          <a:p>
            <a:pPr indent="0" marL="0">
              <a:buNone/>
            </a:pPr>
            <a:r>
              <a:rPr lang="en-US" sz="1100" b="1" spc="150" kern="0" dirty="0">
                <a:solidFill>
                  <a:srgbClr val="C9A227"/>
                </a:solidFill>
                <a:latin typeface="Calibri" pitchFamily="34" charset="0"/>
                <a:ea typeface="Calibri" pitchFamily="34" charset="-122"/>
                <a:cs typeface="Calibri" pitchFamily="34" charset="-120"/>
              </a:rPr>
              <a:t>BY YEAR</a:t>
            </a:r>
            <a:endParaRPr lang="en-US" sz="11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4069080"/>
          <a:ext cx="10332720" cy="1051560"/>
        </p:xfrm>
        <a:graphic>
          <a:graphicData uri="http://schemas.openxmlformats.org/drawingml/2006/table">
            <a:tbl>
              <a:tblPr/>
              <a:tblGrid>
                <a:gridCol w="3200400"/>
                <a:gridCol w="1828800"/>
                <a:gridCol w="1828800"/>
                <a:gridCol w="1828800"/>
                <a:gridCol w="1645920"/>
              </a:tblGrid>
              <a:tr h="350520">
                <a:tc>
                  <a:txBody>
                    <a:bodyPr/>
                    <a:lstStyle/>
                    <a:p>
                      <a:pPr indent="0" marL="0">
                        <a:buNone/>
                      </a:pPr>
                      <a:endParaRPr lang="en-US" sz="1200" dirty="0">
                        <a:latin typeface="Calibri" charset="0"/>
                        <a:ea typeface="Calibri" charset="0"/>
                        <a:cs typeface="Calibri" charset="0"/>
                      </a:endParaRPr>
                    </a:p>
                  </a:txBody>
                  <a:tcPr marL="91440" marR="91440" marT="45720" marB="45720" anchor="ctr">
                    <a:lnL w="9525" cap="flat" cmpd="sng" algn="ctr">
                      <a:solidFill>
                        <a:srgbClr val="D8C9B6"/>
                      </a:solidFill>
                      <a:prstDash val="solid"/>
                      <a:round/>
                      <a:headEnd type="none" w="med" len="med"/>
                      <a:tailEnd type="none" w="med" len="med"/>
                    </a:lnL>
                    <a:lnR w="9525" cap="flat" cmpd="sng" algn="ctr">
                      <a:solidFill>
                        <a:srgbClr val="D8C9B6"/>
                      </a:solidFill>
                      <a:prstDash val="solid"/>
                      <a:round/>
                      <a:headEnd type="none" w="med" len="med"/>
                      <a:tailEnd type="none" w="med" len="med"/>
                    </a:lnR>
                    <a:lnT w="9525" cap="flat" cmpd="sng" algn="ctr">
                      <a:solidFill>
                        <a:srgbClr val="D8C9B6"/>
                      </a:solidFill>
                      <a:prstDash val="solid"/>
                      <a:round/>
                      <a:headEnd type="none" w="med" len="med"/>
                      <a:tailEnd type="none" w="med" len="med"/>
                    </a:lnT>
                    <a:lnB w="9525" cap="flat" cmpd="sng" algn="ctr">
                      <a:solidFill>
                        <a:srgbClr val="D8C9B6"/>
                      </a:solidFill>
                      <a:prstDash val="solid"/>
                      <a:round/>
                      <a:headEnd type="none" w="med" len="med"/>
                      <a:tailEnd type="none" w="med" len="med"/>
                    </a:lnB>
                    <a:solidFill>
                      <a:srgbClr val="E5DCD3"/>
                    </a:solidFill>
                  </a:tcPr>
                </a:tc>
                <a:tc>
                  <a:txBody>
                    <a:bodyPr/>
                    <a:lstStyle/>
                    <a:p>
                      <a:pPr indent="0" marL="0">
                        <a:buNone/>
                      </a:pPr>
                      <a:r>
                        <a:rPr lang="en-US" sz="1200" b="1" dirty="0">
                          <a:solidFill>
                            <a:srgbClr val="2B2420"/>
                          </a:solidFill>
                          <a:latin typeface="Calibri" pitchFamily="34" charset="0"/>
                          <a:ea typeface="Calibri" pitchFamily="34" charset="-122"/>
                          <a:cs typeface="Calibri" pitchFamily="34" charset="-120"/>
                        </a:rPr>
                        <a:t>Gross sales</a:t>
                      </a:r>
                      <a:endParaRPr lang="en-US" sz="1200" dirty="0">
                        <a:latin typeface="Calibri" charset="0"/>
                        <a:ea typeface="Calibri" charset="0"/>
                        <a:cs typeface="Calibri" charset="0"/>
                      </a:endParaRPr>
                    </a:p>
                  </a:txBody>
                  <a:tcPr marL="91440" marR="91440" marT="45720" marB="45720" anchor="ctr">
                    <a:lnL w="9525" cap="flat" cmpd="sng" algn="ctr">
                      <a:solidFill>
                        <a:srgbClr val="D8C9B6"/>
                      </a:solidFill>
                      <a:prstDash val="solid"/>
                      <a:round/>
                      <a:headEnd type="none" w="med" len="med"/>
                      <a:tailEnd type="none" w="med" len="med"/>
                    </a:lnL>
                    <a:lnR w="9525" cap="flat" cmpd="sng" algn="ctr">
                      <a:solidFill>
                        <a:srgbClr val="D8C9B6"/>
                      </a:solidFill>
                      <a:prstDash val="solid"/>
                      <a:round/>
                      <a:headEnd type="none" w="med" len="med"/>
                      <a:tailEnd type="none" w="med" len="med"/>
                    </a:lnR>
                    <a:lnT w="9525" cap="flat" cmpd="sng" algn="ctr">
                      <a:solidFill>
                        <a:srgbClr val="D8C9B6"/>
                      </a:solidFill>
                      <a:prstDash val="solid"/>
                      <a:round/>
                      <a:headEnd type="none" w="med" len="med"/>
                      <a:tailEnd type="none" w="med" len="med"/>
                    </a:lnT>
                    <a:lnB w="9525" cap="flat" cmpd="sng" algn="ctr">
                      <a:solidFill>
                        <a:srgbClr val="D8C9B6"/>
                      </a:solidFill>
                      <a:prstDash val="solid"/>
                      <a:round/>
                      <a:headEnd type="none" w="med" len="med"/>
                      <a:tailEnd type="none" w="med" len="med"/>
                    </a:lnB>
                    <a:solidFill>
                      <a:srgbClr val="E5DCD3"/>
                    </a:solidFill>
                  </a:tcPr>
                </a:tc>
                <a:tc>
                  <a:txBody>
                    <a:bodyPr/>
                    <a:lstStyle/>
                    <a:p>
                      <a:pPr indent="0" marL="0">
                        <a:buNone/>
                      </a:pPr>
                      <a:r>
                        <a:rPr lang="en-US" sz="1200" b="1" dirty="0">
                          <a:solidFill>
                            <a:srgbClr val="2B2420"/>
                          </a:solidFill>
                          <a:latin typeface="Calibri" pitchFamily="34" charset="0"/>
                          <a:ea typeface="Calibri" pitchFamily="34" charset="-122"/>
                          <a:cs typeface="Calibri" pitchFamily="34" charset="-120"/>
                        </a:rPr>
                        <a:t>Transactions</a:t>
                      </a:r>
                      <a:endParaRPr lang="en-US" sz="1200" dirty="0">
                        <a:latin typeface="Calibri" charset="0"/>
                        <a:ea typeface="Calibri" charset="0"/>
                        <a:cs typeface="Calibri" charset="0"/>
                      </a:endParaRPr>
                    </a:p>
                  </a:txBody>
                  <a:tcPr marL="91440" marR="91440" marT="45720" marB="45720" anchor="ctr">
                    <a:lnL w="9525" cap="flat" cmpd="sng" algn="ctr">
                      <a:solidFill>
                        <a:srgbClr val="D8C9B6"/>
                      </a:solidFill>
                      <a:prstDash val="solid"/>
                      <a:round/>
                      <a:headEnd type="none" w="med" len="med"/>
                      <a:tailEnd type="none" w="med" len="med"/>
                    </a:lnL>
                    <a:lnR w="9525" cap="flat" cmpd="sng" algn="ctr">
                      <a:solidFill>
                        <a:srgbClr val="D8C9B6"/>
                      </a:solidFill>
                      <a:prstDash val="solid"/>
                      <a:round/>
                      <a:headEnd type="none" w="med" len="med"/>
                      <a:tailEnd type="none" w="med" len="med"/>
                    </a:lnR>
                    <a:lnT w="9525" cap="flat" cmpd="sng" algn="ctr">
                      <a:solidFill>
                        <a:srgbClr val="D8C9B6"/>
                      </a:solidFill>
                      <a:prstDash val="solid"/>
                      <a:round/>
                      <a:headEnd type="none" w="med" len="med"/>
                      <a:tailEnd type="none" w="med" len="med"/>
                    </a:lnT>
                    <a:lnB w="9525" cap="flat" cmpd="sng" algn="ctr">
                      <a:solidFill>
                        <a:srgbClr val="D8C9B6"/>
                      </a:solidFill>
                      <a:prstDash val="solid"/>
                      <a:round/>
                      <a:headEnd type="none" w="med" len="med"/>
                      <a:tailEnd type="none" w="med" len="med"/>
                    </a:lnB>
                    <a:solidFill>
                      <a:srgbClr val="E5DCD3"/>
                    </a:solidFill>
                  </a:tcPr>
                </a:tc>
                <a:tc>
                  <a:txBody>
                    <a:bodyPr/>
                    <a:lstStyle/>
                    <a:p>
                      <a:pPr indent="0" marL="0">
                        <a:buNone/>
                      </a:pPr>
                      <a:r>
                        <a:rPr lang="en-US" sz="1200" b="1" dirty="0">
                          <a:solidFill>
                            <a:srgbClr val="2B2420"/>
                          </a:solidFill>
                          <a:latin typeface="Calibri" pitchFamily="34" charset="0"/>
                          <a:ea typeface="Calibri" pitchFamily="34" charset="-122"/>
                          <a:cs typeface="Calibri" pitchFamily="34" charset="-120"/>
                        </a:rPr>
                        <a:t>Avg. sale</a:t>
                      </a:r>
                      <a:endParaRPr lang="en-US" sz="1200" dirty="0">
                        <a:latin typeface="Calibri" charset="0"/>
                        <a:ea typeface="Calibri" charset="0"/>
                        <a:cs typeface="Calibri" charset="0"/>
                      </a:endParaRPr>
                    </a:p>
                  </a:txBody>
                  <a:tcPr marL="91440" marR="91440" marT="45720" marB="45720" anchor="ctr">
                    <a:lnL w="9525" cap="flat" cmpd="sng" algn="ctr">
                      <a:solidFill>
                        <a:srgbClr val="D8C9B6"/>
                      </a:solidFill>
                      <a:prstDash val="solid"/>
                      <a:round/>
                      <a:headEnd type="none" w="med" len="med"/>
                      <a:tailEnd type="none" w="med" len="med"/>
                    </a:lnL>
                    <a:lnR w="9525" cap="flat" cmpd="sng" algn="ctr">
                      <a:solidFill>
                        <a:srgbClr val="D8C9B6"/>
                      </a:solidFill>
                      <a:prstDash val="solid"/>
                      <a:round/>
                      <a:headEnd type="none" w="med" len="med"/>
                      <a:tailEnd type="none" w="med" len="med"/>
                    </a:lnR>
                    <a:lnT w="9525" cap="flat" cmpd="sng" algn="ctr">
                      <a:solidFill>
                        <a:srgbClr val="D8C9B6"/>
                      </a:solidFill>
                      <a:prstDash val="solid"/>
                      <a:round/>
                      <a:headEnd type="none" w="med" len="med"/>
                      <a:tailEnd type="none" w="med" len="med"/>
                    </a:lnT>
                    <a:lnB w="9525" cap="flat" cmpd="sng" algn="ctr">
                      <a:solidFill>
                        <a:srgbClr val="D8C9B6"/>
                      </a:solidFill>
                      <a:prstDash val="solid"/>
                      <a:round/>
                      <a:headEnd type="none" w="med" len="med"/>
                      <a:tailEnd type="none" w="med" len="med"/>
                    </a:lnB>
                    <a:solidFill>
                      <a:srgbClr val="E5DCD3"/>
                    </a:solidFill>
                  </a:tcPr>
                </a:tc>
                <a:tc>
                  <a:txBody>
                    <a:bodyPr/>
                    <a:lstStyle/>
                    <a:p>
                      <a:pPr indent="0" marL="0">
                        <a:buNone/>
                      </a:pPr>
                      <a:r>
                        <a:rPr lang="en-US" sz="1200" b="1" dirty="0">
                          <a:solidFill>
                            <a:srgbClr val="2B2420"/>
                          </a:solidFill>
                          <a:latin typeface="Calibri" pitchFamily="34" charset="0"/>
                          <a:ea typeface="Calibri" pitchFamily="34" charset="-122"/>
                          <a:cs typeface="Calibri" pitchFamily="34" charset="-120"/>
                        </a:rPr>
                        <a:t>Discount rate</a:t>
                      </a:r>
                      <a:endParaRPr lang="en-US" sz="1200" dirty="0">
                        <a:latin typeface="Calibri" charset="0"/>
                        <a:ea typeface="Calibri" charset="0"/>
                        <a:cs typeface="Calibri" charset="0"/>
                      </a:endParaRPr>
                    </a:p>
                  </a:txBody>
                  <a:tcPr marL="91440" marR="91440" marT="45720" marB="45720" anchor="ctr">
                    <a:lnL w="9525" cap="flat" cmpd="sng" algn="ctr">
                      <a:solidFill>
                        <a:srgbClr val="D8C9B6"/>
                      </a:solidFill>
                      <a:prstDash val="solid"/>
                      <a:round/>
                      <a:headEnd type="none" w="med" len="med"/>
                      <a:tailEnd type="none" w="med" len="med"/>
                    </a:lnL>
                    <a:lnR w="9525" cap="flat" cmpd="sng" algn="ctr">
                      <a:solidFill>
                        <a:srgbClr val="D8C9B6"/>
                      </a:solidFill>
                      <a:prstDash val="solid"/>
                      <a:round/>
                      <a:headEnd type="none" w="med" len="med"/>
                      <a:tailEnd type="none" w="med" len="med"/>
                    </a:lnR>
                    <a:lnT w="9525" cap="flat" cmpd="sng" algn="ctr">
                      <a:solidFill>
                        <a:srgbClr val="D8C9B6"/>
                      </a:solidFill>
                      <a:prstDash val="solid"/>
                      <a:round/>
                      <a:headEnd type="none" w="med" len="med"/>
                      <a:tailEnd type="none" w="med" len="med"/>
                    </a:lnT>
                    <a:lnB w="9525" cap="flat" cmpd="sng" algn="ctr">
                      <a:solidFill>
                        <a:srgbClr val="D8C9B6"/>
                      </a:solidFill>
                      <a:prstDash val="solid"/>
                      <a:round/>
                      <a:headEnd type="none" w="med" len="med"/>
                      <a:tailEnd type="none" w="med" len="med"/>
                    </a:lnB>
                    <a:solidFill>
                      <a:srgbClr val="E5DCD3"/>
                    </a:solidFill>
                  </a:tcPr>
                </a:tc>
              </a:tr>
              <a:tr h="350520">
                <a:tc>
                  <a:txBody>
                    <a:bodyPr/>
                    <a:lstStyle/>
                    <a:p>
                      <a:pPr indent="0" marL="0">
                        <a:buNone/>
                      </a:pPr>
                      <a:r>
                        <a:rPr lang="en-US" sz="1200" b="1" dirty="0">
                          <a:solidFill>
                            <a:srgbClr val="5C1A2B"/>
                          </a:solidFill>
                          <a:latin typeface="Calibri" pitchFamily="34" charset="0"/>
                          <a:ea typeface="Calibri" pitchFamily="34" charset="-122"/>
                          <a:cs typeface="Calibri" pitchFamily="34" charset="-120"/>
                        </a:rPr>
                        <a:t>2025 (full year)</a:t>
                      </a:r>
                      <a:endParaRPr lang="en-US" sz="1200" dirty="0">
                        <a:latin typeface="Calibri" charset="0"/>
                        <a:ea typeface="Calibri" charset="0"/>
                        <a:cs typeface="Calibri" charset="0"/>
                      </a:endParaRPr>
                    </a:p>
                  </a:txBody>
                  <a:tcPr marL="91440" marR="91440" marT="45720" marB="45720" anchor="ctr">
                    <a:lnL w="9525" cap="flat" cmpd="sng" algn="ctr">
                      <a:solidFill>
                        <a:srgbClr val="D8C9B6"/>
                      </a:solidFill>
                      <a:prstDash val="solid"/>
                      <a:round/>
                      <a:headEnd type="none" w="med" len="med"/>
                      <a:tailEnd type="none" w="med" len="med"/>
                    </a:lnL>
                    <a:lnR w="9525" cap="flat" cmpd="sng" algn="ctr">
                      <a:solidFill>
                        <a:srgbClr val="D8C9B6"/>
                      </a:solidFill>
                      <a:prstDash val="solid"/>
                      <a:round/>
                      <a:headEnd type="none" w="med" len="med"/>
                      <a:tailEnd type="none" w="med" len="med"/>
                    </a:lnR>
                    <a:lnT w="9525" cap="flat" cmpd="sng" algn="ctr">
                      <a:solidFill>
                        <a:srgbClr val="D8C9B6"/>
                      </a:solidFill>
                      <a:prstDash val="solid"/>
                      <a:round/>
                      <a:headEnd type="none" w="med" len="med"/>
                      <a:tailEnd type="none" w="med" len="med"/>
                    </a:lnT>
                    <a:lnB w="9525" cap="flat" cmpd="sng" algn="ctr">
                      <a:solidFill>
                        <a:srgbClr val="D8C9B6"/>
                      </a:solidFill>
                      <a:prstDash val="solid"/>
                      <a:round/>
                      <a:headEnd type="none" w="med" len="med"/>
                      <a:tailEnd type="none" w="med" len="med"/>
                    </a:lnB>
                  </a:tcPr>
                </a:tc>
                <a:tc>
                  <a:txBody>
                    <a:bodyPr/>
                    <a:lstStyle/>
                    <a:p>
                      <a:pPr indent="0" marL="0">
                        <a:buNone/>
                      </a:pPr>
                      <a:r>
                        <a:rPr lang="en-US" sz="1200" dirty="0">
                          <a:solidFill>
                            <a:srgbClr val="2B2420"/>
                          </a:solidFill>
                          <a:latin typeface="Calibri" pitchFamily="34" charset="0"/>
                          <a:ea typeface="Calibri" pitchFamily="34" charset="-122"/>
                          <a:cs typeface="Calibri" pitchFamily="34" charset="-120"/>
                        </a:rPr>
                        <a:t>S$215,232</a:t>
                      </a:r>
                      <a:endParaRPr lang="en-US" sz="1200" dirty="0">
                        <a:latin typeface="Calibri" charset="0"/>
                        <a:ea typeface="Calibri" charset="0"/>
                        <a:cs typeface="Calibri" charset="0"/>
                      </a:endParaRPr>
                    </a:p>
                  </a:txBody>
                  <a:tcPr marL="91440" marR="91440" marT="45720" marB="45720" anchor="ctr">
                    <a:lnL w="9525" cap="flat" cmpd="sng" algn="ctr">
                      <a:solidFill>
                        <a:srgbClr val="D8C9B6"/>
                      </a:solidFill>
                      <a:prstDash val="solid"/>
                      <a:round/>
                      <a:headEnd type="none" w="med" len="med"/>
                      <a:tailEnd type="none" w="med" len="med"/>
                    </a:lnL>
                    <a:lnR w="9525" cap="flat" cmpd="sng" algn="ctr">
                      <a:solidFill>
                        <a:srgbClr val="D8C9B6"/>
                      </a:solidFill>
                      <a:prstDash val="solid"/>
                      <a:round/>
                      <a:headEnd type="none" w="med" len="med"/>
                      <a:tailEnd type="none" w="med" len="med"/>
                    </a:lnR>
                    <a:lnT w="9525" cap="flat" cmpd="sng" algn="ctr">
                      <a:solidFill>
                        <a:srgbClr val="D8C9B6"/>
                      </a:solidFill>
                      <a:prstDash val="solid"/>
                      <a:round/>
                      <a:headEnd type="none" w="med" len="med"/>
                      <a:tailEnd type="none" w="med" len="med"/>
                    </a:lnT>
                    <a:lnB w="9525" cap="flat" cmpd="sng" algn="ctr">
                      <a:solidFill>
                        <a:srgbClr val="D8C9B6"/>
                      </a:solidFill>
                      <a:prstDash val="solid"/>
                      <a:round/>
                      <a:headEnd type="none" w="med" len="med"/>
                      <a:tailEnd type="none" w="med" len="med"/>
                    </a:lnB>
                  </a:tcPr>
                </a:tc>
                <a:tc>
                  <a:txBody>
                    <a:bodyPr/>
                    <a:lstStyle/>
                    <a:p>
                      <a:pPr indent="0" marL="0">
                        <a:buNone/>
                      </a:pPr>
                      <a:r>
                        <a:rPr lang="en-US" sz="1200" dirty="0">
                          <a:solidFill>
                            <a:srgbClr val="2B2420"/>
                          </a:solidFill>
                          <a:latin typeface="Calibri" pitchFamily="34" charset="0"/>
                          <a:ea typeface="Calibri" pitchFamily="34" charset="-122"/>
                          <a:cs typeface="Calibri" pitchFamily="34" charset="-120"/>
                        </a:rPr>
                        <a:t>1,556</a:t>
                      </a:r>
                      <a:endParaRPr lang="en-US" sz="1200" dirty="0">
                        <a:latin typeface="Calibri" charset="0"/>
                        <a:ea typeface="Calibri" charset="0"/>
                        <a:cs typeface="Calibri" charset="0"/>
                      </a:endParaRPr>
                    </a:p>
                  </a:txBody>
                  <a:tcPr marL="91440" marR="91440" marT="45720" marB="45720" anchor="ctr">
                    <a:lnL w="9525" cap="flat" cmpd="sng" algn="ctr">
                      <a:solidFill>
                        <a:srgbClr val="D8C9B6"/>
                      </a:solidFill>
                      <a:prstDash val="solid"/>
                      <a:round/>
                      <a:headEnd type="none" w="med" len="med"/>
                      <a:tailEnd type="none" w="med" len="med"/>
                    </a:lnL>
                    <a:lnR w="9525" cap="flat" cmpd="sng" algn="ctr">
                      <a:solidFill>
                        <a:srgbClr val="D8C9B6"/>
                      </a:solidFill>
                      <a:prstDash val="solid"/>
                      <a:round/>
                      <a:headEnd type="none" w="med" len="med"/>
                      <a:tailEnd type="none" w="med" len="med"/>
                    </a:lnR>
                    <a:lnT w="9525" cap="flat" cmpd="sng" algn="ctr">
                      <a:solidFill>
                        <a:srgbClr val="D8C9B6"/>
                      </a:solidFill>
                      <a:prstDash val="solid"/>
                      <a:round/>
                      <a:headEnd type="none" w="med" len="med"/>
                      <a:tailEnd type="none" w="med" len="med"/>
                    </a:lnT>
                    <a:lnB w="9525" cap="flat" cmpd="sng" algn="ctr">
                      <a:solidFill>
                        <a:srgbClr val="D8C9B6"/>
                      </a:solidFill>
                      <a:prstDash val="solid"/>
                      <a:round/>
                      <a:headEnd type="none" w="med" len="med"/>
                      <a:tailEnd type="none" w="med" len="med"/>
                    </a:lnB>
                  </a:tcPr>
                </a:tc>
                <a:tc>
                  <a:txBody>
                    <a:bodyPr/>
                    <a:lstStyle/>
                    <a:p>
                      <a:pPr indent="0" marL="0">
                        <a:buNone/>
                      </a:pPr>
                      <a:r>
                        <a:rPr lang="en-US" sz="1200" dirty="0">
                          <a:solidFill>
                            <a:srgbClr val="2B2420"/>
                          </a:solidFill>
                          <a:latin typeface="Calibri" pitchFamily="34" charset="0"/>
                          <a:ea typeface="Calibri" pitchFamily="34" charset="-122"/>
                          <a:cs typeface="Calibri" pitchFamily="34" charset="-120"/>
                        </a:rPr>
                        <a:t>S$120.63</a:t>
                      </a:r>
                      <a:endParaRPr lang="en-US" sz="1200" dirty="0">
                        <a:latin typeface="Calibri" charset="0"/>
                        <a:ea typeface="Calibri" charset="0"/>
                        <a:cs typeface="Calibri" charset="0"/>
                      </a:endParaRPr>
                    </a:p>
                  </a:txBody>
                  <a:tcPr marL="91440" marR="91440" marT="45720" marB="45720" anchor="ctr">
                    <a:lnL w="9525" cap="flat" cmpd="sng" algn="ctr">
                      <a:solidFill>
                        <a:srgbClr val="D8C9B6"/>
                      </a:solidFill>
                      <a:prstDash val="solid"/>
                      <a:round/>
                      <a:headEnd type="none" w="med" len="med"/>
                      <a:tailEnd type="none" w="med" len="med"/>
                    </a:lnL>
                    <a:lnR w="9525" cap="flat" cmpd="sng" algn="ctr">
                      <a:solidFill>
                        <a:srgbClr val="D8C9B6"/>
                      </a:solidFill>
                      <a:prstDash val="solid"/>
                      <a:round/>
                      <a:headEnd type="none" w="med" len="med"/>
                      <a:tailEnd type="none" w="med" len="med"/>
                    </a:lnR>
                    <a:lnT w="9525" cap="flat" cmpd="sng" algn="ctr">
                      <a:solidFill>
                        <a:srgbClr val="D8C9B6"/>
                      </a:solidFill>
                      <a:prstDash val="solid"/>
                      <a:round/>
                      <a:headEnd type="none" w="med" len="med"/>
                      <a:tailEnd type="none" w="med" len="med"/>
                    </a:lnT>
                    <a:lnB w="9525" cap="flat" cmpd="sng" algn="ctr">
                      <a:solidFill>
                        <a:srgbClr val="D8C9B6"/>
                      </a:solidFill>
                      <a:prstDash val="solid"/>
                      <a:round/>
                      <a:headEnd type="none" w="med" len="med"/>
                      <a:tailEnd type="none" w="med" len="med"/>
                    </a:lnB>
                  </a:tcPr>
                </a:tc>
                <a:tc>
                  <a:txBody>
                    <a:bodyPr/>
                    <a:lstStyle/>
                    <a:p>
                      <a:pPr indent="0" marL="0">
                        <a:buNone/>
                      </a:pPr>
                      <a:r>
                        <a:rPr lang="en-US" sz="1200" dirty="0">
                          <a:solidFill>
                            <a:srgbClr val="2B2420"/>
                          </a:solidFill>
                          <a:latin typeface="Calibri" pitchFamily="34" charset="0"/>
                          <a:ea typeface="Calibri" pitchFamily="34" charset="-122"/>
                          <a:cs typeface="Calibri" pitchFamily="34" charset="-120"/>
                        </a:rPr>
                        <a:t>20.0%</a:t>
                      </a:r>
                      <a:endParaRPr lang="en-US" sz="1200" dirty="0">
                        <a:latin typeface="Calibri" charset="0"/>
                        <a:ea typeface="Calibri" charset="0"/>
                        <a:cs typeface="Calibri" charset="0"/>
                      </a:endParaRPr>
                    </a:p>
                  </a:txBody>
                  <a:tcPr marL="91440" marR="91440" marT="45720" marB="45720" anchor="ctr">
                    <a:lnL w="9525" cap="flat" cmpd="sng" algn="ctr">
                      <a:solidFill>
                        <a:srgbClr val="D8C9B6"/>
                      </a:solidFill>
                      <a:prstDash val="solid"/>
                      <a:round/>
                      <a:headEnd type="none" w="med" len="med"/>
                      <a:tailEnd type="none" w="med" len="med"/>
                    </a:lnL>
                    <a:lnR w="9525" cap="flat" cmpd="sng" algn="ctr">
                      <a:solidFill>
                        <a:srgbClr val="D8C9B6"/>
                      </a:solidFill>
                      <a:prstDash val="solid"/>
                      <a:round/>
                      <a:headEnd type="none" w="med" len="med"/>
                      <a:tailEnd type="none" w="med" len="med"/>
                    </a:lnR>
                    <a:lnT w="9525" cap="flat" cmpd="sng" algn="ctr">
                      <a:solidFill>
                        <a:srgbClr val="D8C9B6"/>
                      </a:solidFill>
                      <a:prstDash val="solid"/>
                      <a:round/>
                      <a:headEnd type="none" w="med" len="med"/>
                      <a:tailEnd type="none" w="med" len="med"/>
                    </a:lnT>
                    <a:lnB w="9525" cap="flat" cmpd="sng" algn="ctr">
                      <a:solidFill>
                        <a:srgbClr val="D8C9B6"/>
                      </a:solidFill>
                      <a:prstDash val="solid"/>
                      <a:round/>
                      <a:headEnd type="none" w="med" len="med"/>
                      <a:tailEnd type="none" w="med" len="med"/>
                    </a:lnB>
                  </a:tcPr>
                </a:tc>
              </a:tr>
              <a:tr h="350520">
                <a:tc>
                  <a:txBody>
                    <a:bodyPr/>
                    <a:lstStyle/>
                    <a:p>
                      <a:pPr indent="0" marL="0">
                        <a:buNone/>
                      </a:pPr>
                      <a:r>
                        <a:rPr lang="en-US" sz="1200" b="1" dirty="0">
                          <a:solidFill>
                            <a:srgbClr val="5C1A2B"/>
                          </a:solidFill>
                          <a:latin typeface="Calibri" pitchFamily="34" charset="0"/>
                          <a:ea typeface="Calibri" pitchFamily="34" charset="-122"/>
                          <a:cs typeface="Calibri" pitchFamily="34" charset="-120"/>
                        </a:rPr>
                        <a:t>2026 (YTD, through Aug 17)</a:t>
                      </a:r>
                      <a:endParaRPr lang="en-US" sz="1200" dirty="0">
                        <a:latin typeface="Calibri" charset="0"/>
                        <a:ea typeface="Calibri" charset="0"/>
                        <a:cs typeface="Calibri" charset="0"/>
                      </a:endParaRPr>
                    </a:p>
                  </a:txBody>
                  <a:tcPr marL="91440" marR="91440" marT="45720" marB="45720" anchor="ctr">
                    <a:lnL w="9525" cap="flat" cmpd="sng" algn="ctr">
                      <a:solidFill>
                        <a:srgbClr val="D8C9B6"/>
                      </a:solidFill>
                      <a:prstDash val="solid"/>
                      <a:round/>
                      <a:headEnd type="none" w="med" len="med"/>
                      <a:tailEnd type="none" w="med" len="med"/>
                    </a:lnL>
                    <a:lnR w="9525" cap="flat" cmpd="sng" algn="ctr">
                      <a:solidFill>
                        <a:srgbClr val="D8C9B6"/>
                      </a:solidFill>
                      <a:prstDash val="solid"/>
                      <a:round/>
                      <a:headEnd type="none" w="med" len="med"/>
                      <a:tailEnd type="none" w="med" len="med"/>
                    </a:lnR>
                    <a:lnT w="9525" cap="flat" cmpd="sng" algn="ctr">
                      <a:solidFill>
                        <a:srgbClr val="D8C9B6"/>
                      </a:solidFill>
                      <a:prstDash val="solid"/>
                      <a:round/>
                      <a:headEnd type="none" w="med" len="med"/>
                      <a:tailEnd type="none" w="med" len="med"/>
                    </a:lnT>
                    <a:lnB w="9525" cap="flat" cmpd="sng" algn="ctr">
                      <a:solidFill>
                        <a:srgbClr val="D8C9B6"/>
                      </a:solidFill>
                      <a:prstDash val="solid"/>
                      <a:round/>
                      <a:headEnd type="none" w="med" len="med"/>
                      <a:tailEnd type="none" w="med" len="med"/>
                    </a:lnB>
                  </a:tcPr>
                </a:tc>
                <a:tc>
                  <a:txBody>
                    <a:bodyPr/>
                    <a:lstStyle/>
                    <a:p>
                      <a:pPr indent="0" marL="0">
                        <a:buNone/>
                      </a:pPr>
                      <a:r>
                        <a:rPr lang="en-US" sz="1200" dirty="0">
                          <a:solidFill>
                            <a:srgbClr val="2B2420"/>
                          </a:solidFill>
                          <a:latin typeface="Calibri" pitchFamily="34" charset="0"/>
                          <a:ea typeface="Calibri" pitchFamily="34" charset="-122"/>
                          <a:cs typeface="Calibri" pitchFamily="34" charset="-120"/>
                        </a:rPr>
                        <a:t>S$120,617</a:t>
                      </a:r>
                      <a:endParaRPr lang="en-US" sz="1200" dirty="0">
                        <a:latin typeface="Calibri" charset="0"/>
                        <a:ea typeface="Calibri" charset="0"/>
                        <a:cs typeface="Calibri" charset="0"/>
                      </a:endParaRPr>
                    </a:p>
                  </a:txBody>
                  <a:tcPr marL="91440" marR="91440" marT="45720" marB="45720" anchor="ctr">
                    <a:lnL w="9525" cap="flat" cmpd="sng" algn="ctr">
                      <a:solidFill>
                        <a:srgbClr val="D8C9B6"/>
                      </a:solidFill>
                      <a:prstDash val="solid"/>
                      <a:round/>
                      <a:headEnd type="none" w="med" len="med"/>
                      <a:tailEnd type="none" w="med" len="med"/>
                    </a:lnL>
                    <a:lnR w="9525" cap="flat" cmpd="sng" algn="ctr">
                      <a:solidFill>
                        <a:srgbClr val="D8C9B6"/>
                      </a:solidFill>
                      <a:prstDash val="solid"/>
                      <a:round/>
                      <a:headEnd type="none" w="med" len="med"/>
                      <a:tailEnd type="none" w="med" len="med"/>
                    </a:lnR>
                    <a:lnT w="9525" cap="flat" cmpd="sng" algn="ctr">
                      <a:solidFill>
                        <a:srgbClr val="D8C9B6"/>
                      </a:solidFill>
                      <a:prstDash val="solid"/>
                      <a:round/>
                      <a:headEnd type="none" w="med" len="med"/>
                      <a:tailEnd type="none" w="med" len="med"/>
                    </a:lnT>
                    <a:lnB w="9525" cap="flat" cmpd="sng" algn="ctr">
                      <a:solidFill>
                        <a:srgbClr val="D8C9B6"/>
                      </a:solidFill>
                      <a:prstDash val="solid"/>
                      <a:round/>
                      <a:headEnd type="none" w="med" len="med"/>
                      <a:tailEnd type="none" w="med" len="med"/>
                    </a:lnB>
                  </a:tcPr>
                </a:tc>
                <a:tc>
                  <a:txBody>
                    <a:bodyPr/>
                    <a:lstStyle/>
                    <a:p>
                      <a:pPr indent="0" marL="0">
                        <a:buNone/>
                      </a:pPr>
                      <a:r>
                        <a:rPr lang="en-US" sz="1200" dirty="0">
                          <a:solidFill>
                            <a:srgbClr val="2B2420"/>
                          </a:solidFill>
                          <a:latin typeface="Calibri" pitchFamily="34" charset="0"/>
                          <a:ea typeface="Calibri" pitchFamily="34" charset="-122"/>
                          <a:cs typeface="Calibri" pitchFamily="34" charset="-120"/>
                        </a:rPr>
                        <a:t>807</a:t>
                      </a:r>
                      <a:endParaRPr lang="en-US" sz="1200" dirty="0">
                        <a:latin typeface="Calibri" charset="0"/>
                        <a:ea typeface="Calibri" charset="0"/>
                        <a:cs typeface="Calibri" charset="0"/>
                      </a:endParaRPr>
                    </a:p>
                  </a:txBody>
                  <a:tcPr marL="91440" marR="91440" marT="45720" marB="45720" anchor="ctr">
                    <a:lnL w="9525" cap="flat" cmpd="sng" algn="ctr">
                      <a:solidFill>
                        <a:srgbClr val="D8C9B6"/>
                      </a:solidFill>
                      <a:prstDash val="solid"/>
                      <a:round/>
                      <a:headEnd type="none" w="med" len="med"/>
                      <a:tailEnd type="none" w="med" len="med"/>
                    </a:lnL>
                    <a:lnR w="9525" cap="flat" cmpd="sng" algn="ctr">
                      <a:solidFill>
                        <a:srgbClr val="D8C9B6"/>
                      </a:solidFill>
                      <a:prstDash val="solid"/>
                      <a:round/>
                      <a:headEnd type="none" w="med" len="med"/>
                      <a:tailEnd type="none" w="med" len="med"/>
                    </a:lnR>
                    <a:lnT w="9525" cap="flat" cmpd="sng" algn="ctr">
                      <a:solidFill>
                        <a:srgbClr val="D8C9B6"/>
                      </a:solidFill>
                      <a:prstDash val="solid"/>
                      <a:round/>
                      <a:headEnd type="none" w="med" len="med"/>
                      <a:tailEnd type="none" w="med" len="med"/>
                    </a:lnT>
                    <a:lnB w="9525" cap="flat" cmpd="sng" algn="ctr">
                      <a:solidFill>
                        <a:srgbClr val="D8C9B6"/>
                      </a:solidFill>
                      <a:prstDash val="solid"/>
                      <a:round/>
                      <a:headEnd type="none" w="med" len="med"/>
                      <a:tailEnd type="none" w="med" len="med"/>
                    </a:lnB>
                  </a:tcPr>
                </a:tc>
                <a:tc>
                  <a:txBody>
                    <a:bodyPr/>
                    <a:lstStyle/>
                    <a:p>
                      <a:pPr indent="0" marL="0">
                        <a:buNone/>
                      </a:pPr>
                      <a:r>
                        <a:rPr lang="en-US" sz="1200" dirty="0">
                          <a:solidFill>
                            <a:srgbClr val="2B2420"/>
                          </a:solidFill>
                          <a:latin typeface="Calibri" pitchFamily="34" charset="0"/>
                          <a:ea typeface="Calibri" pitchFamily="34" charset="-122"/>
                          <a:cs typeface="Calibri" pitchFamily="34" charset="-120"/>
                        </a:rPr>
                        <a:t>S$131.07</a:t>
                      </a:r>
                      <a:endParaRPr lang="en-US" sz="1200" dirty="0">
                        <a:latin typeface="Calibri" charset="0"/>
                        <a:ea typeface="Calibri" charset="0"/>
                        <a:cs typeface="Calibri" charset="0"/>
                      </a:endParaRPr>
                    </a:p>
                  </a:txBody>
                  <a:tcPr marL="91440" marR="91440" marT="45720" marB="45720" anchor="ctr">
                    <a:lnL w="9525" cap="flat" cmpd="sng" algn="ctr">
                      <a:solidFill>
                        <a:srgbClr val="D8C9B6"/>
                      </a:solidFill>
                      <a:prstDash val="solid"/>
                      <a:round/>
                      <a:headEnd type="none" w="med" len="med"/>
                      <a:tailEnd type="none" w="med" len="med"/>
                    </a:lnL>
                    <a:lnR w="9525" cap="flat" cmpd="sng" algn="ctr">
                      <a:solidFill>
                        <a:srgbClr val="D8C9B6"/>
                      </a:solidFill>
                      <a:prstDash val="solid"/>
                      <a:round/>
                      <a:headEnd type="none" w="med" len="med"/>
                      <a:tailEnd type="none" w="med" len="med"/>
                    </a:lnR>
                    <a:lnT w="9525" cap="flat" cmpd="sng" algn="ctr">
                      <a:solidFill>
                        <a:srgbClr val="D8C9B6"/>
                      </a:solidFill>
                      <a:prstDash val="solid"/>
                      <a:round/>
                      <a:headEnd type="none" w="med" len="med"/>
                      <a:tailEnd type="none" w="med" len="med"/>
                    </a:lnT>
                    <a:lnB w="9525" cap="flat" cmpd="sng" algn="ctr">
                      <a:solidFill>
                        <a:srgbClr val="D8C9B6"/>
                      </a:solidFill>
                      <a:prstDash val="solid"/>
                      <a:round/>
                      <a:headEnd type="none" w="med" len="med"/>
                      <a:tailEnd type="none" w="med" len="med"/>
                    </a:lnB>
                  </a:tcPr>
                </a:tc>
                <a:tc>
                  <a:txBody>
                    <a:bodyPr/>
                    <a:lstStyle/>
                    <a:p>
                      <a:pPr indent="0" marL="0">
                        <a:buNone/>
                      </a:pPr>
                      <a:r>
                        <a:rPr lang="en-US" sz="1200" dirty="0">
                          <a:solidFill>
                            <a:srgbClr val="2B2420"/>
                          </a:solidFill>
                          <a:latin typeface="Calibri" pitchFamily="34" charset="0"/>
                          <a:ea typeface="Calibri" pitchFamily="34" charset="-122"/>
                          <a:cs typeface="Calibri" pitchFamily="34" charset="-120"/>
                        </a:rPr>
                        <a:t>19.5%</a:t>
                      </a:r>
                      <a:endParaRPr lang="en-US" sz="1200" dirty="0">
                        <a:latin typeface="Calibri" charset="0"/>
                        <a:ea typeface="Calibri" charset="0"/>
                        <a:cs typeface="Calibri" charset="0"/>
                      </a:endParaRPr>
                    </a:p>
                  </a:txBody>
                  <a:tcPr marL="91440" marR="91440" marT="45720" marB="45720" anchor="ctr">
                    <a:lnL w="9525" cap="flat" cmpd="sng" algn="ctr">
                      <a:solidFill>
                        <a:srgbClr val="D8C9B6"/>
                      </a:solidFill>
                      <a:prstDash val="solid"/>
                      <a:round/>
                      <a:headEnd type="none" w="med" len="med"/>
                      <a:tailEnd type="none" w="med" len="med"/>
                    </a:lnL>
                    <a:lnR w="9525" cap="flat" cmpd="sng" algn="ctr">
                      <a:solidFill>
                        <a:srgbClr val="D8C9B6"/>
                      </a:solidFill>
                      <a:prstDash val="solid"/>
                      <a:round/>
                      <a:headEnd type="none" w="med" len="med"/>
                      <a:tailEnd type="none" w="med" len="med"/>
                    </a:lnR>
                    <a:lnT w="9525" cap="flat" cmpd="sng" algn="ctr">
                      <a:solidFill>
                        <a:srgbClr val="D8C9B6"/>
                      </a:solidFill>
                      <a:prstDash val="solid"/>
                      <a:round/>
                      <a:headEnd type="none" w="med" len="med"/>
                      <a:tailEnd type="none" w="med" len="med"/>
                    </a:lnT>
                    <a:lnB w="9525" cap="flat" cmpd="sng" algn="ctr">
                      <a:solidFill>
                        <a:srgbClr val="D8C9B6"/>
                      </a:solidFill>
                      <a:prstDash val="solid"/>
                      <a:round/>
                      <a:headEnd type="none" w="med" len="med"/>
                      <a:tailEnd type="none" w="med" len="med"/>
                    </a:lnB>
                  </a:tcPr>
                </a:tc>
              </a:tr>
            </a:tbl>
          </a:graphicData>
        </a:graphic>
      </p:graphicFrame>
      <p:sp>
        <p:nvSpPr>
          <p:cNvPr id="15" name="Shape 12"/>
          <p:cNvSpPr/>
          <p:nvPr/>
        </p:nvSpPr>
        <p:spPr>
          <a:xfrm>
            <a:off x="457200" y="5257800"/>
            <a:ext cx="10332720" cy="1005840"/>
          </a:xfrm>
          <a:prstGeom prst="roundRect">
            <a:avLst>
              <a:gd name="adj" fmla="val 7273"/>
            </a:avLst>
          </a:prstGeom>
          <a:solidFill>
            <a:srgbClr val="E5DCD3"/>
          </a:solidFill>
          <a:ln/>
        </p:spPr>
      </p:sp>
      <p:sp>
        <p:nvSpPr>
          <p:cNvPr id="16" name="Text 13"/>
          <p:cNvSpPr/>
          <p:nvPr/>
        </p:nvSpPr>
        <p:spPr>
          <a:xfrm>
            <a:off x="685800" y="5422392"/>
            <a:ext cx="9875520" cy="676656"/>
          </a:xfrm>
          <a:prstGeom prst="rect">
            <a:avLst/>
          </a:prstGeom>
          <a:noFill/>
          <a:ln/>
        </p:spPr>
        <p:txBody>
          <a:bodyPr wrap="square" lIns="0" tIns="0" rIns="0" bIns="0" rtlCol="0" anchor="t"/>
          <a:lstStyle/>
          <a:p>
            <a:pPr indent="0" marL="0">
              <a:lnSpc>
                <a:spcPct val="115000"/>
              </a:lnSpc>
              <a:buNone/>
            </a:pPr>
            <a:r>
              <a:rPr lang="en-US" sz="1100" b="1" spc="100" kern="0" dirty="0">
                <a:solidFill>
                  <a:srgbClr val="5C1A2B"/>
                </a:solidFill>
                <a:latin typeface="Calibri" pitchFamily="34" charset="0"/>
                <a:ea typeface="Calibri" pitchFamily="34" charset="-122"/>
                <a:cs typeface="Calibri" pitchFamily="34" charset="-120"/>
              </a:rPr>
              <a:t>READ  </a:t>
            </a:r>
            <a:pPr indent="0" marL="0">
              <a:lnSpc>
                <a:spcPct val="115000"/>
              </a:lnSpc>
              <a:buNone/>
            </a:pPr>
            <a:r>
              <a:rPr lang="en-US" sz="1300" dirty="0">
                <a:solidFill>
                  <a:srgbClr val="2B2420"/>
                </a:solidFill>
                <a:latin typeface="Calibri" pitchFamily="34" charset="0"/>
                <a:ea typeface="Calibri" pitchFamily="34" charset="-122"/>
                <a:cs typeface="Calibri" pitchFamily="34" charset="-120"/>
              </a:rPr>
              <a:t>The online store’s entire three-year history (S$176) doesn’t add up to half of what the wine bar takes in on a single average day (S$494). This isn’t a business in trouble — it’s a business whose website hasn’t caught up with it yet.</a:t>
            </a:r>
            <a:endParaRPr lang="en-US" sz="1100" dirty="0"/>
          </a:p>
        </p:txBody>
      </p:sp>
      <p:sp>
        <p:nvSpPr>
          <p:cNvPr id="17" name="Text 14"/>
          <p:cNvSpPr/>
          <p:nvPr/>
        </p:nvSpPr>
        <p:spPr>
          <a:xfrm>
            <a:off x="11277295" y="6355080"/>
            <a:ext cx="548640" cy="320040"/>
          </a:xfrm>
          <a:prstGeom prst="rect">
            <a:avLst/>
          </a:prstGeom>
          <a:noFill/>
          <a:ln/>
        </p:spPr>
        <p:txBody>
          <a:bodyPr wrap="square" rtlCol="0" anchor="ctr"/>
          <a:lstStyle/>
          <a:p>
            <a:pPr algn="r" indent="0" marL="0">
              <a:buNone/>
            </a:pPr>
            <a:r>
              <a:rPr lang="en-US" sz="1000" dirty="0">
                <a:solidFill>
                  <a:srgbClr val="6B655C"/>
                </a:solidFill>
                <a:latin typeface="Calibri" pitchFamily="34" charset="0"/>
                <a:ea typeface="Calibri" pitchFamily="34" charset="-122"/>
                <a:cs typeface="Calibri" pitchFamily="34" charset="-120"/>
              </a:rPr>
              <a:t>05</a:t>
            </a:r>
            <a:endParaRPr lang="en-US" sz="1000" dirty="0"/>
          </a:p>
        </p:txBody>
      </p:sp>
      <p:sp>
        <p:nvSpPr>
          <p:cNvPr id="18" name="Text 15"/>
          <p:cNvSpPr/>
          <p:nvPr/>
        </p:nvSpPr>
        <p:spPr>
          <a:xfrm>
            <a:off x="457200" y="6355080"/>
            <a:ext cx="2743200" cy="320040"/>
          </a:xfrm>
          <a:prstGeom prst="rect">
            <a:avLst/>
          </a:prstGeom>
          <a:noFill/>
          <a:ln/>
        </p:spPr>
        <p:txBody>
          <a:bodyPr wrap="square" rtlCol="0" anchor="ctr"/>
          <a:lstStyle/>
          <a:p>
            <a:pPr indent="0" marL="0">
              <a:buNone/>
            </a:pPr>
            <a:r>
              <a:rPr lang="en-US" sz="1000" spc="200" kern="0" dirty="0">
                <a:solidFill>
                  <a:srgbClr val="6B655C"/>
                </a:solidFill>
                <a:latin typeface="Calibri" pitchFamily="34" charset="0"/>
                <a:ea typeface="Calibri" pitchFamily="34" charset="-122"/>
                <a:cs typeface="Calibri" pitchFamily="34" charset="-120"/>
              </a:rPr>
              <a:t>CELLAR V</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DFCFA"/>
        </a:solidFill>
      </p:bgPr>
    </p:bg>
    <p:spTree>
      <p:nvGrpSpPr>
        <p:cNvPr id="1" name=""/>
        <p:cNvGrpSpPr/>
        <p:nvPr/>
      </p:nvGrpSpPr>
      <p:grpSpPr>
        <a:xfrm>
          <a:off x="0" y="0"/>
          <a:ext cx="0" cy="0"/>
          <a:chOff x="0" y="0"/>
          <a:chExt cx="0" cy="0"/>
        </a:xfrm>
      </p:grpSpPr>
      <p:sp>
        <p:nvSpPr>
          <p:cNvPr id="2" name="Text 0"/>
          <p:cNvSpPr/>
          <p:nvPr/>
        </p:nvSpPr>
        <p:spPr>
          <a:xfrm>
            <a:off x="457200" y="411480"/>
            <a:ext cx="7315200" cy="320040"/>
          </a:xfrm>
          <a:prstGeom prst="rect">
            <a:avLst/>
          </a:prstGeom>
          <a:noFill/>
          <a:ln/>
        </p:spPr>
        <p:txBody>
          <a:bodyPr wrap="square" lIns="0" tIns="0" rIns="0" bIns="0" rtlCol="0" anchor="ctr"/>
          <a:lstStyle/>
          <a:p>
            <a:pPr indent="0" marL="0">
              <a:buNone/>
            </a:pPr>
            <a:r>
              <a:rPr lang="en-US" sz="1200" b="1" spc="200" kern="0" dirty="0">
                <a:solidFill>
                  <a:srgbClr val="C9A227"/>
                </a:solidFill>
                <a:latin typeface="Calibri" pitchFamily="34" charset="0"/>
                <a:ea typeface="Calibri" pitchFamily="34" charset="-122"/>
                <a:cs typeface="Calibri" pitchFamily="34" charset="-120"/>
              </a:rPr>
              <a:t>STORY 02 · WHERE THE MONEY COMES FROM</a:t>
            </a:r>
            <a:endParaRPr lang="en-US" sz="1200" dirty="0"/>
          </a:p>
        </p:txBody>
      </p:sp>
      <p:sp>
        <p:nvSpPr>
          <p:cNvPr id="3" name="Text 1"/>
          <p:cNvSpPr/>
          <p:nvPr/>
        </p:nvSpPr>
        <p:spPr>
          <a:xfrm>
            <a:off x="457200" y="731520"/>
            <a:ext cx="10332720" cy="548640"/>
          </a:xfrm>
          <a:prstGeom prst="rect">
            <a:avLst/>
          </a:prstGeom>
          <a:noFill/>
          <a:ln/>
        </p:spPr>
        <p:txBody>
          <a:bodyPr wrap="square" lIns="0" tIns="0" rIns="0" bIns="0" rtlCol="0" anchor="ctr"/>
          <a:lstStyle/>
          <a:p>
            <a:pPr indent="0" marL="0">
              <a:lnSpc>
                <a:spcPct val="105000"/>
              </a:lnSpc>
              <a:buNone/>
            </a:pPr>
            <a:r>
              <a:rPr lang="en-US" sz="2700" b="1" dirty="0">
                <a:solidFill>
                  <a:srgbClr val="2B2420"/>
                </a:solidFill>
                <a:latin typeface="Cambria" pitchFamily="34" charset="0"/>
                <a:ea typeface="Cambria" pitchFamily="34" charset="-122"/>
                <a:cs typeface="Cambria" pitchFamily="34" charset="-120"/>
              </a:rPr>
              <a:t>What’s actually selling?</a:t>
            </a:r>
            <a:endParaRPr lang="en-US" sz="2700" dirty="0"/>
          </a:p>
        </p:txBody>
      </p:sp>
      <p:sp>
        <p:nvSpPr>
          <p:cNvPr id="4" name="Text 2"/>
          <p:cNvSpPr/>
          <p:nvPr/>
        </p:nvSpPr>
        <p:spPr>
          <a:xfrm>
            <a:off x="457200" y="1417320"/>
            <a:ext cx="6035040" cy="292608"/>
          </a:xfrm>
          <a:prstGeom prst="rect">
            <a:avLst/>
          </a:prstGeom>
          <a:noFill/>
          <a:ln/>
        </p:spPr>
        <p:txBody>
          <a:bodyPr wrap="square" lIns="0" tIns="0" rIns="0" bIns="0" rtlCol="0" anchor="ctr"/>
          <a:lstStyle/>
          <a:p>
            <a:pPr indent="0" marL="0">
              <a:buNone/>
            </a:pPr>
            <a:r>
              <a:rPr lang="en-US" sz="1300" dirty="0">
                <a:solidFill>
                  <a:srgbClr val="2B2420"/>
                </a:solidFill>
                <a:latin typeface="Cambria" pitchFamily="34" charset="0"/>
                <a:ea typeface="Cambria" pitchFamily="34" charset="-122"/>
                <a:cs typeface="Cambria" pitchFamily="34" charset="-120"/>
              </a:rPr>
              <a:t>Gross sales by category, Jan 2025 – Aug 2026</a:t>
            </a:r>
            <a:endParaRPr lang="en-US" sz="1300" dirty="0"/>
          </a:p>
        </p:txBody>
      </p:sp>
      <p:sp>
        <p:nvSpPr>
          <p:cNvPr id="5" name="Text 3"/>
          <p:cNvSpPr/>
          <p:nvPr/>
        </p:nvSpPr>
        <p:spPr>
          <a:xfrm>
            <a:off x="457200" y="1801368"/>
            <a:ext cx="1536192" cy="472059"/>
          </a:xfrm>
          <a:prstGeom prst="rect">
            <a:avLst/>
          </a:prstGeom>
          <a:noFill/>
          <a:ln/>
        </p:spPr>
        <p:txBody>
          <a:bodyPr wrap="square" lIns="0" tIns="0" rIns="0" bIns="0" rtlCol="0" anchor="ctr"/>
          <a:lstStyle/>
          <a:p>
            <a:pPr algn="r" indent="0" marL="0">
              <a:buNone/>
            </a:pPr>
            <a:r>
              <a:rPr lang="en-US" sz="1050" dirty="0">
                <a:solidFill>
                  <a:srgbClr val="6B655C"/>
                </a:solidFill>
                <a:latin typeface="Calibri" pitchFamily="34" charset="0"/>
                <a:ea typeface="Calibri" pitchFamily="34" charset="-122"/>
                <a:cs typeface="Calibri" pitchFamily="34" charset="-120"/>
              </a:rPr>
              <a:t>Red</a:t>
            </a:r>
            <a:endParaRPr lang="en-US" sz="1050" dirty="0"/>
          </a:p>
        </p:txBody>
      </p:sp>
      <p:sp>
        <p:nvSpPr>
          <p:cNvPr id="6" name="Shape 4"/>
          <p:cNvSpPr/>
          <p:nvPr/>
        </p:nvSpPr>
        <p:spPr>
          <a:xfrm>
            <a:off x="2103120" y="1919383"/>
            <a:ext cx="3566160" cy="236030"/>
          </a:xfrm>
          <a:prstGeom prst="roundRect">
            <a:avLst>
              <a:gd name="adj" fmla="val 7748"/>
            </a:avLst>
          </a:prstGeom>
          <a:solidFill>
            <a:srgbClr val="5C1A2B"/>
          </a:solidFill>
          <a:ln/>
        </p:spPr>
      </p:sp>
      <p:sp>
        <p:nvSpPr>
          <p:cNvPr id="7" name="Text 5"/>
          <p:cNvSpPr/>
          <p:nvPr/>
        </p:nvSpPr>
        <p:spPr>
          <a:xfrm>
            <a:off x="5724144" y="1801368"/>
            <a:ext cx="768096" cy="472059"/>
          </a:xfrm>
          <a:prstGeom prst="rect">
            <a:avLst/>
          </a:prstGeom>
          <a:noFill/>
          <a:ln/>
        </p:spPr>
        <p:txBody>
          <a:bodyPr wrap="square" lIns="0" tIns="0" rIns="0" bIns="0" rtlCol="0" anchor="ctr"/>
          <a:lstStyle/>
          <a:p>
            <a:pPr algn="l" indent="0" marL="0">
              <a:buNone/>
            </a:pPr>
            <a:r>
              <a:rPr lang="en-US" sz="1000" b="1" dirty="0">
                <a:solidFill>
                  <a:srgbClr val="2B2420"/>
                </a:solidFill>
                <a:latin typeface="Calibri" pitchFamily="34" charset="0"/>
                <a:ea typeface="Calibri" pitchFamily="34" charset="-122"/>
                <a:cs typeface="Calibri" pitchFamily="34" charset="-120"/>
              </a:rPr>
              <a:t>198,895</a:t>
            </a:r>
            <a:endParaRPr lang="en-US" sz="1000" dirty="0"/>
          </a:p>
        </p:txBody>
      </p:sp>
      <p:sp>
        <p:nvSpPr>
          <p:cNvPr id="8" name="Text 6"/>
          <p:cNvSpPr/>
          <p:nvPr/>
        </p:nvSpPr>
        <p:spPr>
          <a:xfrm>
            <a:off x="457200" y="2273427"/>
            <a:ext cx="1536192" cy="472059"/>
          </a:xfrm>
          <a:prstGeom prst="rect">
            <a:avLst/>
          </a:prstGeom>
          <a:noFill/>
          <a:ln/>
        </p:spPr>
        <p:txBody>
          <a:bodyPr wrap="square" lIns="0" tIns="0" rIns="0" bIns="0" rtlCol="0" anchor="ctr"/>
          <a:lstStyle/>
          <a:p>
            <a:pPr algn="r" indent="0" marL="0">
              <a:buNone/>
            </a:pPr>
            <a:r>
              <a:rPr lang="en-US" sz="1050" dirty="0">
                <a:solidFill>
                  <a:srgbClr val="6B655C"/>
                </a:solidFill>
                <a:latin typeface="Calibri" pitchFamily="34" charset="0"/>
                <a:ea typeface="Calibri" pitchFamily="34" charset="-122"/>
                <a:cs typeface="Calibri" pitchFamily="34" charset="-120"/>
              </a:rPr>
              <a:t>White</a:t>
            </a:r>
            <a:endParaRPr lang="en-US" sz="1050" dirty="0"/>
          </a:p>
        </p:txBody>
      </p:sp>
      <p:sp>
        <p:nvSpPr>
          <p:cNvPr id="9" name="Shape 7"/>
          <p:cNvSpPr/>
          <p:nvPr/>
        </p:nvSpPr>
        <p:spPr>
          <a:xfrm>
            <a:off x="2103120" y="2391442"/>
            <a:ext cx="661235" cy="236030"/>
          </a:xfrm>
          <a:prstGeom prst="roundRect">
            <a:avLst>
              <a:gd name="adj" fmla="val 7748"/>
            </a:avLst>
          </a:prstGeom>
          <a:solidFill>
            <a:srgbClr val="5C1A2B"/>
          </a:solidFill>
          <a:ln/>
        </p:spPr>
      </p:sp>
      <p:sp>
        <p:nvSpPr>
          <p:cNvPr id="10" name="Text 8"/>
          <p:cNvSpPr/>
          <p:nvPr/>
        </p:nvSpPr>
        <p:spPr>
          <a:xfrm>
            <a:off x="2819219" y="2273427"/>
            <a:ext cx="768096" cy="472059"/>
          </a:xfrm>
          <a:prstGeom prst="rect">
            <a:avLst/>
          </a:prstGeom>
          <a:noFill/>
          <a:ln/>
        </p:spPr>
        <p:txBody>
          <a:bodyPr wrap="square" lIns="0" tIns="0" rIns="0" bIns="0" rtlCol="0" anchor="ctr"/>
          <a:lstStyle/>
          <a:p>
            <a:pPr algn="l" indent="0" marL="0">
              <a:buNone/>
            </a:pPr>
            <a:r>
              <a:rPr lang="en-US" sz="1000" b="1" dirty="0">
                <a:solidFill>
                  <a:srgbClr val="2B2420"/>
                </a:solidFill>
                <a:latin typeface="Calibri" pitchFamily="34" charset="0"/>
                <a:ea typeface="Calibri" pitchFamily="34" charset="-122"/>
                <a:cs typeface="Calibri" pitchFamily="34" charset="-120"/>
              </a:rPr>
              <a:t>36,879</a:t>
            </a:r>
            <a:endParaRPr lang="en-US" sz="1000" dirty="0"/>
          </a:p>
        </p:txBody>
      </p:sp>
      <p:sp>
        <p:nvSpPr>
          <p:cNvPr id="11" name="Text 9"/>
          <p:cNvSpPr/>
          <p:nvPr/>
        </p:nvSpPr>
        <p:spPr>
          <a:xfrm>
            <a:off x="457200" y="2745486"/>
            <a:ext cx="1536192" cy="472059"/>
          </a:xfrm>
          <a:prstGeom prst="rect">
            <a:avLst/>
          </a:prstGeom>
          <a:noFill/>
          <a:ln/>
        </p:spPr>
        <p:txBody>
          <a:bodyPr wrap="square" lIns="0" tIns="0" rIns="0" bIns="0" rtlCol="0" anchor="ctr"/>
          <a:lstStyle/>
          <a:p>
            <a:pPr algn="r" indent="0" marL="0">
              <a:buNone/>
            </a:pPr>
            <a:r>
              <a:rPr lang="en-US" sz="1050" dirty="0">
                <a:solidFill>
                  <a:srgbClr val="6B655C"/>
                </a:solidFill>
                <a:latin typeface="Calibri" pitchFamily="34" charset="0"/>
                <a:ea typeface="Calibri" pitchFamily="34" charset="-122"/>
                <a:cs typeface="Calibri" pitchFamily="34" charset="-120"/>
              </a:rPr>
              <a:t>Food</a:t>
            </a:r>
            <a:endParaRPr lang="en-US" sz="1050" dirty="0"/>
          </a:p>
        </p:txBody>
      </p:sp>
      <p:sp>
        <p:nvSpPr>
          <p:cNvPr id="12" name="Shape 10"/>
          <p:cNvSpPr/>
          <p:nvPr/>
        </p:nvSpPr>
        <p:spPr>
          <a:xfrm>
            <a:off x="2103120" y="2863501"/>
            <a:ext cx="566386" cy="236030"/>
          </a:xfrm>
          <a:prstGeom prst="roundRect">
            <a:avLst>
              <a:gd name="adj" fmla="val 7748"/>
            </a:avLst>
          </a:prstGeom>
          <a:solidFill>
            <a:srgbClr val="5C1A2B"/>
          </a:solidFill>
          <a:ln/>
        </p:spPr>
      </p:sp>
      <p:sp>
        <p:nvSpPr>
          <p:cNvPr id="13" name="Text 11"/>
          <p:cNvSpPr/>
          <p:nvPr/>
        </p:nvSpPr>
        <p:spPr>
          <a:xfrm>
            <a:off x="2724370" y="2745486"/>
            <a:ext cx="768096" cy="472059"/>
          </a:xfrm>
          <a:prstGeom prst="rect">
            <a:avLst/>
          </a:prstGeom>
          <a:noFill/>
          <a:ln/>
        </p:spPr>
        <p:txBody>
          <a:bodyPr wrap="square" lIns="0" tIns="0" rIns="0" bIns="0" rtlCol="0" anchor="ctr"/>
          <a:lstStyle/>
          <a:p>
            <a:pPr algn="l" indent="0" marL="0">
              <a:buNone/>
            </a:pPr>
            <a:r>
              <a:rPr lang="en-US" sz="1000" b="1" dirty="0">
                <a:solidFill>
                  <a:srgbClr val="2B2420"/>
                </a:solidFill>
                <a:latin typeface="Calibri" pitchFamily="34" charset="0"/>
                <a:ea typeface="Calibri" pitchFamily="34" charset="-122"/>
                <a:cs typeface="Calibri" pitchFamily="34" charset="-120"/>
              </a:rPr>
              <a:t>31,589</a:t>
            </a:r>
            <a:endParaRPr lang="en-US" sz="1000" dirty="0"/>
          </a:p>
        </p:txBody>
      </p:sp>
      <p:sp>
        <p:nvSpPr>
          <p:cNvPr id="14" name="Text 12"/>
          <p:cNvSpPr/>
          <p:nvPr/>
        </p:nvSpPr>
        <p:spPr>
          <a:xfrm>
            <a:off x="457200" y="3217545"/>
            <a:ext cx="1536192" cy="472059"/>
          </a:xfrm>
          <a:prstGeom prst="rect">
            <a:avLst/>
          </a:prstGeom>
          <a:noFill/>
          <a:ln/>
        </p:spPr>
        <p:txBody>
          <a:bodyPr wrap="square" lIns="0" tIns="0" rIns="0" bIns="0" rtlCol="0" anchor="ctr"/>
          <a:lstStyle/>
          <a:p>
            <a:pPr algn="r" indent="0" marL="0">
              <a:buNone/>
            </a:pPr>
            <a:r>
              <a:rPr lang="en-US" sz="1050" dirty="0">
                <a:solidFill>
                  <a:srgbClr val="6B655C"/>
                </a:solidFill>
                <a:latin typeface="Calibri" pitchFamily="34" charset="0"/>
                <a:ea typeface="Calibri" pitchFamily="34" charset="-122"/>
                <a:cs typeface="Calibri" pitchFamily="34" charset="-120"/>
              </a:rPr>
              <a:t>Other</a:t>
            </a:r>
            <a:endParaRPr lang="en-US" sz="1050" dirty="0"/>
          </a:p>
        </p:txBody>
      </p:sp>
      <p:sp>
        <p:nvSpPr>
          <p:cNvPr id="15" name="Shape 13"/>
          <p:cNvSpPr/>
          <p:nvPr/>
        </p:nvSpPr>
        <p:spPr>
          <a:xfrm>
            <a:off x="2103120" y="3335560"/>
            <a:ext cx="492820" cy="236030"/>
          </a:xfrm>
          <a:prstGeom prst="roundRect">
            <a:avLst>
              <a:gd name="adj" fmla="val 7748"/>
            </a:avLst>
          </a:prstGeom>
          <a:solidFill>
            <a:srgbClr val="5C1A2B"/>
          </a:solidFill>
          <a:ln/>
        </p:spPr>
      </p:sp>
      <p:sp>
        <p:nvSpPr>
          <p:cNvPr id="16" name="Text 14"/>
          <p:cNvSpPr/>
          <p:nvPr/>
        </p:nvSpPr>
        <p:spPr>
          <a:xfrm>
            <a:off x="2650804" y="3217545"/>
            <a:ext cx="768096" cy="472059"/>
          </a:xfrm>
          <a:prstGeom prst="rect">
            <a:avLst/>
          </a:prstGeom>
          <a:noFill/>
          <a:ln/>
        </p:spPr>
        <p:txBody>
          <a:bodyPr wrap="square" lIns="0" tIns="0" rIns="0" bIns="0" rtlCol="0" anchor="ctr"/>
          <a:lstStyle/>
          <a:p>
            <a:pPr algn="l" indent="0" marL="0">
              <a:buNone/>
            </a:pPr>
            <a:r>
              <a:rPr lang="en-US" sz="1000" b="1" dirty="0">
                <a:solidFill>
                  <a:srgbClr val="2B2420"/>
                </a:solidFill>
                <a:latin typeface="Calibri" pitchFamily="34" charset="0"/>
                <a:ea typeface="Calibri" pitchFamily="34" charset="-122"/>
                <a:cs typeface="Calibri" pitchFamily="34" charset="-120"/>
              </a:rPr>
              <a:t>27,486</a:t>
            </a:r>
            <a:endParaRPr lang="en-US" sz="1000" dirty="0"/>
          </a:p>
        </p:txBody>
      </p:sp>
      <p:sp>
        <p:nvSpPr>
          <p:cNvPr id="17" name="Text 15"/>
          <p:cNvSpPr/>
          <p:nvPr/>
        </p:nvSpPr>
        <p:spPr>
          <a:xfrm>
            <a:off x="457200" y="3689604"/>
            <a:ext cx="1536192" cy="472059"/>
          </a:xfrm>
          <a:prstGeom prst="rect">
            <a:avLst/>
          </a:prstGeom>
          <a:noFill/>
          <a:ln/>
        </p:spPr>
        <p:txBody>
          <a:bodyPr wrap="square" lIns="0" tIns="0" rIns="0" bIns="0" rtlCol="0" anchor="ctr"/>
          <a:lstStyle/>
          <a:p>
            <a:pPr algn="r" indent="0" marL="0">
              <a:buNone/>
            </a:pPr>
            <a:r>
              <a:rPr lang="en-US" sz="1050" dirty="0">
                <a:solidFill>
                  <a:srgbClr val="6B655C"/>
                </a:solidFill>
                <a:latin typeface="Calibri" pitchFamily="34" charset="0"/>
                <a:ea typeface="Calibri" pitchFamily="34" charset="-122"/>
                <a:cs typeface="Calibri" pitchFamily="34" charset="-120"/>
              </a:rPr>
              <a:t>Champagne/Sparkling</a:t>
            </a:r>
            <a:endParaRPr lang="en-US" sz="1050" dirty="0"/>
          </a:p>
        </p:txBody>
      </p:sp>
      <p:sp>
        <p:nvSpPr>
          <p:cNvPr id="18" name="Shape 16"/>
          <p:cNvSpPr/>
          <p:nvPr/>
        </p:nvSpPr>
        <p:spPr>
          <a:xfrm>
            <a:off x="2103120" y="3807619"/>
            <a:ext cx="368979" cy="236030"/>
          </a:xfrm>
          <a:prstGeom prst="roundRect">
            <a:avLst>
              <a:gd name="adj" fmla="val 7748"/>
            </a:avLst>
          </a:prstGeom>
          <a:solidFill>
            <a:srgbClr val="5C1A2B"/>
          </a:solidFill>
          <a:ln/>
        </p:spPr>
      </p:sp>
      <p:sp>
        <p:nvSpPr>
          <p:cNvPr id="19" name="Text 17"/>
          <p:cNvSpPr/>
          <p:nvPr/>
        </p:nvSpPr>
        <p:spPr>
          <a:xfrm>
            <a:off x="2526963" y="3689604"/>
            <a:ext cx="768096" cy="472059"/>
          </a:xfrm>
          <a:prstGeom prst="rect">
            <a:avLst/>
          </a:prstGeom>
          <a:noFill/>
          <a:ln/>
        </p:spPr>
        <p:txBody>
          <a:bodyPr wrap="square" lIns="0" tIns="0" rIns="0" bIns="0" rtlCol="0" anchor="ctr"/>
          <a:lstStyle/>
          <a:p>
            <a:pPr algn="l" indent="0" marL="0">
              <a:buNone/>
            </a:pPr>
            <a:r>
              <a:rPr lang="en-US" sz="1000" b="1" dirty="0">
                <a:solidFill>
                  <a:srgbClr val="2B2420"/>
                </a:solidFill>
                <a:latin typeface="Calibri" pitchFamily="34" charset="0"/>
                <a:ea typeface="Calibri" pitchFamily="34" charset="-122"/>
                <a:cs typeface="Calibri" pitchFamily="34" charset="-120"/>
              </a:rPr>
              <a:t>20,579</a:t>
            </a:r>
            <a:endParaRPr lang="en-US" sz="1000" dirty="0"/>
          </a:p>
        </p:txBody>
      </p:sp>
      <p:sp>
        <p:nvSpPr>
          <p:cNvPr id="20" name="Text 18"/>
          <p:cNvSpPr/>
          <p:nvPr/>
        </p:nvSpPr>
        <p:spPr>
          <a:xfrm>
            <a:off x="457200" y="4161663"/>
            <a:ext cx="1536192" cy="472059"/>
          </a:xfrm>
          <a:prstGeom prst="rect">
            <a:avLst/>
          </a:prstGeom>
          <a:noFill/>
          <a:ln/>
        </p:spPr>
        <p:txBody>
          <a:bodyPr wrap="square" lIns="0" tIns="0" rIns="0" bIns="0" rtlCol="0" anchor="ctr"/>
          <a:lstStyle/>
          <a:p>
            <a:pPr algn="r" indent="0" marL="0">
              <a:buNone/>
            </a:pPr>
            <a:r>
              <a:rPr lang="en-US" sz="1050" dirty="0">
                <a:solidFill>
                  <a:srgbClr val="6B655C"/>
                </a:solidFill>
                <a:latin typeface="Calibri" pitchFamily="34" charset="0"/>
                <a:ea typeface="Calibri" pitchFamily="34" charset="-122"/>
                <a:cs typeface="Calibri" pitchFamily="34" charset="-120"/>
              </a:rPr>
              <a:t>Sake</a:t>
            </a:r>
            <a:endParaRPr lang="en-US" sz="1050" dirty="0"/>
          </a:p>
        </p:txBody>
      </p:sp>
      <p:sp>
        <p:nvSpPr>
          <p:cNvPr id="21" name="Shape 19"/>
          <p:cNvSpPr/>
          <p:nvPr/>
        </p:nvSpPr>
        <p:spPr>
          <a:xfrm>
            <a:off x="2103120" y="4279678"/>
            <a:ext cx="198950" cy="236030"/>
          </a:xfrm>
          <a:prstGeom prst="roundRect">
            <a:avLst>
              <a:gd name="adj" fmla="val 9192"/>
            </a:avLst>
          </a:prstGeom>
          <a:solidFill>
            <a:srgbClr val="5C1A2B"/>
          </a:solidFill>
          <a:ln/>
        </p:spPr>
      </p:sp>
      <p:sp>
        <p:nvSpPr>
          <p:cNvPr id="22" name="Text 20"/>
          <p:cNvSpPr/>
          <p:nvPr/>
        </p:nvSpPr>
        <p:spPr>
          <a:xfrm>
            <a:off x="2356934" y="4161663"/>
            <a:ext cx="768096" cy="472059"/>
          </a:xfrm>
          <a:prstGeom prst="rect">
            <a:avLst/>
          </a:prstGeom>
          <a:noFill/>
          <a:ln/>
        </p:spPr>
        <p:txBody>
          <a:bodyPr wrap="square" lIns="0" tIns="0" rIns="0" bIns="0" rtlCol="0" anchor="ctr"/>
          <a:lstStyle/>
          <a:p>
            <a:pPr algn="l" indent="0" marL="0">
              <a:buNone/>
            </a:pPr>
            <a:r>
              <a:rPr lang="en-US" sz="1000" b="1" dirty="0">
                <a:solidFill>
                  <a:srgbClr val="2B2420"/>
                </a:solidFill>
                <a:latin typeface="Calibri" pitchFamily="34" charset="0"/>
                <a:ea typeface="Calibri" pitchFamily="34" charset="-122"/>
                <a:cs typeface="Calibri" pitchFamily="34" charset="-120"/>
              </a:rPr>
              <a:t>11,096</a:t>
            </a:r>
            <a:endParaRPr lang="en-US" sz="1000" dirty="0"/>
          </a:p>
        </p:txBody>
      </p:sp>
      <p:sp>
        <p:nvSpPr>
          <p:cNvPr id="23" name="Text 21"/>
          <p:cNvSpPr/>
          <p:nvPr/>
        </p:nvSpPr>
        <p:spPr>
          <a:xfrm>
            <a:off x="457200" y="4633722"/>
            <a:ext cx="1536192" cy="472059"/>
          </a:xfrm>
          <a:prstGeom prst="rect">
            <a:avLst/>
          </a:prstGeom>
          <a:noFill/>
          <a:ln/>
        </p:spPr>
        <p:txBody>
          <a:bodyPr wrap="square" lIns="0" tIns="0" rIns="0" bIns="0" rtlCol="0" anchor="ctr"/>
          <a:lstStyle/>
          <a:p>
            <a:pPr algn="r" indent="0" marL="0">
              <a:buNone/>
            </a:pPr>
            <a:r>
              <a:rPr lang="en-US" sz="1050" dirty="0">
                <a:solidFill>
                  <a:srgbClr val="6B655C"/>
                </a:solidFill>
                <a:latin typeface="Calibri" pitchFamily="34" charset="0"/>
                <a:ea typeface="Calibri" pitchFamily="34" charset="-122"/>
                <a:cs typeface="Calibri" pitchFamily="34" charset="-120"/>
              </a:rPr>
              <a:t>Liquor</a:t>
            </a:r>
            <a:endParaRPr lang="en-US" sz="1050" dirty="0"/>
          </a:p>
        </p:txBody>
      </p:sp>
      <p:sp>
        <p:nvSpPr>
          <p:cNvPr id="24" name="Shape 22"/>
          <p:cNvSpPr/>
          <p:nvPr/>
        </p:nvSpPr>
        <p:spPr>
          <a:xfrm>
            <a:off x="2103120" y="4751737"/>
            <a:ext cx="145304" cy="236030"/>
          </a:xfrm>
          <a:prstGeom prst="roundRect">
            <a:avLst>
              <a:gd name="adj" fmla="val 12586"/>
            </a:avLst>
          </a:prstGeom>
          <a:solidFill>
            <a:srgbClr val="5C1A2B"/>
          </a:solidFill>
          <a:ln/>
        </p:spPr>
      </p:sp>
      <p:sp>
        <p:nvSpPr>
          <p:cNvPr id="25" name="Text 23"/>
          <p:cNvSpPr/>
          <p:nvPr/>
        </p:nvSpPr>
        <p:spPr>
          <a:xfrm>
            <a:off x="2303288" y="4633722"/>
            <a:ext cx="768096" cy="472059"/>
          </a:xfrm>
          <a:prstGeom prst="rect">
            <a:avLst/>
          </a:prstGeom>
          <a:noFill/>
          <a:ln/>
        </p:spPr>
        <p:txBody>
          <a:bodyPr wrap="square" lIns="0" tIns="0" rIns="0" bIns="0" rtlCol="0" anchor="ctr"/>
          <a:lstStyle/>
          <a:p>
            <a:pPr algn="l" indent="0" marL="0">
              <a:buNone/>
            </a:pPr>
            <a:r>
              <a:rPr lang="en-US" sz="1000" b="1" dirty="0">
                <a:solidFill>
                  <a:srgbClr val="2B2420"/>
                </a:solidFill>
                <a:latin typeface="Calibri" pitchFamily="34" charset="0"/>
                <a:ea typeface="Calibri" pitchFamily="34" charset="-122"/>
                <a:cs typeface="Calibri" pitchFamily="34" charset="-120"/>
              </a:rPr>
              <a:t>8,104</a:t>
            </a:r>
            <a:endParaRPr lang="en-US" sz="1000" dirty="0"/>
          </a:p>
        </p:txBody>
      </p:sp>
      <p:sp>
        <p:nvSpPr>
          <p:cNvPr id="26" name="Text 24"/>
          <p:cNvSpPr/>
          <p:nvPr/>
        </p:nvSpPr>
        <p:spPr>
          <a:xfrm>
            <a:off x="457200" y="5105781"/>
            <a:ext cx="1536192" cy="472059"/>
          </a:xfrm>
          <a:prstGeom prst="rect">
            <a:avLst/>
          </a:prstGeom>
          <a:noFill/>
          <a:ln/>
        </p:spPr>
        <p:txBody>
          <a:bodyPr wrap="square" lIns="0" tIns="0" rIns="0" bIns="0" rtlCol="0" anchor="ctr"/>
          <a:lstStyle/>
          <a:p>
            <a:pPr algn="r" indent="0" marL="0">
              <a:buNone/>
            </a:pPr>
            <a:r>
              <a:rPr lang="en-US" sz="1050" dirty="0">
                <a:solidFill>
                  <a:srgbClr val="6B655C"/>
                </a:solidFill>
                <a:latin typeface="Calibri" pitchFamily="34" charset="0"/>
                <a:ea typeface="Calibri" pitchFamily="34" charset="-122"/>
                <a:cs typeface="Calibri" pitchFamily="34" charset="-120"/>
              </a:rPr>
              <a:t>Rose</a:t>
            </a:r>
            <a:endParaRPr lang="en-US" sz="1050" dirty="0"/>
          </a:p>
        </p:txBody>
      </p:sp>
      <p:sp>
        <p:nvSpPr>
          <p:cNvPr id="27" name="Shape 25"/>
          <p:cNvSpPr/>
          <p:nvPr/>
        </p:nvSpPr>
        <p:spPr>
          <a:xfrm>
            <a:off x="2103120" y="5223796"/>
            <a:ext cx="21874" cy="236030"/>
          </a:xfrm>
          <a:prstGeom prst="roundRect">
            <a:avLst>
              <a:gd name="adj" fmla="val 83606"/>
            </a:avLst>
          </a:prstGeom>
          <a:solidFill>
            <a:srgbClr val="5C1A2B"/>
          </a:solidFill>
          <a:ln/>
        </p:spPr>
      </p:sp>
      <p:sp>
        <p:nvSpPr>
          <p:cNvPr id="28" name="Text 26"/>
          <p:cNvSpPr/>
          <p:nvPr/>
        </p:nvSpPr>
        <p:spPr>
          <a:xfrm>
            <a:off x="2179858" y="5105781"/>
            <a:ext cx="768096" cy="472059"/>
          </a:xfrm>
          <a:prstGeom prst="rect">
            <a:avLst/>
          </a:prstGeom>
          <a:noFill/>
          <a:ln/>
        </p:spPr>
        <p:txBody>
          <a:bodyPr wrap="square" lIns="0" tIns="0" rIns="0" bIns="0" rtlCol="0" anchor="ctr"/>
          <a:lstStyle/>
          <a:p>
            <a:pPr algn="l" indent="0" marL="0">
              <a:buNone/>
            </a:pPr>
            <a:r>
              <a:rPr lang="en-US" sz="1000" b="1" dirty="0">
                <a:solidFill>
                  <a:srgbClr val="2B2420"/>
                </a:solidFill>
                <a:latin typeface="Calibri" pitchFamily="34" charset="0"/>
                <a:ea typeface="Calibri" pitchFamily="34" charset="-122"/>
                <a:cs typeface="Calibri" pitchFamily="34" charset="-120"/>
              </a:rPr>
              <a:t>1,220</a:t>
            </a:r>
            <a:endParaRPr lang="en-US" sz="1000" dirty="0"/>
          </a:p>
        </p:txBody>
      </p:sp>
      <p:sp>
        <p:nvSpPr>
          <p:cNvPr id="29" name="Shape 27"/>
          <p:cNvSpPr/>
          <p:nvPr/>
        </p:nvSpPr>
        <p:spPr>
          <a:xfrm>
            <a:off x="7178040" y="1417320"/>
            <a:ext cx="4526280" cy="1234440"/>
          </a:xfrm>
          <a:prstGeom prst="roundRect">
            <a:avLst>
              <a:gd name="adj" fmla="val 5926"/>
            </a:avLst>
          </a:prstGeom>
          <a:solidFill>
            <a:srgbClr val="FFFFFF"/>
          </a:solidFill>
          <a:ln w="12700">
            <a:solidFill>
              <a:srgbClr val="D8C9B6"/>
            </a:solidFill>
            <a:prstDash val="solid"/>
          </a:ln>
          <a:effectLst>
            <a:outerShdw sx="100000" sy="100000" kx="0" ky="0" algn="bl" rotWithShape="0" blurRad="76200" dist="25400" dir="5400000">
              <a:srgbClr val="000000">
                <a:alpha val="12000"/>
              </a:srgbClr>
            </a:outerShdw>
          </a:effectLst>
        </p:spPr>
      </p:sp>
      <p:sp>
        <p:nvSpPr>
          <p:cNvPr id="30" name="Text 28"/>
          <p:cNvSpPr/>
          <p:nvPr/>
        </p:nvSpPr>
        <p:spPr>
          <a:xfrm>
            <a:off x="7315200" y="1527048"/>
            <a:ext cx="4251960" cy="667512"/>
          </a:xfrm>
          <a:prstGeom prst="rect">
            <a:avLst/>
          </a:prstGeom>
          <a:noFill/>
          <a:ln/>
        </p:spPr>
        <p:txBody>
          <a:bodyPr wrap="square" lIns="0" tIns="0" rIns="0" bIns="0" rtlCol="0" anchor="b"/>
          <a:lstStyle/>
          <a:p>
            <a:pPr algn="l" indent="0" marL="0">
              <a:buNone/>
            </a:pPr>
            <a:r>
              <a:rPr lang="en-US" sz="2600" b="1" dirty="0">
                <a:solidFill>
                  <a:srgbClr val="5C1A2B"/>
                </a:solidFill>
                <a:latin typeface="Cambria" pitchFamily="34" charset="0"/>
                <a:ea typeface="Cambria" pitchFamily="34" charset="-122"/>
                <a:cs typeface="Cambria" pitchFamily="34" charset="-120"/>
              </a:rPr>
              <a:t>59%</a:t>
            </a:r>
            <a:endParaRPr lang="en-US" sz="2600" dirty="0"/>
          </a:p>
        </p:txBody>
      </p:sp>
      <p:sp>
        <p:nvSpPr>
          <p:cNvPr id="31" name="Text 29"/>
          <p:cNvSpPr/>
          <p:nvPr/>
        </p:nvSpPr>
        <p:spPr>
          <a:xfrm>
            <a:off x="7315200" y="2212848"/>
            <a:ext cx="4251960" cy="365760"/>
          </a:xfrm>
          <a:prstGeom prst="rect">
            <a:avLst/>
          </a:prstGeom>
          <a:noFill/>
          <a:ln/>
        </p:spPr>
        <p:txBody>
          <a:bodyPr wrap="square" lIns="0" tIns="0" rIns="0" bIns="0" rtlCol="0" anchor="t"/>
          <a:lstStyle/>
          <a:p>
            <a:pPr algn="l" indent="0" marL="0">
              <a:buNone/>
            </a:pPr>
            <a:r>
              <a:rPr lang="en-US" sz="1100" dirty="0">
                <a:solidFill>
                  <a:srgbClr val="6B655C"/>
                </a:solidFill>
                <a:latin typeface="Calibri" pitchFamily="34" charset="0"/>
                <a:ea typeface="Calibri" pitchFamily="34" charset="-122"/>
                <a:cs typeface="Calibri" pitchFamily="34" charset="-120"/>
              </a:rPr>
              <a:t>of all revenue is Red wine alone — S$198,895 across 1,995 bottles and glasses</a:t>
            </a:r>
            <a:endParaRPr lang="en-US" sz="1100" dirty="0"/>
          </a:p>
        </p:txBody>
      </p:sp>
      <p:sp>
        <p:nvSpPr>
          <p:cNvPr id="32" name="Shape 30"/>
          <p:cNvSpPr/>
          <p:nvPr/>
        </p:nvSpPr>
        <p:spPr>
          <a:xfrm>
            <a:off x="7178040" y="2788920"/>
            <a:ext cx="4526280" cy="1234440"/>
          </a:xfrm>
          <a:prstGeom prst="roundRect">
            <a:avLst>
              <a:gd name="adj" fmla="val 5926"/>
            </a:avLst>
          </a:prstGeom>
          <a:solidFill>
            <a:srgbClr val="FFFFFF"/>
          </a:solidFill>
          <a:ln w="12700">
            <a:solidFill>
              <a:srgbClr val="D8C9B6"/>
            </a:solidFill>
            <a:prstDash val="solid"/>
          </a:ln>
          <a:effectLst>
            <a:outerShdw sx="100000" sy="100000" kx="0" ky="0" algn="bl" rotWithShape="0" blurRad="76200" dist="25400" dir="5400000">
              <a:srgbClr val="000000">
                <a:alpha val="12000"/>
              </a:srgbClr>
            </a:outerShdw>
          </a:effectLst>
        </p:spPr>
      </p:sp>
      <p:sp>
        <p:nvSpPr>
          <p:cNvPr id="33" name="Text 31"/>
          <p:cNvSpPr/>
          <p:nvPr/>
        </p:nvSpPr>
        <p:spPr>
          <a:xfrm>
            <a:off x="7315200" y="2898648"/>
            <a:ext cx="4251960" cy="667512"/>
          </a:xfrm>
          <a:prstGeom prst="rect">
            <a:avLst/>
          </a:prstGeom>
          <a:noFill/>
          <a:ln/>
        </p:spPr>
        <p:txBody>
          <a:bodyPr wrap="square" lIns="0" tIns="0" rIns="0" bIns="0" rtlCol="0" anchor="b"/>
          <a:lstStyle/>
          <a:p>
            <a:pPr algn="l" indent="0" marL="0">
              <a:buNone/>
            </a:pPr>
            <a:r>
              <a:rPr lang="en-US" sz="2600" b="1" dirty="0">
                <a:solidFill>
                  <a:srgbClr val="5C1A2B"/>
                </a:solidFill>
                <a:latin typeface="Cambria" pitchFamily="34" charset="0"/>
                <a:ea typeface="Cambria" pitchFamily="34" charset="-122"/>
                <a:cs typeface="Cambria" pitchFamily="34" charset="-120"/>
              </a:rPr>
              <a:t>19%</a:t>
            </a:r>
            <a:endParaRPr lang="en-US" sz="2600" dirty="0"/>
          </a:p>
        </p:txBody>
      </p:sp>
      <p:sp>
        <p:nvSpPr>
          <p:cNvPr id="34" name="Text 32"/>
          <p:cNvSpPr/>
          <p:nvPr/>
        </p:nvSpPr>
        <p:spPr>
          <a:xfrm>
            <a:off x="7315200" y="3584448"/>
            <a:ext cx="4251960" cy="365760"/>
          </a:xfrm>
          <a:prstGeom prst="rect">
            <a:avLst/>
          </a:prstGeom>
          <a:noFill/>
          <a:ln/>
        </p:spPr>
        <p:txBody>
          <a:bodyPr wrap="square" lIns="0" tIns="0" rIns="0" bIns="0" rtlCol="0" anchor="t"/>
          <a:lstStyle/>
          <a:p>
            <a:pPr algn="l" indent="0" marL="0">
              <a:buNone/>
            </a:pPr>
            <a:r>
              <a:rPr lang="en-US" sz="1100" dirty="0">
                <a:solidFill>
                  <a:srgbClr val="6B655C"/>
                </a:solidFill>
                <a:latin typeface="Calibri" pitchFamily="34" charset="0"/>
                <a:ea typeface="Calibri" pitchFamily="34" charset="-122"/>
                <a:cs typeface="Calibri" pitchFamily="34" charset="-120"/>
              </a:rPr>
              <a:t>of revenue from just the top 10 SKUs — 3% of the 310-item catalog</a:t>
            </a:r>
            <a:endParaRPr lang="en-US" sz="1100" dirty="0"/>
          </a:p>
        </p:txBody>
      </p:sp>
      <p:sp>
        <p:nvSpPr>
          <p:cNvPr id="35" name="Shape 33"/>
          <p:cNvSpPr/>
          <p:nvPr/>
        </p:nvSpPr>
        <p:spPr>
          <a:xfrm>
            <a:off x="7178040" y="4160520"/>
            <a:ext cx="4526280" cy="1234440"/>
          </a:xfrm>
          <a:prstGeom prst="roundRect">
            <a:avLst>
              <a:gd name="adj" fmla="val 5926"/>
            </a:avLst>
          </a:prstGeom>
          <a:solidFill>
            <a:srgbClr val="FFFFFF"/>
          </a:solidFill>
          <a:ln w="12700">
            <a:solidFill>
              <a:srgbClr val="D8C9B6"/>
            </a:solidFill>
            <a:prstDash val="solid"/>
          </a:ln>
          <a:effectLst>
            <a:outerShdw sx="100000" sy="100000" kx="0" ky="0" algn="bl" rotWithShape="0" blurRad="76200" dist="25400" dir="5400000">
              <a:srgbClr val="000000">
                <a:alpha val="12000"/>
              </a:srgbClr>
            </a:outerShdw>
          </a:effectLst>
        </p:spPr>
      </p:sp>
      <p:sp>
        <p:nvSpPr>
          <p:cNvPr id="36" name="Text 34"/>
          <p:cNvSpPr/>
          <p:nvPr/>
        </p:nvSpPr>
        <p:spPr>
          <a:xfrm>
            <a:off x="7315200" y="4270248"/>
            <a:ext cx="4251960" cy="667512"/>
          </a:xfrm>
          <a:prstGeom prst="rect">
            <a:avLst/>
          </a:prstGeom>
          <a:noFill/>
          <a:ln/>
        </p:spPr>
        <p:txBody>
          <a:bodyPr wrap="square" lIns="0" tIns="0" rIns="0" bIns="0" rtlCol="0" anchor="b"/>
          <a:lstStyle/>
          <a:p>
            <a:pPr algn="l" indent="0" marL="0">
              <a:buNone/>
            </a:pPr>
            <a:r>
              <a:rPr lang="en-US" sz="2600" b="1" dirty="0">
                <a:solidFill>
                  <a:srgbClr val="5C1A2B"/>
                </a:solidFill>
                <a:latin typeface="Cambria" pitchFamily="34" charset="0"/>
                <a:ea typeface="Cambria" pitchFamily="34" charset="-122"/>
                <a:cs typeface="Cambria" pitchFamily="34" charset="-120"/>
              </a:rPr>
              <a:t>S$11,376</a:t>
            </a:r>
            <a:endParaRPr lang="en-US" sz="2600" dirty="0"/>
          </a:p>
        </p:txBody>
      </p:sp>
      <p:sp>
        <p:nvSpPr>
          <p:cNvPr id="37" name="Text 35"/>
          <p:cNvSpPr/>
          <p:nvPr/>
        </p:nvSpPr>
        <p:spPr>
          <a:xfrm>
            <a:off x="7315200" y="4956048"/>
            <a:ext cx="4251960" cy="365760"/>
          </a:xfrm>
          <a:prstGeom prst="rect">
            <a:avLst/>
          </a:prstGeom>
          <a:noFill/>
          <a:ln/>
        </p:spPr>
        <p:txBody>
          <a:bodyPr wrap="square" lIns="0" tIns="0" rIns="0" bIns="0" rtlCol="0" anchor="t"/>
          <a:lstStyle/>
          <a:p>
            <a:pPr algn="l" indent="0" marL="0">
              <a:buNone/>
            </a:pPr>
            <a:r>
              <a:rPr lang="en-US" sz="1100" dirty="0">
                <a:solidFill>
                  <a:srgbClr val="6B655C"/>
                </a:solidFill>
                <a:latin typeface="Calibri" pitchFamily="34" charset="0"/>
                <a:ea typeface="Calibri" pitchFamily="34" charset="-122"/>
                <a:cs typeface="Calibri" pitchFamily="34" charset="-120"/>
              </a:rPr>
              <a:t>Top seller: Collefrisio In&amp;Out Montepulciano d’Abruzzo DOC 2019</a:t>
            </a:r>
            <a:endParaRPr lang="en-US" sz="1100" dirty="0"/>
          </a:p>
        </p:txBody>
      </p:sp>
      <p:sp>
        <p:nvSpPr>
          <p:cNvPr id="38" name="Shape 36"/>
          <p:cNvSpPr/>
          <p:nvPr/>
        </p:nvSpPr>
        <p:spPr>
          <a:xfrm>
            <a:off x="457200" y="5715000"/>
            <a:ext cx="10332720" cy="777240"/>
          </a:xfrm>
          <a:prstGeom prst="roundRect">
            <a:avLst>
              <a:gd name="adj" fmla="val 9412"/>
            </a:avLst>
          </a:prstGeom>
          <a:solidFill>
            <a:srgbClr val="E5DCD3"/>
          </a:solidFill>
          <a:ln/>
        </p:spPr>
      </p:sp>
      <p:sp>
        <p:nvSpPr>
          <p:cNvPr id="39" name="Text 37"/>
          <p:cNvSpPr/>
          <p:nvPr/>
        </p:nvSpPr>
        <p:spPr>
          <a:xfrm>
            <a:off x="685800" y="5879592"/>
            <a:ext cx="9875520" cy="448056"/>
          </a:xfrm>
          <a:prstGeom prst="rect">
            <a:avLst/>
          </a:prstGeom>
          <a:noFill/>
          <a:ln/>
        </p:spPr>
        <p:txBody>
          <a:bodyPr wrap="square" lIns="0" tIns="0" rIns="0" bIns="0" rtlCol="0" anchor="t"/>
          <a:lstStyle/>
          <a:p>
            <a:pPr indent="0" marL="0">
              <a:lnSpc>
                <a:spcPct val="115000"/>
              </a:lnSpc>
              <a:buNone/>
            </a:pPr>
            <a:r>
              <a:rPr lang="en-US" sz="1100" b="1" spc="100" kern="0" dirty="0">
                <a:solidFill>
                  <a:srgbClr val="5C1A2B"/>
                </a:solidFill>
                <a:latin typeface="Calibri" pitchFamily="34" charset="0"/>
                <a:ea typeface="Calibri" pitchFamily="34" charset="-122"/>
                <a:cs typeface="Calibri" pitchFamily="34" charset="-120"/>
              </a:rPr>
              <a:t>READ  </a:t>
            </a:r>
            <a:pPr indent="0" marL="0">
              <a:lnSpc>
                <a:spcPct val="115000"/>
              </a:lnSpc>
              <a:buNone/>
            </a:pPr>
            <a:r>
              <a:rPr lang="en-US" sz="1300" dirty="0">
                <a:solidFill>
                  <a:srgbClr val="2B2420"/>
                </a:solidFill>
                <a:latin typeface="Calibri" pitchFamily="34" charset="0"/>
                <a:ea typeface="Calibri" pitchFamily="34" charset="-122"/>
                <a:cs typeface="Calibri" pitchFamily="34" charset="-120"/>
              </a:rPr>
              <a:t>This is a Red-wine bar with a food and white-wine halo, not a broad multi-category retailer — the top sellers are almost entirely Italian reds from Collefrisio and Ca’Botta.</a:t>
            </a:r>
            <a:endParaRPr lang="en-US" sz="1100" dirty="0"/>
          </a:p>
        </p:txBody>
      </p:sp>
      <p:sp>
        <p:nvSpPr>
          <p:cNvPr id="40" name="Text 38"/>
          <p:cNvSpPr/>
          <p:nvPr/>
        </p:nvSpPr>
        <p:spPr>
          <a:xfrm>
            <a:off x="11277295" y="6355080"/>
            <a:ext cx="548640" cy="320040"/>
          </a:xfrm>
          <a:prstGeom prst="rect">
            <a:avLst/>
          </a:prstGeom>
          <a:noFill/>
          <a:ln/>
        </p:spPr>
        <p:txBody>
          <a:bodyPr wrap="square" rtlCol="0" anchor="ctr"/>
          <a:lstStyle/>
          <a:p>
            <a:pPr algn="r" indent="0" marL="0">
              <a:buNone/>
            </a:pPr>
            <a:r>
              <a:rPr lang="en-US" sz="1000" dirty="0">
                <a:solidFill>
                  <a:srgbClr val="6B655C"/>
                </a:solidFill>
                <a:latin typeface="Calibri" pitchFamily="34" charset="0"/>
                <a:ea typeface="Calibri" pitchFamily="34" charset="-122"/>
                <a:cs typeface="Calibri" pitchFamily="34" charset="-120"/>
              </a:rPr>
              <a:t>06</a:t>
            </a:r>
            <a:endParaRPr lang="en-US" sz="1000" dirty="0"/>
          </a:p>
        </p:txBody>
      </p:sp>
      <p:sp>
        <p:nvSpPr>
          <p:cNvPr id="41" name="Text 39"/>
          <p:cNvSpPr/>
          <p:nvPr/>
        </p:nvSpPr>
        <p:spPr>
          <a:xfrm>
            <a:off x="457200" y="6355080"/>
            <a:ext cx="2743200" cy="320040"/>
          </a:xfrm>
          <a:prstGeom prst="rect">
            <a:avLst/>
          </a:prstGeom>
          <a:noFill/>
          <a:ln/>
        </p:spPr>
        <p:txBody>
          <a:bodyPr wrap="square" rtlCol="0" anchor="ctr"/>
          <a:lstStyle/>
          <a:p>
            <a:pPr indent="0" marL="0">
              <a:buNone/>
            </a:pPr>
            <a:r>
              <a:rPr lang="en-US" sz="1000" spc="200" kern="0" dirty="0">
                <a:solidFill>
                  <a:srgbClr val="6B655C"/>
                </a:solidFill>
                <a:latin typeface="Calibri" pitchFamily="34" charset="0"/>
                <a:ea typeface="Calibri" pitchFamily="34" charset="-122"/>
                <a:cs typeface="Calibri" pitchFamily="34" charset="-120"/>
              </a:rPr>
              <a:t>CELLAR V</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DFCFA"/>
        </a:solidFill>
      </p:bgPr>
    </p:bg>
    <p:spTree>
      <p:nvGrpSpPr>
        <p:cNvPr id="1" name=""/>
        <p:cNvGrpSpPr/>
        <p:nvPr/>
      </p:nvGrpSpPr>
      <p:grpSpPr>
        <a:xfrm>
          <a:off x="0" y="0"/>
          <a:ext cx="0" cy="0"/>
          <a:chOff x="0" y="0"/>
          <a:chExt cx="0" cy="0"/>
        </a:xfrm>
      </p:grpSpPr>
      <p:sp>
        <p:nvSpPr>
          <p:cNvPr id="2" name="Text 0"/>
          <p:cNvSpPr/>
          <p:nvPr/>
        </p:nvSpPr>
        <p:spPr>
          <a:xfrm>
            <a:off x="457200" y="411480"/>
            <a:ext cx="7315200" cy="320040"/>
          </a:xfrm>
          <a:prstGeom prst="rect">
            <a:avLst/>
          </a:prstGeom>
          <a:noFill/>
          <a:ln/>
        </p:spPr>
        <p:txBody>
          <a:bodyPr wrap="square" lIns="0" tIns="0" rIns="0" bIns="0" rtlCol="0" anchor="ctr"/>
          <a:lstStyle/>
          <a:p>
            <a:pPr indent="0" marL="0">
              <a:buNone/>
            </a:pPr>
            <a:r>
              <a:rPr lang="en-US" sz="1200" b="1" spc="200" kern="0" dirty="0">
                <a:solidFill>
                  <a:srgbClr val="C9A227"/>
                </a:solidFill>
                <a:latin typeface="Calibri" pitchFamily="34" charset="0"/>
                <a:ea typeface="Calibri" pitchFamily="34" charset="-122"/>
                <a:cs typeface="Calibri" pitchFamily="34" charset="-120"/>
              </a:rPr>
              <a:t>STORY 03 · MARGIN &amp; MEMBERSHIP</a:t>
            </a:r>
            <a:endParaRPr lang="en-US" sz="1200" dirty="0"/>
          </a:p>
        </p:txBody>
      </p:sp>
      <p:sp>
        <p:nvSpPr>
          <p:cNvPr id="3" name="Text 1"/>
          <p:cNvSpPr/>
          <p:nvPr/>
        </p:nvSpPr>
        <p:spPr>
          <a:xfrm>
            <a:off x="457200" y="731520"/>
            <a:ext cx="10332720" cy="548640"/>
          </a:xfrm>
          <a:prstGeom prst="rect">
            <a:avLst/>
          </a:prstGeom>
          <a:noFill/>
          <a:ln/>
        </p:spPr>
        <p:txBody>
          <a:bodyPr wrap="square" lIns="0" tIns="0" rIns="0" bIns="0" rtlCol="0" anchor="ctr"/>
          <a:lstStyle/>
          <a:p>
            <a:pPr indent="0" marL="0">
              <a:lnSpc>
                <a:spcPct val="105000"/>
              </a:lnSpc>
              <a:buNone/>
            </a:pPr>
            <a:r>
              <a:rPr lang="en-US" sz="2500" b="1" dirty="0">
                <a:solidFill>
                  <a:srgbClr val="2B2420"/>
                </a:solidFill>
                <a:latin typeface="Cambria" pitchFamily="34" charset="0"/>
                <a:ea typeface="Cambria" pitchFamily="34" charset="-122"/>
                <a:cs typeface="Cambria" pitchFamily="34" charset="-120"/>
              </a:rPr>
              <a:t>What’s it costing us — and who’s valuable?</a:t>
            </a:r>
            <a:endParaRPr lang="en-US" sz="2500" dirty="0"/>
          </a:p>
        </p:txBody>
      </p:sp>
      <p:sp>
        <p:nvSpPr>
          <p:cNvPr id="4" name="Shape 2"/>
          <p:cNvSpPr/>
          <p:nvPr/>
        </p:nvSpPr>
        <p:spPr>
          <a:xfrm>
            <a:off x="457200" y="1417320"/>
            <a:ext cx="2468880" cy="960120"/>
          </a:xfrm>
          <a:prstGeom prst="roundRect">
            <a:avLst>
              <a:gd name="adj" fmla="val 7619"/>
            </a:avLst>
          </a:prstGeom>
          <a:solidFill>
            <a:srgbClr val="FFFFFF"/>
          </a:solidFill>
          <a:ln w="12700">
            <a:solidFill>
              <a:srgbClr val="D8C9B6"/>
            </a:solidFill>
            <a:prstDash val="solid"/>
          </a:ln>
          <a:effectLst>
            <a:outerShdw sx="100000" sy="100000" kx="0" ky="0" algn="bl" rotWithShape="0" blurRad="76200" dist="25400" dir="5400000">
              <a:srgbClr val="000000">
                <a:alpha val="12000"/>
              </a:srgbClr>
            </a:outerShdw>
          </a:effectLst>
        </p:spPr>
      </p:sp>
      <p:sp>
        <p:nvSpPr>
          <p:cNvPr id="5" name="Text 3"/>
          <p:cNvSpPr/>
          <p:nvPr/>
        </p:nvSpPr>
        <p:spPr>
          <a:xfrm>
            <a:off x="594360" y="1527048"/>
            <a:ext cx="2194560" cy="393192"/>
          </a:xfrm>
          <a:prstGeom prst="rect">
            <a:avLst/>
          </a:prstGeom>
          <a:noFill/>
          <a:ln/>
        </p:spPr>
        <p:txBody>
          <a:bodyPr wrap="square" lIns="0" tIns="0" rIns="0" bIns="0" rtlCol="0" anchor="b"/>
          <a:lstStyle/>
          <a:p>
            <a:pPr algn="l" indent="0" marL="0">
              <a:buNone/>
            </a:pPr>
            <a:r>
              <a:rPr lang="en-US" sz="2200" b="1" dirty="0">
                <a:solidFill>
                  <a:srgbClr val="5C1A2B"/>
                </a:solidFill>
                <a:latin typeface="Cambria" pitchFamily="34" charset="0"/>
                <a:ea typeface="Cambria" pitchFamily="34" charset="-122"/>
                <a:cs typeface="Cambria" pitchFamily="34" charset="-120"/>
              </a:rPr>
              <a:t>S$66,613</a:t>
            </a:r>
            <a:endParaRPr lang="en-US" sz="2200" dirty="0"/>
          </a:p>
        </p:txBody>
      </p:sp>
      <p:sp>
        <p:nvSpPr>
          <p:cNvPr id="6" name="Text 4"/>
          <p:cNvSpPr/>
          <p:nvPr/>
        </p:nvSpPr>
        <p:spPr>
          <a:xfrm>
            <a:off x="594360" y="1938528"/>
            <a:ext cx="2194560" cy="365760"/>
          </a:xfrm>
          <a:prstGeom prst="rect">
            <a:avLst/>
          </a:prstGeom>
          <a:noFill/>
          <a:ln/>
        </p:spPr>
        <p:txBody>
          <a:bodyPr wrap="square" lIns="0" tIns="0" rIns="0" bIns="0" rtlCol="0" anchor="t"/>
          <a:lstStyle/>
          <a:p>
            <a:pPr algn="l" indent="0" marL="0">
              <a:buNone/>
            </a:pPr>
            <a:r>
              <a:rPr lang="en-US" sz="1100" dirty="0">
                <a:solidFill>
                  <a:srgbClr val="6B655C"/>
                </a:solidFill>
                <a:latin typeface="Calibri" pitchFamily="34" charset="0"/>
                <a:ea typeface="Calibri" pitchFamily="34" charset="-122"/>
                <a:cs typeface="Calibri" pitchFamily="34" charset="-120"/>
              </a:rPr>
              <a:t>given away in discounts — 19.8% of gross sales</a:t>
            </a:r>
            <a:endParaRPr lang="en-US" sz="1100" dirty="0"/>
          </a:p>
        </p:txBody>
      </p:sp>
      <p:sp>
        <p:nvSpPr>
          <p:cNvPr id="7" name="Shape 5"/>
          <p:cNvSpPr/>
          <p:nvPr/>
        </p:nvSpPr>
        <p:spPr>
          <a:xfrm>
            <a:off x="3063240" y="1417320"/>
            <a:ext cx="2468880" cy="960120"/>
          </a:xfrm>
          <a:prstGeom prst="roundRect">
            <a:avLst>
              <a:gd name="adj" fmla="val 7619"/>
            </a:avLst>
          </a:prstGeom>
          <a:solidFill>
            <a:srgbClr val="FFFFFF"/>
          </a:solidFill>
          <a:ln w="12700">
            <a:solidFill>
              <a:srgbClr val="D8C9B6"/>
            </a:solidFill>
            <a:prstDash val="solid"/>
          </a:ln>
          <a:effectLst>
            <a:outerShdw sx="100000" sy="100000" kx="0" ky="0" algn="bl" rotWithShape="0" blurRad="76200" dist="25400" dir="5400000">
              <a:srgbClr val="000000">
                <a:alpha val="12000"/>
              </a:srgbClr>
            </a:outerShdw>
          </a:effectLst>
        </p:spPr>
      </p:sp>
      <p:sp>
        <p:nvSpPr>
          <p:cNvPr id="8" name="Text 6"/>
          <p:cNvSpPr/>
          <p:nvPr/>
        </p:nvSpPr>
        <p:spPr>
          <a:xfrm>
            <a:off x="3200400" y="1527048"/>
            <a:ext cx="2194560" cy="393192"/>
          </a:xfrm>
          <a:prstGeom prst="rect">
            <a:avLst/>
          </a:prstGeom>
          <a:noFill/>
          <a:ln/>
        </p:spPr>
        <p:txBody>
          <a:bodyPr wrap="square" lIns="0" tIns="0" rIns="0" bIns="0" rtlCol="0" anchor="b"/>
          <a:lstStyle/>
          <a:p>
            <a:pPr algn="l" indent="0" marL="0">
              <a:buNone/>
            </a:pPr>
            <a:r>
              <a:rPr lang="en-US" sz="2200" b="1" dirty="0">
                <a:solidFill>
                  <a:srgbClr val="5C1A2B"/>
                </a:solidFill>
                <a:latin typeface="Cambria" pitchFamily="34" charset="0"/>
                <a:ea typeface="Cambria" pitchFamily="34" charset="-122"/>
                <a:cs typeface="Cambria" pitchFamily="34" charset="-120"/>
              </a:rPr>
              <a:t>65%</a:t>
            </a:r>
            <a:endParaRPr lang="en-US" sz="2200" dirty="0"/>
          </a:p>
        </p:txBody>
      </p:sp>
      <p:sp>
        <p:nvSpPr>
          <p:cNvPr id="9" name="Text 7"/>
          <p:cNvSpPr/>
          <p:nvPr/>
        </p:nvSpPr>
        <p:spPr>
          <a:xfrm>
            <a:off x="3200400" y="1938528"/>
            <a:ext cx="2194560" cy="365760"/>
          </a:xfrm>
          <a:prstGeom prst="rect">
            <a:avLst/>
          </a:prstGeom>
          <a:noFill/>
          <a:ln/>
        </p:spPr>
        <p:txBody>
          <a:bodyPr wrap="square" lIns="0" tIns="0" rIns="0" bIns="0" rtlCol="0" anchor="t"/>
          <a:lstStyle/>
          <a:p>
            <a:pPr algn="l" indent="0" marL="0">
              <a:buNone/>
            </a:pPr>
            <a:r>
              <a:rPr lang="en-US" sz="1100" dirty="0">
                <a:solidFill>
                  <a:srgbClr val="6B655C"/>
                </a:solidFill>
                <a:latin typeface="Calibri" pitchFamily="34" charset="0"/>
                <a:ea typeface="Calibri" pitchFamily="34" charset="-122"/>
                <a:cs typeface="Calibri" pitchFamily="34" charset="-120"/>
              </a:rPr>
              <a:t>gross margin on net sales</a:t>
            </a:r>
            <a:endParaRPr lang="en-US" sz="1100" dirty="0"/>
          </a:p>
        </p:txBody>
      </p:sp>
      <p:sp>
        <p:nvSpPr>
          <p:cNvPr id="10" name="Shape 8"/>
          <p:cNvSpPr/>
          <p:nvPr/>
        </p:nvSpPr>
        <p:spPr>
          <a:xfrm>
            <a:off x="5669280" y="1417320"/>
            <a:ext cx="2468880" cy="960120"/>
          </a:xfrm>
          <a:prstGeom prst="roundRect">
            <a:avLst>
              <a:gd name="adj" fmla="val 7619"/>
            </a:avLst>
          </a:prstGeom>
          <a:solidFill>
            <a:srgbClr val="FFFFFF"/>
          </a:solidFill>
          <a:ln w="12700">
            <a:solidFill>
              <a:srgbClr val="D8C9B6"/>
            </a:solidFill>
            <a:prstDash val="solid"/>
          </a:ln>
          <a:effectLst>
            <a:outerShdw sx="100000" sy="100000" kx="0" ky="0" algn="bl" rotWithShape="0" blurRad="76200" dist="25400" dir="5400000">
              <a:srgbClr val="000000">
                <a:alpha val="12000"/>
              </a:srgbClr>
            </a:outerShdw>
          </a:effectLst>
        </p:spPr>
      </p:sp>
      <p:sp>
        <p:nvSpPr>
          <p:cNvPr id="11" name="Text 9"/>
          <p:cNvSpPr/>
          <p:nvPr/>
        </p:nvSpPr>
        <p:spPr>
          <a:xfrm>
            <a:off x="5806440" y="1527048"/>
            <a:ext cx="2194560" cy="393192"/>
          </a:xfrm>
          <a:prstGeom prst="rect">
            <a:avLst/>
          </a:prstGeom>
          <a:noFill/>
          <a:ln/>
        </p:spPr>
        <p:txBody>
          <a:bodyPr wrap="square" lIns="0" tIns="0" rIns="0" bIns="0" rtlCol="0" anchor="b"/>
          <a:lstStyle/>
          <a:p>
            <a:pPr algn="l" indent="0" marL="0">
              <a:buNone/>
            </a:pPr>
            <a:r>
              <a:rPr lang="en-US" sz="2200" b="1" dirty="0">
                <a:solidFill>
                  <a:srgbClr val="5C1A2B"/>
                </a:solidFill>
                <a:latin typeface="Cambria" pitchFamily="34" charset="0"/>
                <a:ea typeface="Cambria" pitchFamily="34" charset="-122"/>
                <a:cs typeface="Cambria" pitchFamily="34" charset="-120"/>
              </a:rPr>
              <a:t>2.5x</a:t>
            </a:r>
            <a:endParaRPr lang="en-US" sz="2200" dirty="0"/>
          </a:p>
        </p:txBody>
      </p:sp>
      <p:sp>
        <p:nvSpPr>
          <p:cNvPr id="12" name="Text 10"/>
          <p:cNvSpPr/>
          <p:nvPr/>
        </p:nvSpPr>
        <p:spPr>
          <a:xfrm>
            <a:off x="5806440" y="1938528"/>
            <a:ext cx="2194560" cy="365760"/>
          </a:xfrm>
          <a:prstGeom prst="rect">
            <a:avLst/>
          </a:prstGeom>
          <a:noFill/>
          <a:ln/>
        </p:spPr>
        <p:txBody>
          <a:bodyPr wrap="square" lIns="0" tIns="0" rIns="0" bIns="0" rtlCol="0" anchor="t"/>
          <a:lstStyle/>
          <a:p>
            <a:pPr algn="l" indent="0" marL="0">
              <a:buNone/>
            </a:pPr>
            <a:r>
              <a:rPr lang="en-US" sz="1100" dirty="0">
                <a:solidFill>
                  <a:srgbClr val="6B655C"/>
                </a:solidFill>
                <a:latin typeface="Calibri" pitchFamily="34" charset="0"/>
                <a:ea typeface="Calibri" pitchFamily="34" charset="-122"/>
                <a:cs typeface="Calibri" pitchFamily="34" charset="-120"/>
              </a:rPr>
              <a:t>higher average sale from members vs. non-members</a:t>
            </a:r>
            <a:endParaRPr lang="en-US" sz="1100" dirty="0"/>
          </a:p>
        </p:txBody>
      </p:sp>
      <p:sp>
        <p:nvSpPr>
          <p:cNvPr id="13" name="Shape 11"/>
          <p:cNvSpPr/>
          <p:nvPr/>
        </p:nvSpPr>
        <p:spPr>
          <a:xfrm>
            <a:off x="8275320" y="1417320"/>
            <a:ext cx="2468880" cy="960120"/>
          </a:xfrm>
          <a:prstGeom prst="roundRect">
            <a:avLst>
              <a:gd name="adj" fmla="val 7619"/>
            </a:avLst>
          </a:prstGeom>
          <a:solidFill>
            <a:srgbClr val="FFFFFF"/>
          </a:solidFill>
          <a:ln w="12700">
            <a:solidFill>
              <a:srgbClr val="D8C9B6"/>
            </a:solidFill>
            <a:prstDash val="solid"/>
          </a:ln>
          <a:effectLst>
            <a:outerShdw sx="100000" sy="100000" kx="0" ky="0" algn="bl" rotWithShape="0" blurRad="76200" dist="25400" dir="5400000">
              <a:srgbClr val="000000">
                <a:alpha val="12000"/>
              </a:srgbClr>
            </a:outerShdw>
          </a:effectLst>
        </p:spPr>
      </p:sp>
      <p:sp>
        <p:nvSpPr>
          <p:cNvPr id="14" name="Text 12"/>
          <p:cNvSpPr/>
          <p:nvPr/>
        </p:nvSpPr>
        <p:spPr>
          <a:xfrm>
            <a:off x="8412480" y="1527048"/>
            <a:ext cx="2194560" cy="393192"/>
          </a:xfrm>
          <a:prstGeom prst="rect">
            <a:avLst/>
          </a:prstGeom>
          <a:noFill/>
          <a:ln/>
        </p:spPr>
        <p:txBody>
          <a:bodyPr wrap="square" lIns="0" tIns="0" rIns="0" bIns="0" rtlCol="0" anchor="b"/>
          <a:lstStyle/>
          <a:p>
            <a:pPr algn="l" indent="0" marL="0">
              <a:buNone/>
            </a:pPr>
            <a:r>
              <a:rPr lang="en-US" sz="2200" b="1" dirty="0">
                <a:solidFill>
                  <a:srgbClr val="5C1A2B"/>
                </a:solidFill>
                <a:latin typeface="Cambria" pitchFamily="34" charset="0"/>
                <a:ea typeface="Cambria" pitchFamily="34" charset="-122"/>
                <a:cs typeface="Cambria" pitchFamily="34" charset="-120"/>
              </a:rPr>
              <a:t>41</a:t>
            </a:r>
            <a:endParaRPr lang="en-US" sz="2200" dirty="0"/>
          </a:p>
        </p:txBody>
      </p:sp>
      <p:sp>
        <p:nvSpPr>
          <p:cNvPr id="15" name="Text 13"/>
          <p:cNvSpPr/>
          <p:nvPr/>
        </p:nvSpPr>
        <p:spPr>
          <a:xfrm>
            <a:off x="8412480" y="1938528"/>
            <a:ext cx="2194560" cy="365760"/>
          </a:xfrm>
          <a:prstGeom prst="rect">
            <a:avLst/>
          </a:prstGeom>
          <a:noFill/>
          <a:ln/>
        </p:spPr>
        <p:txBody>
          <a:bodyPr wrap="square" lIns="0" tIns="0" rIns="0" bIns="0" rtlCol="0" anchor="t"/>
          <a:lstStyle/>
          <a:p>
            <a:pPr algn="l" indent="0" marL="0">
              <a:buNone/>
            </a:pPr>
            <a:r>
              <a:rPr lang="en-US" sz="1100" dirty="0">
                <a:solidFill>
                  <a:srgbClr val="6B655C"/>
                </a:solidFill>
                <a:latin typeface="Calibri" pitchFamily="34" charset="0"/>
                <a:ea typeface="Calibri" pitchFamily="34" charset="-122"/>
                <a:cs typeface="Calibri" pitchFamily="34" charset="-120"/>
              </a:rPr>
              <a:t>new members in 19 months — about 2 a month</a:t>
            </a:r>
            <a:endParaRPr lang="en-US" sz="1100" dirty="0"/>
          </a:p>
        </p:txBody>
      </p:sp>
      <p:sp>
        <p:nvSpPr>
          <p:cNvPr id="16" name="Text 14"/>
          <p:cNvSpPr/>
          <p:nvPr/>
        </p:nvSpPr>
        <p:spPr>
          <a:xfrm>
            <a:off x="457200" y="2606040"/>
            <a:ext cx="6035040" cy="292608"/>
          </a:xfrm>
          <a:prstGeom prst="rect">
            <a:avLst/>
          </a:prstGeom>
          <a:noFill/>
          <a:ln/>
        </p:spPr>
        <p:txBody>
          <a:bodyPr wrap="square" lIns="0" tIns="0" rIns="0" bIns="0" rtlCol="0" anchor="ctr"/>
          <a:lstStyle/>
          <a:p>
            <a:pPr indent="0" marL="0">
              <a:buNone/>
            </a:pPr>
            <a:r>
              <a:rPr lang="en-US" sz="1300" dirty="0">
                <a:solidFill>
                  <a:srgbClr val="2B2420"/>
                </a:solidFill>
                <a:latin typeface="Cambria" pitchFamily="34" charset="0"/>
                <a:ea typeface="Cambria" pitchFamily="34" charset="-122"/>
                <a:cs typeface="Cambria" pitchFamily="34" charset="-120"/>
              </a:rPr>
              <a:t>Discount rate by category (Rose excluded — tiny base)</a:t>
            </a:r>
            <a:endParaRPr lang="en-US" sz="1300" dirty="0"/>
          </a:p>
        </p:txBody>
      </p:sp>
      <p:sp>
        <p:nvSpPr>
          <p:cNvPr id="17" name="Text 15"/>
          <p:cNvSpPr/>
          <p:nvPr/>
        </p:nvSpPr>
        <p:spPr>
          <a:xfrm>
            <a:off x="457200" y="2990088"/>
            <a:ext cx="1536192" cy="382742"/>
          </a:xfrm>
          <a:prstGeom prst="rect">
            <a:avLst/>
          </a:prstGeom>
          <a:noFill/>
          <a:ln/>
        </p:spPr>
        <p:txBody>
          <a:bodyPr wrap="square" lIns="0" tIns="0" rIns="0" bIns="0" rtlCol="0" anchor="ctr"/>
          <a:lstStyle/>
          <a:p>
            <a:pPr algn="r" indent="0" marL="0">
              <a:buNone/>
            </a:pPr>
            <a:r>
              <a:rPr lang="en-US" sz="1050" dirty="0">
                <a:solidFill>
                  <a:srgbClr val="6B655C"/>
                </a:solidFill>
                <a:latin typeface="Calibri" pitchFamily="34" charset="0"/>
                <a:ea typeface="Calibri" pitchFamily="34" charset="-122"/>
                <a:cs typeface="Calibri" pitchFamily="34" charset="-120"/>
              </a:rPr>
              <a:t>Food</a:t>
            </a:r>
            <a:endParaRPr lang="en-US" sz="1050" dirty="0"/>
          </a:p>
        </p:txBody>
      </p:sp>
      <p:sp>
        <p:nvSpPr>
          <p:cNvPr id="18" name="Shape 16"/>
          <p:cNvSpPr/>
          <p:nvPr/>
        </p:nvSpPr>
        <p:spPr>
          <a:xfrm>
            <a:off x="2103120" y="3085773"/>
            <a:ext cx="185255" cy="191371"/>
          </a:xfrm>
          <a:prstGeom prst="roundRect">
            <a:avLst>
              <a:gd name="adj" fmla="val 9872"/>
            </a:avLst>
          </a:prstGeom>
          <a:solidFill>
            <a:srgbClr val="C9A227"/>
          </a:solidFill>
          <a:ln/>
        </p:spPr>
      </p:sp>
      <p:sp>
        <p:nvSpPr>
          <p:cNvPr id="19" name="Text 17"/>
          <p:cNvSpPr/>
          <p:nvPr/>
        </p:nvSpPr>
        <p:spPr>
          <a:xfrm>
            <a:off x="2343239" y="2990088"/>
            <a:ext cx="768096" cy="382742"/>
          </a:xfrm>
          <a:prstGeom prst="rect">
            <a:avLst/>
          </a:prstGeom>
          <a:noFill/>
          <a:ln/>
        </p:spPr>
        <p:txBody>
          <a:bodyPr wrap="square" lIns="0" tIns="0" rIns="0" bIns="0" rtlCol="0" anchor="ctr"/>
          <a:lstStyle/>
          <a:p>
            <a:pPr algn="l" indent="0" marL="0">
              <a:buNone/>
            </a:pPr>
            <a:r>
              <a:rPr lang="en-US" sz="1000" b="1" dirty="0">
                <a:solidFill>
                  <a:srgbClr val="2B2420"/>
                </a:solidFill>
                <a:latin typeface="Calibri" pitchFamily="34" charset="0"/>
                <a:ea typeface="Calibri" pitchFamily="34" charset="-122"/>
                <a:cs typeface="Calibri" pitchFamily="34" charset="-120"/>
              </a:rPr>
              <a:t>2%</a:t>
            </a:r>
            <a:endParaRPr lang="en-US" sz="1000" dirty="0"/>
          </a:p>
        </p:txBody>
      </p:sp>
      <p:sp>
        <p:nvSpPr>
          <p:cNvPr id="20" name="Text 18"/>
          <p:cNvSpPr/>
          <p:nvPr/>
        </p:nvSpPr>
        <p:spPr>
          <a:xfrm>
            <a:off x="457200" y="3372830"/>
            <a:ext cx="1536192" cy="382742"/>
          </a:xfrm>
          <a:prstGeom prst="rect">
            <a:avLst/>
          </a:prstGeom>
          <a:noFill/>
          <a:ln/>
        </p:spPr>
        <p:txBody>
          <a:bodyPr wrap="square" lIns="0" tIns="0" rIns="0" bIns="0" rtlCol="0" anchor="ctr"/>
          <a:lstStyle/>
          <a:p>
            <a:pPr algn="r" indent="0" marL="0">
              <a:buNone/>
            </a:pPr>
            <a:r>
              <a:rPr lang="en-US" sz="1050" dirty="0">
                <a:solidFill>
                  <a:srgbClr val="6B655C"/>
                </a:solidFill>
                <a:latin typeface="Calibri" pitchFamily="34" charset="0"/>
                <a:ea typeface="Calibri" pitchFamily="34" charset="-122"/>
                <a:cs typeface="Calibri" pitchFamily="34" charset="-120"/>
              </a:rPr>
              <a:t>Other</a:t>
            </a:r>
            <a:endParaRPr lang="en-US" sz="1050" dirty="0"/>
          </a:p>
        </p:txBody>
      </p:sp>
      <p:sp>
        <p:nvSpPr>
          <p:cNvPr id="21" name="Shape 19"/>
          <p:cNvSpPr/>
          <p:nvPr/>
        </p:nvSpPr>
        <p:spPr>
          <a:xfrm>
            <a:off x="2103120" y="3468515"/>
            <a:ext cx="1204158" cy="191371"/>
          </a:xfrm>
          <a:prstGeom prst="roundRect">
            <a:avLst>
              <a:gd name="adj" fmla="val 9556"/>
            </a:avLst>
          </a:prstGeom>
          <a:solidFill>
            <a:srgbClr val="C9A227"/>
          </a:solidFill>
          <a:ln/>
        </p:spPr>
      </p:sp>
      <p:sp>
        <p:nvSpPr>
          <p:cNvPr id="22" name="Text 20"/>
          <p:cNvSpPr/>
          <p:nvPr/>
        </p:nvSpPr>
        <p:spPr>
          <a:xfrm>
            <a:off x="3362142" y="3372830"/>
            <a:ext cx="768096" cy="382742"/>
          </a:xfrm>
          <a:prstGeom prst="rect">
            <a:avLst/>
          </a:prstGeom>
          <a:noFill/>
          <a:ln/>
        </p:spPr>
        <p:txBody>
          <a:bodyPr wrap="square" lIns="0" tIns="0" rIns="0" bIns="0" rtlCol="0" anchor="ctr"/>
          <a:lstStyle/>
          <a:p>
            <a:pPr algn="l" indent="0" marL="0">
              <a:buNone/>
            </a:pPr>
            <a:r>
              <a:rPr lang="en-US" sz="1000" b="1" dirty="0">
                <a:solidFill>
                  <a:srgbClr val="2B2420"/>
                </a:solidFill>
                <a:latin typeface="Calibri" pitchFamily="34" charset="0"/>
                <a:ea typeface="Calibri" pitchFamily="34" charset="-122"/>
                <a:cs typeface="Calibri" pitchFamily="34" charset="-120"/>
              </a:rPr>
              <a:t>10%</a:t>
            </a:r>
            <a:endParaRPr lang="en-US" sz="1000" dirty="0"/>
          </a:p>
        </p:txBody>
      </p:sp>
      <p:sp>
        <p:nvSpPr>
          <p:cNvPr id="23" name="Text 21"/>
          <p:cNvSpPr/>
          <p:nvPr/>
        </p:nvSpPr>
        <p:spPr>
          <a:xfrm>
            <a:off x="457200" y="3755571"/>
            <a:ext cx="1536192" cy="382742"/>
          </a:xfrm>
          <a:prstGeom prst="rect">
            <a:avLst/>
          </a:prstGeom>
          <a:noFill/>
          <a:ln/>
        </p:spPr>
        <p:txBody>
          <a:bodyPr wrap="square" lIns="0" tIns="0" rIns="0" bIns="0" rtlCol="0" anchor="ctr"/>
          <a:lstStyle/>
          <a:p>
            <a:pPr algn="r" indent="0" marL="0">
              <a:buNone/>
            </a:pPr>
            <a:r>
              <a:rPr lang="en-US" sz="1050" dirty="0">
                <a:solidFill>
                  <a:srgbClr val="6B655C"/>
                </a:solidFill>
                <a:latin typeface="Calibri" pitchFamily="34" charset="0"/>
                <a:ea typeface="Calibri" pitchFamily="34" charset="-122"/>
                <a:cs typeface="Calibri" pitchFamily="34" charset="-120"/>
              </a:rPr>
              <a:t>White</a:t>
            </a:r>
            <a:endParaRPr lang="en-US" sz="1050" dirty="0"/>
          </a:p>
        </p:txBody>
      </p:sp>
      <p:sp>
        <p:nvSpPr>
          <p:cNvPr id="24" name="Shape 22"/>
          <p:cNvSpPr/>
          <p:nvPr/>
        </p:nvSpPr>
        <p:spPr>
          <a:xfrm>
            <a:off x="2103120" y="3851257"/>
            <a:ext cx="2443051" cy="191371"/>
          </a:xfrm>
          <a:prstGeom prst="roundRect">
            <a:avLst>
              <a:gd name="adj" fmla="val 9556"/>
            </a:avLst>
          </a:prstGeom>
          <a:solidFill>
            <a:srgbClr val="C9A227"/>
          </a:solidFill>
          <a:ln/>
        </p:spPr>
      </p:sp>
      <p:sp>
        <p:nvSpPr>
          <p:cNvPr id="25" name="Text 23"/>
          <p:cNvSpPr/>
          <p:nvPr/>
        </p:nvSpPr>
        <p:spPr>
          <a:xfrm>
            <a:off x="4601035" y="3755571"/>
            <a:ext cx="768096" cy="382742"/>
          </a:xfrm>
          <a:prstGeom prst="rect">
            <a:avLst/>
          </a:prstGeom>
          <a:noFill/>
          <a:ln/>
        </p:spPr>
        <p:txBody>
          <a:bodyPr wrap="square" lIns="0" tIns="0" rIns="0" bIns="0" rtlCol="0" anchor="ctr"/>
          <a:lstStyle/>
          <a:p>
            <a:pPr algn="l" indent="0" marL="0">
              <a:buNone/>
            </a:pPr>
            <a:r>
              <a:rPr lang="en-US" sz="1000" b="1" dirty="0">
                <a:solidFill>
                  <a:srgbClr val="2B2420"/>
                </a:solidFill>
                <a:latin typeface="Calibri" pitchFamily="34" charset="0"/>
                <a:ea typeface="Calibri" pitchFamily="34" charset="-122"/>
                <a:cs typeface="Calibri" pitchFamily="34" charset="-120"/>
              </a:rPr>
              <a:t>21%</a:t>
            </a:r>
            <a:endParaRPr lang="en-US" sz="1000" dirty="0"/>
          </a:p>
        </p:txBody>
      </p:sp>
      <p:sp>
        <p:nvSpPr>
          <p:cNvPr id="26" name="Text 24"/>
          <p:cNvSpPr/>
          <p:nvPr/>
        </p:nvSpPr>
        <p:spPr>
          <a:xfrm>
            <a:off x="457200" y="4138313"/>
            <a:ext cx="1536192" cy="382742"/>
          </a:xfrm>
          <a:prstGeom prst="rect">
            <a:avLst/>
          </a:prstGeom>
          <a:noFill/>
          <a:ln/>
        </p:spPr>
        <p:txBody>
          <a:bodyPr wrap="square" lIns="0" tIns="0" rIns="0" bIns="0" rtlCol="0" anchor="ctr"/>
          <a:lstStyle/>
          <a:p>
            <a:pPr algn="r" indent="0" marL="0">
              <a:buNone/>
            </a:pPr>
            <a:r>
              <a:rPr lang="en-US" sz="1050" dirty="0">
                <a:solidFill>
                  <a:srgbClr val="6B655C"/>
                </a:solidFill>
                <a:latin typeface="Calibri" pitchFamily="34" charset="0"/>
                <a:ea typeface="Calibri" pitchFamily="34" charset="-122"/>
                <a:cs typeface="Calibri" pitchFamily="34" charset="-120"/>
              </a:rPr>
              <a:t>Sake</a:t>
            </a:r>
            <a:endParaRPr lang="en-US" sz="1050" dirty="0"/>
          </a:p>
        </p:txBody>
      </p:sp>
      <p:sp>
        <p:nvSpPr>
          <p:cNvPr id="27" name="Shape 25"/>
          <p:cNvSpPr/>
          <p:nvPr/>
        </p:nvSpPr>
        <p:spPr>
          <a:xfrm>
            <a:off x="2103120" y="4233999"/>
            <a:ext cx="2500943" cy="191371"/>
          </a:xfrm>
          <a:prstGeom prst="roundRect">
            <a:avLst>
              <a:gd name="adj" fmla="val 9556"/>
            </a:avLst>
          </a:prstGeom>
          <a:solidFill>
            <a:srgbClr val="C9A227"/>
          </a:solidFill>
          <a:ln/>
        </p:spPr>
      </p:sp>
      <p:sp>
        <p:nvSpPr>
          <p:cNvPr id="28" name="Text 26"/>
          <p:cNvSpPr/>
          <p:nvPr/>
        </p:nvSpPr>
        <p:spPr>
          <a:xfrm>
            <a:off x="4658927" y="4138313"/>
            <a:ext cx="768096" cy="382742"/>
          </a:xfrm>
          <a:prstGeom prst="rect">
            <a:avLst/>
          </a:prstGeom>
          <a:noFill/>
          <a:ln/>
        </p:spPr>
        <p:txBody>
          <a:bodyPr wrap="square" lIns="0" tIns="0" rIns="0" bIns="0" rtlCol="0" anchor="ctr"/>
          <a:lstStyle/>
          <a:p>
            <a:pPr algn="l" indent="0" marL="0">
              <a:buNone/>
            </a:pPr>
            <a:r>
              <a:rPr lang="en-US" sz="1000" b="1" dirty="0">
                <a:solidFill>
                  <a:srgbClr val="2B2420"/>
                </a:solidFill>
                <a:latin typeface="Calibri" pitchFamily="34" charset="0"/>
                <a:ea typeface="Calibri" pitchFamily="34" charset="-122"/>
                <a:cs typeface="Calibri" pitchFamily="34" charset="-120"/>
              </a:rPr>
              <a:t>22%</a:t>
            </a:r>
            <a:endParaRPr lang="en-US" sz="1000" dirty="0"/>
          </a:p>
        </p:txBody>
      </p:sp>
      <p:sp>
        <p:nvSpPr>
          <p:cNvPr id="29" name="Text 27"/>
          <p:cNvSpPr/>
          <p:nvPr/>
        </p:nvSpPr>
        <p:spPr>
          <a:xfrm>
            <a:off x="457200" y="4521055"/>
            <a:ext cx="1536192" cy="382742"/>
          </a:xfrm>
          <a:prstGeom prst="rect">
            <a:avLst/>
          </a:prstGeom>
          <a:noFill/>
          <a:ln/>
        </p:spPr>
        <p:txBody>
          <a:bodyPr wrap="square" lIns="0" tIns="0" rIns="0" bIns="0" rtlCol="0" anchor="ctr"/>
          <a:lstStyle/>
          <a:p>
            <a:pPr algn="r" indent="0" marL="0">
              <a:buNone/>
            </a:pPr>
            <a:r>
              <a:rPr lang="en-US" sz="1050" dirty="0">
                <a:solidFill>
                  <a:srgbClr val="6B655C"/>
                </a:solidFill>
                <a:latin typeface="Calibri" pitchFamily="34" charset="0"/>
                <a:ea typeface="Calibri" pitchFamily="34" charset="-122"/>
                <a:cs typeface="Calibri" pitchFamily="34" charset="-120"/>
              </a:rPr>
              <a:t>Red</a:t>
            </a:r>
            <a:endParaRPr lang="en-US" sz="1050" dirty="0"/>
          </a:p>
        </p:txBody>
      </p:sp>
      <p:sp>
        <p:nvSpPr>
          <p:cNvPr id="30" name="Shape 28"/>
          <p:cNvSpPr/>
          <p:nvPr/>
        </p:nvSpPr>
        <p:spPr>
          <a:xfrm>
            <a:off x="2103120" y="4616740"/>
            <a:ext cx="2605149" cy="191371"/>
          </a:xfrm>
          <a:prstGeom prst="roundRect">
            <a:avLst>
              <a:gd name="adj" fmla="val 9556"/>
            </a:avLst>
          </a:prstGeom>
          <a:solidFill>
            <a:srgbClr val="C9A227"/>
          </a:solidFill>
          <a:ln/>
        </p:spPr>
      </p:sp>
      <p:sp>
        <p:nvSpPr>
          <p:cNvPr id="31" name="Text 29"/>
          <p:cNvSpPr/>
          <p:nvPr/>
        </p:nvSpPr>
        <p:spPr>
          <a:xfrm>
            <a:off x="4763133" y="4521055"/>
            <a:ext cx="768096" cy="382742"/>
          </a:xfrm>
          <a:prstGeom prst="rect">
            <a:avLst/>
          </a:prstGeom>
          <a:noFill/>
          <a:ln/>
        </p:spPr>
        <p:txBody>
          <a:bodyPr wrap="square" lIns="0" tIns="0" rIns="0" bIns="0" rtlCol="0" anchor="ctr"/>
          <a:lstStyle/>
          <a:p>
            <a:pPr algn="l" indent="0" marL="0">
              <a:buNone/>
            </a:pPr>
            <a:r>
              <a:rPr lang="en-US" sz="1000" b="1" dirty="0">
                <a:solidFill>
                  <a:srgbClr val="2B2420"/>
                </a:solidFill>
                <a:latin typeface="Calibri" pitchFamily="34" charset="0"/>
                <a:ea typeface="Calibri" pitchFamily="34" charset="-122"/>
                <a:cs typeface="Calibri" pitchFamily="34" charset="-120"/>
              </a:rPr>
              <a:t>23%</a:t>
            </a:r>
            <a:endParaRPr lang="en-US" sz="1000" dirty="0"/>
          </a:p>
        </p:txBody>
      </p:sp>
      <p:sp>
        <p:nvSpPr>
          <p:cNvPr id="32" name="Text 30"/>
          <p:cNvSpPr/>
          <p:nvPr/>
        </p:nvSpPr>
        <p:spPr>
          <a:xfrm>
            <a:off x="457200" y="4903797"/>
            <a:ext cx="1536192" cy="382742"/>
          </a:xfrm>
          <a:prstGeom prst="rect">
            <a:avLst/>
          </a:prstGeom>
          <a:noFill/>
          <a:ln/>
        </p:spPr>
        <p:txBody>
          <a:bodyPr wrap="square" lIns="0" tIns="0" rIns="0" bIns="0" rtlCol="0" anchor="ctr"/>
          <a:lstStyle/>
          <a:p>
            <a:pPr algn="r" indent="0" marL="0">
              <a:buNone/>
            </a:pPr>
            <a:r>
              <a:rPr lang="en-US" sz="1050" dirty="0">
                <a:solidFill>
                  <a:srgbClr val="6B655C"/>
                </a:solidFill>
                <a:latin typeface="Calibri" pitchFamily="34" charset="0"/>
                <a:ea typeface="Calibri" pitchFamily="34" charset="-122"/>
                <a:cs typeface="Calibri" pitchFamily="34" charset="-120"/>
              </a:rPr>
              <a:t>Champagne/Sparkling</a:t>
            </a:r>
            <a:endParaRPr lang="en-US" sz="1050" dirty="0"/>
          </a:p>
        </p:txBody>
      </p:sp>
      <p:sp>
        <p:nvSpPr>
          <p:cNvPr id="33" name="Shape 31"/>
          <p:cNvSpPr/>
          <p:nvPr/>
        </p:nvSpPr>
        <p:spPr>
          <a:xfrm>
            <a:off x="2103120" y="4999482"/>
            <a:ext cx="3045130" cy="191371"/>
          </a:xfrm>
          <a:prstGeom prst="roundRect">
            <a:avLst>
              <a:gd name="adj" fmla="val 9556"/>
            </a:avLst>
          </a:prstGeom>
          <a:solidFill>
            <a:srgbClr val="C9A227"/>
          </a:solidFill>
          <a:ln/>
        </p:spPr>
      </p:sp>
      <p:sp>
        <p:nvSpPr>
          <p:cNvPr id="34" name="Text 32"/>
          <p:cNvSpPr/>
          <p:nvPr/>
        </p:nvSpPr>
        <p:spPr>
          <a:xfrm>
            <a:off x="5203114" y="4903797"/>
            <a:ext cx="768096" cy="382742"/>
          </a:xfrm>
          <a:prstGeom prst="rect">
            <a:avLst/>
          </a:prstGeom>
          <a:noFill/>
          <a:ln/>
        </p:spPr>
        <p:txBody>
          <a:bodyPr wrap="square" lIns="0" tIns="0" rIns="0" bIns="0" rtlCol="0" anchor="ctr"/>
          <a:lstStyle/>
          <a:p>
            <a:pPr algn="l" indent="0" marL="0">
              <a:buNone/>
            </a:pPr>
            <a:r>
              <a:rPr lang="en-US" sz="1000" b="1" dirty="0">
                <a:solidFill>
                  <a:srgbClr val="2B2420"/>
                </a:solidFill>
                <a:latin typeface="Calibri" pitchFamily="34" charset="0"/>
                <a:ea typeface="Calibri" pitchFamily="34" charset="-122"/>
                <a:cs typeface="Calibri" pitchFamily="34" charset="-120"/>
              </a:rPr>
              <a:t>26%</a:t>
            </a:r>
            <a:endParaRPr lang="en-US" sz="1000" dirty="0"/>
          </a:p>
        </p:txBody>
      </p:sp>
      <p:sp>
        <p:nvSpPr>
          <p:cNvPr id="35" name="Text 33"/>
          <p:cNvSpPr/>
          <p:nvPr/>
        </p:nvSpPr>
        <p:spPr>
          <a:xfrm>
            <a:off x="457200" y="5286538"/>
            <a:ext cx="1536192" cy="382742"/>
          </a:xfrm>
          <a:prstGeom prst="rect">
            <a:avLst/>
          </a:prstGeom>
          <a:noFill/>
          <a:ln/>
        </p:spPr>
        <p:txBody>
          <a:bodyPr wrap="square" lIns="0" tIns="0" rIns="0" bIns="0" rtlCol="0" anchor="ctr"/>
          <a:lstStyle/>
          <a:p>
            <a:pPr algn="r" indent="0" marL="0">
              <a:buNone/>
            </a:pPr>
            <a:r>
              <a:rPr lang="en-US" sz="1050" dirty="0">
                <a:solidFill>
                  <a:srgbClr val="6B655C"/>
                </a:solidFill>
                <a:latin typeface="Calibri" pitchFamily="34" charset="0"/>
                <a:ea typeface="Calibri" pitchFamily="34" charset="-122"/>
                <a:cs typeface="Calibri" pitchFamily="34" charset="-120"/>
              </a:rPr>
              <a:t>Liquor</a:t>
            </a:r>
            <a:endParaRPr lang="en-US" sz="1050" dirty="0"/>
          </a:p>
        </p:txBody>
      </p:sp>
      <p:sp>
        <p:nvSpPr>
          <p:cNvPr id="36" name="Shape 34"/>
          <p:cNvSpPr/>
          <p:nvPr/>
        </p:nvSpPr>
        <p:spPr>
          <a:xfrm>
            <a:off x="2103120" y="5382224"/>
            <a:ext cx="3566160" cy="191371"/>
          </a:xfrm>
          <a:prstGeom prst="roundRect">
            <a:avLst>
              <a:gd name="adj" fmla="val 9556"/>
            </a:avLst>
          </a:prstGeom>
          <a:solidFill>
            <a:srgbClr val="C9A227"/>
          </a:solidFill>
          <a:ln/>
        </p:spPr>
      </p:sp>
      <p:sp>
        <p:nvSpPr>
          <p:cNvPr id="37" name="Text 35"/>
          <p:cNvSpPr/>
          <p:nvPr/>
        </p:nvSpPr>
        <p:spPr>
          <a:xfrm>
            <a:off x="5724144" y="5286538"/>
            <a:ext cx="768096" cy="382742"/>
          </a:xfrm>
          <a:prstGeom prst="rect">
            <a:avLst/>
          </a:prstGeom>
          <a:noFill/>
          <a:ln/>
        </p:spPr>
        <p:txBody>
          <a:bodyPr wrap="square" lIns="0" tIns="0" rIns="0" bIns="0" rtlCol="0" anchor="ctr"/>
          <a:lstStyle/>
          <a:p>
            <a:pPr algn="l" indent="0" marL="0">
              <a:buNone/>
            </a:pPr>
            <a:r>
              <a:rPr lang="en-US" sz="1000" b="1" dirty="0">
                <a:solidFill>
                  <a:srgbClr val="2B2420"/>
                </a:solidFill>
                <a:latin typeface="Calibri" pitchFamily="34" charset="0"/>
                <a:ea typeface="Calibri" pitchFamily="34" charset="-122"/>
                <a:cs typeface="Calibri" pitchFamily="34" charset="-120"/>
              </a:rPr>
              <a:t>31%</a:t>
            </a:r>
            <a:endParaRPr lang="en-US" sz="1000" dirty="0"/>
          </a:p>
        </p:txBody>
      </p:sp>
      <p:sp>
        <p:nvSpPr>
          <p:cNvPr id="38" name="Shape 36"/>
          <p:cNvSpPr/>
          <p:nvPr/>
        </p:nvSpPr>
        <p:spPr>
          <a:xfrm>
            <a:off x="6355080" y="2606040"/>
            <a:ext cx="5349240" cy="3063240"/>
          </a:xfrm>
          <a:prstGeom prst="roundRect">
            <a:avLst>
              <a:gd name="adj" fmla="val 2388"/>
            </a:avLst>
          </a:prstGeom>
          <a:solidFill>
            <a:srgbClr val="E5DCD3"/>
          </a:solidFill>
          <a:ln/>
        </p:spPr>
      </p:sp>
      <p:sp>
        <p:nvSpPr>
          <p:cNvPr id="39" name="Text 37"/>
          <p:cNvSpPr/>
          <p:nvPr/>
        </p:nvSpPr>
        <p:spPr>
          <a:xfrm>
            <a:off x="6583680" y="2770632"/>
            <a:ext cx="4892040" cy="2734056"/>
          </a:xfrm>
          <a:prstGeom prst="rect">
            <a:avLst/>
          </a:prstGeom>
          <a:noFill/>
          <a:ln/>
        </p:spPr>
        <p:txBody>
          <a:bodyPr wrap="square" lIns="0" tIns="0" rIns="0" bIns="0" rtlCol="0" anchor="t"/>
          <a:lstStyle/>
          <a:p>
            <a:pPr indent="0" marL="0">
              <a:lnSpc>
                <a:spcPct val="115000"/>
              </a:lnSpc>
              <a:buNone/>
            </a:pPr>
            <a:r>
              <a:rPr lang="en-US" sz="1100" b="1" spc="100" kern="0" dirty="0">
                <a:solidFill>
                  <a:srgbClr val="5C1A2B"/>
                </a:solidFill>
                <a:latin typeface="Calibri" pitchFamily="34" charset="0"/>
                <a:ea typeface="Calibri" pitchFamily="34" charset="-122"/>
                <a:cs typeface="Calibri" pitchFamily="34" charset="-120"/>
              </a:rPr>
              <a:t>READ  </a:t>
            </a:r>
            <a:pPr indent="0" marL="0">
              <a:lnSpc>
                <a:spcPct val="115000"/>
              </a:lnSpc>
              <a:buNone/>
            </a:pPr>
            <a:r>
              <a:rPr lang="en-US" sz="1300" dirty="0">
                <a:solidFill>
                  <a:srgbClr val="2B2420"/>
                </a:solidFill>
                <a:latin typeface="Calibri" pitchFamily="34" charset="0"/>
                <a:ea typeface="Calibri" pitchFamily="34" charset="-122"/>
                <a:cs typeface="Calibri" pitchFamily="34" charset="-120"/>
              </a:rPr>
              <a:t>Liquor (31%) and Champagne/Sparkling (26%) are discounted furthest above Food’s under-2% baseline — and the pattern holds separately in both 2025 and 2026, so it isn’t a one-off. Meanwhile, member transactions already make up 28% of the till, averaging 2.5x more per sale than non-members — but only 41 people joined as members across the whole 19-month period.</a:t>
            </a:r>
            <a:endParaRPr lang="en-US" sz="1100" dirty="0"/>
          </a:p>
        </p:txBody>
      </p:sp>
      <p:sp>
        <p:nvSpPr>
          <p:cNvPr id="40" name="Text 38"/>
          <p:cNvSpPr/>
          <p:nvPr/>
        </p:nvSpPr>
        <p:spPr>
          <a:xfrm>
            <a:off x="11277295" y="6355080"/>
            <a:ext cx="548640" cy="320040"/>
          </a:xfrm>
          <a:prstGeom prst="rect">
            <a:avLst/>
          </a:prstGeom>
          <a:noFill/>
          <a:ln/>
        </p:spPr>
        <p:txBody>
          <a:bodyPr wrap="square" rtlCol="0" anchor="ctr"/>
          <a:lstStyle/>
          <a:p>
            <a:pPr algn="r" indent="0" marL="0">
              <a:buNone/>
            </a:pPr>
            <a:r>
              <a:rPr lang="en-US" sz="1000" dirty="0">
                <a:solidFill>
                  <a:srgbClr val="6B655C"/>
                </a:solidFill>
                <a:latin typeface="Calibri" pitchFamily="34" charset="0"/>
                <a:ea typeface="Calibri" pitchFamily="34" charset="-122"/>
                <a:cs typeface="Calibri" pitchFamily="34" charset="-120"/>
              </a:rPr>
              <a:t>07</a:t>
            </a:r>
            <a:endParaRPr lang="en-US" sz="1000" dirty="0"/>
          </a:p>
        </p:txBody>
      </p:sp>
      <p:sp>
        <p:nvSpPr>
          <p:cNvPr id="41" name="Text 39"/>
          <p:cNvSpPr/>
          <p:nvPr/>
        </p:nvSpPr>
        <p:spPr>
          <a:xfrm>
            <a:off x="457200" y="6355080"/>
            <a:ext cx="2743200" cy="320040"/>
          </a:xfrm>
          <a:prstGeom prst="rect">
            <a:avLst/>
          </a:prstGeom>
          <a:noFill/>
          <a:ln/>
        </p:spPr>
        <p:txBody>
          <a:bodyPr wrap="square" rtlCol="0" anchor="ctr"/>
          <a:lstStyle/>
          <a:p>
            <a:pPr indent="0" marL="0">
              <a:buNone/>
            </a:pPr>
            <a:r>
              <a:rPr lang="en-US" sz="1000" spc="200" kern="0" dirty="0">
                <a:solidFill>
                  <a:srgbClr val="6B655C"/>
                </a:solidFill>
                <a:latin typeface="Calibri" pitchFamily="34" charset="0"/>
                <a:ea typeface="Calibri" pitchFamily="34" charset="-122"/>
                <a:cs typeface="Calibri" pitchFamily="34" charset="-120"/>
              </a:rPr>
              <a:t>CELLAR V</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DFCFA"/>
        </a:solidFill>
      </p:bgPr>
    </p:bg>
    <p:spTree>
      <p:nvGrpSpPr>
        <p:cNvPr id="1" name=""/>
        <p:cNvGrpSpPr/>
        <p:nvPr/>
      </p:nvGrpSpPr>
      <p:grpSpPr>
        <a:xfrm>
          <a:off x="0" y="0"/>
          <a:ext cx="0" cy="0"/>
          <a:chOff x="0" y="0"/>
          <a:chExt cx="0" cy="0"/>
        </a:xfrm>
      </p:grpSpPr>
      <p:sp>
        <p:nvSpPr>
          <p:cNvPr id="2" name="Text 0"/>
          <p:cNvSpPr/>
          <p:nvPr/>
        </p:nvSpPr>
        <p:spPr>
          <a:xfrm>
            <a:off x="457200" y="411480"/>
            <a:ext cx="7315200" cy="320040"/>
          </a:xfrm>
          <a:prstGeom prst="rect">
            <a:avLst/>
          </a:prstGeom>
          <a:noFill/>
          <a:ln/>
        </p:spPr>
        <p:txBody>
          <a:bodyPr wrap="square" lIns="0" tIns="0" rIns="0" bIns="0" rtlCol="0" anchor="ctr"/>
          <a:lstStyle/>
          <a:p>
            <a:pPr indent="0" marL="0">
              <a:buNone/>
            </a:pPr>
            <a:r>
              <a:rPr lang="en-US" sz="1200" b="1" spc="200" kern="0" dirty="0">
                <a:solidFill>
                  <a:srgbClr val="C9A227"/>
                </a:solidFill>
                <a:latin typeface="Calibri" pitchFamily="34" charset="0"/>
                <a:ea typeface="Calibri" pitchFamily="34" charset="-122"/>
                <a:cs typeface="Calibri" pitchFamily="34" charset="-120"/>
              </a:rPr>
              <a:t>STORY 04 · THE ONLINE CHANNEL</a:t>
            </a:r>
            <a:endParaRPr lang="en-US" sz="1200" dirty="0"/>
          </a:p>
        </p:txBody>
      </p:sp>
      <p:sp>
        <p:nvSpPr>
          <p:cNvPr id="3" name="Text 1"/>
          <p:cNvSpPr/>
          <p:nvPr/>
        </p:nvSpPr>
        <p:spPr>
          <a:xfrm>
            <a:off x="457200" y="731520"/>
            <a:ext cx="10332720" cy="548640"/>
          </a:xfrm>
          <a:prstGeom prst="rect">
            <a:avLst/>
          </a:prstGeom>
          <a:noFill/>
          <a:ln/>
        </p:spPr>
        <p:txBody>
          <a:bodyPr wrap="square" lIns="0" tIns="0" rIns="0" bIns="0" rtlCol="0" anchor="ctr"/>
          <a:lstStyle/>
          <a:p>
            <a:pPr indent="0" marL="0">
              <a:lnSpc>
                <a:spcPct val="105000"/>
              </a:lnSpc>
              <a:buNone/>
            </a:pPr>
            <a:r>
              <a:rPr lang="en-US" sz="2700" b="1" dirty="0">
                <a:solidFill>
                  <a:srgbClr val="2B2420"/>
                </a:solidFill>
                <a:latin typeface="Cambria" pitchFamily="34" charset="0"/>
                <a:ea typeface="Cambria" pitchFamily="34" charset="-122"/>
                <a:cs typeface="Cambria" pitchFamily="34" charset="-120"/>
              </a:rPr>
              <a:t>Should we fix the website?</a:t>
            </a:r>
            <a:endParaRPr lang="en-US" sz="2700" dirty="0"/>
          </a:p>
        </p:txBody>
      </p:sp>
      <p:sp>
        <p:nvSpPr>
          <p:cNvPr id="4" name="Shape 2"/>
          <p:cNvSpPr/>
          <p:nvPr/>
        </p:nvSpPr>
        <p:spPr>
          <a:xfrm>
            <a:off x="457200" y="1417320"/>
            <a:ext cx="2468880" cy="960120"/>
          </a:xfrm>
          <a:prstGeom prst="roundRect">
            <a:avLst>
              <a:gd name="adj" fmla="val 7619"/>
            </a:avLst>
          </a:prstGeom>
          <a:solidFill>
            <a:srgbClr val="FFFFFF"/>
          </a:solidFill>
          <a:ln w="12700">
            <a:solidFill>
              <a:srgbClr val="D8C9B6"/>
            </a:solidFill>
            <a:prstDash val="solid"/>
          </a:ln>
          <a:effectLst>
            <a:outerShdw sx="100000" sy="100000" kx="0" ky="0" algn="bl" rotWithShape="0" blurRad="76200" dist="25400" dir="5400000">
              <a:srgbClr val="000000">
                <a:alpha val="12000"/>
              </a:srgbClr>
            </a:outerShdw>
          </a:effectLst>
        </p:spPr>
      </p:sp>
      <p:sp>
        <p:nvSpPr>
          <p:cNvPr id="5" name="Text 3"/>
          <p:cNvSpPr/>
          <p:nvPr/>
        </p:nvSpPr>
        <p:spPr>
          <a:xfrm>
            <a:off x="594360" y="1527048"/>
            <a:ext cx="2194560" cy="393192"/>
          </a:xfrm>
          <a:prstGeom prst="rect">
            <a:avLst/>
          </a:prstGeom>
          <a:noFill/>
          <a:ln/>
        </p:spPr>
        <p:txBody>
          <a:bodyPr wrap="square" lIns="0" tIns="0" rIns="0" bIns="0" rtlCol="0" anchor="b"/>
          <a:lstStyle/>
          <a:p>
            <a:pPr algn="l" indent="0" marL="0">
              <a:buNone/>
            </a:pPr>
            <a:r>
              <a:rPr lang="en-US" sz="2200" b="1" dirty="0">
                <a:solidFill>
                  <a:srgbClr val="E34948"/>
                </a:solidFill>
                <a:latin typeface="Cambria" pitchFamily="34" charset="0"/>
                <a:ea typeface="Cambria" pitchFamily="34" charset="-122"/>
                <a:cs typeface="Cambria" pitchFamily="34" charset="-120"/>
              </a:rPr>
              <a:t>44%</a:t>
            </a:r>
            <a:endParaRPr lang="en-US" sz="2200" dirty="0"/>
          </a:p>
        </p:txBody>
      </p:sp>
      <p:sp>
        <p:nvSpPr>
          <p:cNvPr id="6" name="Text 4"/>
          <p:cNvSpPr/>
          <p:nvPr/>
        </p:nvSpPr>
        <p:spPr>
          <a:xfrm>
            <a:off x="594360" y="1938528"/>
            <a:ext cx="2194560" cy="365760"/>
          </a:xfrm>
          <a:prstGeom prst="rect">
            <a:avLst/>
          </a:prstGeom>
          <a:noFill/>
          <a:ln/>
        </p:spPr>
        <p:txBody>
          <a:bodyPr wrap="square" lIns="0" tIns="0" rIns="0" bIns="0" rtlCol="0" anchor="t"/>
          <a:lstStyle/>
          <a:p>
            <a:pPr algn="l" indent="0" marL="0">
              <a:buNone/>
            </a:pPr>
            <a:r>
              <a:rPr lang="en-US" sz="1100" dirty="0">
                <a:solidFill>
                  <a:srgbClr val="6B655C"/>
                </a:solidFill>
                <a:latin typeface="Calibri" pitchFamily="34" charset="0"/>
                <a:ea typeface="Calibri" pitchFamily="34" charset="-122"/>
                <a:cs typeface="Calibri" pitchFamily="34" charset="-120"/>
              </a:rPr>
              <a:t>of the 64 active online listings are out of stock</a:t>
            </a:r>
            <a:endParaRPr lang="en-US" sz="1100" dirty="0"/>
          </a:p>
        </p:txBody>
      </p:sp>
      <p:sp>
        <p:nvSpPr>
          <p:cNvPr id="7" name="Shape 5"/>
          <p:cNvSpPr/>
          <p:nvPr/>
        </p:nvSpPr>
        <p:spPr>
          <a:xfrm>
            <a:off x="3063240" y="1417320"/>
            <a:ext cx="2468880" cy="960120"/>
          </a:xfrm>
          <a:prstGeom prst="roundRect">
            <a:avLst>
              <a:gd name="adj" fmla="val 7619"/>
            </a:avLst>
          </a:prstGeom>
          <a:solidFill>
            <a:srgbClr val="FFFFFF"/>
          </a:solidFill>
          <a:ln w="12700">
            <a:solidFill>
              <a:srgbClr val="D8C9B6"/>
            </a:solidFill>
            <a:prstDash val="solid"/>
          </a:ln>
          <a:effectLst>
            <a:outerShdw sx="100000" sy="100000" kx="0" ky="0" algn="bl" rotWithShape="0" blurRad="76200" dist="25400" dir="5400000">
              <a:srgbClr val="000000">
                <a:alpha val="12000"/>
              </a:srgbClr>
            </a:outerShdw>
          </a:effectLst>
        </p:spPr>
      </p:sp>
      <p:sp>
        <p:nvSpPr>
          <p:cNvPr id="8" name="Text 6"/>
          <p:cNvSpPr/>
          <p:nvPr/>
        </p:nvSpPr>
        <p:spPr>
          <a:xfrm>
            <a:off x="3200400" y="1527048"/>
            <a:ext cx="2194560" cy="393192"/>
          </a:xfrm>
          <a:prstGeom prst="rect">
            <a:avLst/>
          </a:prstGeom>
          <a:noFill/>
          <a:ln/>
        </p:spPr>
        <p:txBody>
          <a:bodyPr wrap="square" lIns="0" tIns="0" rIns="0" bIns="0" rtlCol="0" anchor="b"/>
          <a:lstStyle/>
          <a:p>
            <a:pPr algn="l" indent="0" marL="0">
              <a:buNone/>
            </a:pPr>
            <a:r>
              <a:rPr lang="en-US" sz="2200" b="1" dirty="0">
                <a:solidFill>
                  <a:srgbClr val="E34948"/>
                </a:solidFill>
                <a:latin typeface="Cambria" pitchFamily="34" charset="0"/>
                <a:ea typeface="Cambria" pitchFamily="34" charset="-122"/>
                <a:cs typeface="Cambria" pitchFamily="34" charset="-120"/>
              </a:rPr>
              <a:t>7 of 27</a:t>
            </a:r>
            <a:endParaRPr lang="en-US" sz="2200" dirty="0"/>
          </a:p>
        </p:txBody>
      </p:sp>
      <p:sp>
        <p:nvSpPr>
          <p:cNvPr id="9" name="Text 7"/>
          <p:cNvSpPr/>
          <p:nvPr/>
        </p:nvSpPr>
        <p:spPr>
          <a:xfrm>
            <a:off x="3200400" y="1938528"/>
            <a:ext cx="2194560" cy="365760"/>
          </a:xfrm>
          <a:prstGeom prst="rect">
            <a:avLst/>
          </a:prstGeom>
          <a:noFill/>
          <a:ln/>
        </p:spPr>
        <p:txBody>
          <a:bodyPr wrap="square" lIns="0" tIns="0" rIns="0" bIns="0" rtlCol="0" anchor="t"/>
          <a:lstStyle/>
          <a:p>
            <a:pPr algn="l" indent="0" marL="0">
              <a:buNone/>
            </a:pPr>
            <a:r>
              <a:rPr lang="en-US" sz="1100" dirty="0">
                <a:solidFill>
                  <a:srgbClr val="6B655C"/>
                </a:solidFill>
                <a:latin typeface="Calibri" pitchFamily="34" charset="0"/>
                <a:ea typeface="Calibri" pitchFamily="34" charset="-122"/>
                <a:cs typeface="Calibri" pitchFamily="34" charset="-120"/>
              </a:rPr>
              <a:t>‘Best seller’-tagged listings out of stock</a:t>
            </a:r>
            <a:endParaRPr lang="en-US" sz="1100" dirty="0"/>
          </a:p>
        </p:txBody>
      </p:sp>
      <p:sp>
        <p:nvSpPr>
          <p:cNvPr id="10" name="Shape 8"/>
          <p:cNvSpPr/>
          <p:nvPr/>
        </p:nvSpPr>
        <p:spPr>
          <a:xfrm>
            <a:off x="5669280" y="1417320"/>
            <a:ext cx="2468880" cy="960120"/>
          </a:xfrm>
          <a:prstGeom prst="roundRect">
            <a:avLst>
              <a:gd name="adj" fmla="val 7619"/>
            </a:avLst>
          </a:prstGeom>
          <a:solidFill>
            <a:srgbClr val="FFFFFF"/>
          </a:solidFill>
          <a:ln w="12700">
            <a:solidFill>
              <a:srgbClr val="D8C9B6"/>
            </a:solidFill>
            <a:prstDash val="solid"/>
          </a:ln>
          <a:effectLst>
            <a:outerShdw sx="100000" sy="100000" kx="0" ky="0" algn="bl" rotWithShape="0" blurRad="76200" dist="25400" dir="5400000">
              <a:srgbClr val="000000">
                <a:alpha val="12000"/>
              </a:srgbClr>
            </a:outerShdw>
          </a:effectLst>
        </p:spPr>
      </p:sp>
      <p:sp>
        <p:nvSpPr>
          <p:cNvPr id="11" name="Text 9"/>
          <p:cNvSpPr/>
          <p:nvPr/>
        </p:nvSpPr>
        <p:spPr>
          <a:xfrm>
            <a:off x="5806440" y="1527048"/>
            <a:ext cx="2194560" cy="393192"/>
          </a:xfrm>
          <a:prstGeom prst="rect">
            <a:avLst/>
          </a:prstGeom>
          <a:noFill/>
          <a:ln/>
        </p:spPr>
        <p:txBody>
          <a:bodyPr wrap="square" lIns="0" tIns="0" rIns="0" bIns="0" rtlCol="0" anchor="b"/>
          <a:lstStyle/>
          <a:p>
            <a:pPr algn="l" indent="0" marL="0">
              <a:buNone/>
            </a:pPr>
            <a:r>
              <a:rPr lang="en-US" sz="2200" b="1" dirty="0">
                <a:solidFill>
                  <a:srgbClr val="5C1A2B"/>
                </a:solidFill>
                <a:latin typeface="Cambria" pitchFamily="34" charset="0"/>
                <a:ea typeface="Cambria" pitchFamily="34" charset="-122"/>
                <a:cs typeface="Cambria" pitchFamily="34" charset="-120"/>
              </a:rPr>
              <a:t>25%</a:t>
            </a:r>
            <a:endParaRPr lang="en-US" sz="2200" dirty="0"/>
          </a:p>
        </p:txBody>
      </p:sp>
      <p:sp>
        <p:nvSpPr>
          <p:cNvPr id="12" name="Text 10"/>
          <p:cNvSpPr/>
          <p:nvPr/>
        </p:nvSpPr>
        <p:spPr>
          <a:xfrm>
            <a:off x="5806440" y="1938528"/>
            <a:ext cx="2194560" cy="365760"/>
          </a:xfrm>
          <a:prstGeom prst="rect">
            <a:avLst/>
          </a:prstGeom>
          <a:noFill/>
          <a:ln/>
        </p:spPr>
        <p:txBody>
          <a:bodyPr wrap="square" lIns="0" tIns="0" rIns="0" bIns="0" rtlCol="0" anchor="t"/>
          <a:lstStyle/>
          <a:p>
            <a:pPr algn="l" indent="0" marL="0">
              <a:buNone/>
            </a:pPr>
            <a:r>
              <a:rPr lang="en-US" sz="1100" dirty="0">
                <a:solidFill>
                  <a:srgbClr val="6B655C"/>
                </a:solidFill>
                <a:latin typeface="Calibri" pitchFamily="34" charset="0"/>
                <a:ea typeface="Calibri" pitchFamily="34" charset="-122"/>
                <a:cs typeface="Calibri" pitchFamily="34" charset="-120"/>
              </a:rPr>
              <a:t>of registered accounts have ever purchased</a:t>
            </a:r>
            <a:endParaRPr lang="en-US" sz="1100" dirty="0"/>
          </a:p>
        </p:txBody>
      </p:sp>
      <p:sp>
        <p:nvSpPr>
          <p:cNvPr id="13" name="Shape 11"/>
          <p:cNvSpPr/>
          <p:nvPr/>
        </p:nvSpPr>
        <p:spPr>
          <a:xfrm>
            <a:off x="8275320" y="1417320"/>
            <a:ext cx="2468880" cy="960120"/>
          </a:xfrm>
          <a:prstGeom prst="roundRect">
            <a:avLst>
              <a:gd name="adj" fmla="val 7619"/>
            </a:avLst>
          </a:prstGeom>
          <a:solidFill>
            <a:srgbClr val="FFFFFF"/>
          </a:solidFill>
          <a:ln w="12700">
            <a:solidFill>
              <a:srgbClr val="D8C9B6"/>
            </a:solidFill>
            <a:prstDash val="solid"/>
          </a:ln>
          <a:effectLst>
            <a:outerShdw sx="100000" sy="100000" kx="0" ky="0" algn="bl" rotWithShape="0" blurRad="76200" dist="25400" dir="5400000">
              <a:srgbClr val="000000">
                <a:alpha val="12000"/>
              </a:srgbClr>
            </a:outerShdw>
          </a:effectLst>
        </p:spPr>
      </p:sp>
      <p:sp>
        <p:nvSpPr>
          <p:cNvPr id="14" name="Text 12"/>
          <p:cNvSpPr/>
          <p:nvPr/>
        </p:nvSpPr>
        <p:spPr>
          <a:xfrm>
            <a:off x="8412480" y="1527048"/>
            <a:ext cx="2194560" cy="393192"/>
          </a:xfrm>
          <a:prstGeom prst="rect">
            <a:avLst/>
          </a:prstGeom>
          <a:noFill/>
          <a:ln/>
        </p:spPr>
        <p:txBody>
          <a:bodyPr wrap="square" lIns="0" tIns="0" rIns="0" bIns="0" rtlCol="0" anchor="b"/>
          <a:lstStyle/>
          <a:p>
            <a:pPr algn="l" indent="0" marL="0">
              <a:buNone/>
            </a:pPr>
            <a:r>
              <a:rPr lang="en-US" sz="2200" b="1" dirty="0">
                <a:solidFill>
                  <a:srgbClr val="5C1A2B"/>
                </a:solidFill>
                <a:latin typeface="Cambria" pitchFamily="34" charset="0"/>
                <a:ea typeface="Cambria" pitchFamily="34" charset="-122"/>
                <a:cs typeface="Cambria" pitchFamily="34" charset="-120"/>
              </a:rPr>
              <a:t>S$176</a:t>
            </a:r>
            <a:endParaRPr lang="en-US" sz="2200" dirty="0"/>
          </a:p>
        </p:txBody>
      </p:sp>
      <p:sp>
        <p:nvSpPr>
          <p:cNvPr id="15" name="Text 13"/>
          <p:cNvSpPr/>
          <p:nvPr/>
        </p:nvSpPr>
        <p:spPr>
          <a:xfrm>
            <a:off x="8412480" y="1938528"/>
            <a:ext cx="2194560" cy="365760"/>
          </a:xfrm>
          <a:prstGeom prst="rect">
            <a:avLst/>
          </a:prstGeom>
          <a:noFill/>
          <a:ln/>
        </p:spPr>
        <p:txBody>
          <a:bodyPr wrap="square" lIns="0" tIns="0" rIns="0" bIns="0" rtlCol="0" anchor="t"/>
          <a:lstStyle/>
          <a:p>
            <a:pPr algn="l" indent="0" marL="0">
              <a:buNone/>
            </a:pPr>
            <a:r>
              <a:rPr lang="en-US" sz="1100" dirty="0">
                <a:solidFill>
                  <a:srgbClr val="6B655C"/>
                </a:solidFill>
                <a:latin typeface="Calibri" pitchFamily="34" charset="0"/>
                <a:ea typeface="Calibri" pitchFamily="34" charset="-122"/>
                <a:cs typeface="Calibri" pitchFamily="34" charset="-120"/>
              </a:rPr>
              <a:t>lifetime online revenue — 3 full years</a:t>
            </a:r>
            <a:endParaRPr lang="en-US" sz="1100" dirty="0"/>
          </a:p>
        </p:txBody>
      </p:sp>
      <p:sp>
        <p:nvSpPr>
          <p:cNvPr id="16" name="Text 14"/>
          <p:cNvSpPr/>
          <p:nvPr/>
        </p:nvSpPr>
        <p:spPr>
          <a:xfrm>
            <a:off x="457200" y="2606040"/>
            <a:ext cx="4023360" cy="292608"/>
          </a:xfrm>
          <a:prstGeom prst="rect">
            <a:avLst/>
          </a:prstGeom>
          <a:noFill/>
          <a:ln/>
        </p:spPr>
        <p:txBody>
          <a:bodyPr wrap="square" lIns="0" tIns="0" rIns="0" bIns="0" rtlCol="0" anchor="ctr"/>
          <a:lstStyle/>
          <a:p>
            <a:pPr indent="0" marL="0">
              <a:buNone/>
            </a:pPr>
            <a:r>
              <a:rPr lang="en-US" sz="1300" dirty="0">
                <a:solidFill>
                  <a:srgbClr val="2B2420"/>
                </a:solidFill>
                <a:latin typeface="Cambria" pitchFamily="34" charset="0"/>
                <a:ea typeface="Cambria" pitchFamily="34" charset="-122"/>
                <a:cs typeface="Cambria" pitchFamily="34" charset="-120"/>
              </a:rPr>
              <a:t>Stock status by price tier, online catalog</a:t>
            </a:r>
            <a:endParaRPr lang="en-US" sz="1300" dirty="0"/>
          </a:p>
        </p:txBody>
      </p:sp>
      <p:sp>
        <p:nvSpPr>
          <p:cNvPr id="17" name="Shape 15"/>
          <p:cNvSpPr/>
          <p:nvPr/>
        </p:nvSpPr>
        <p:spPr>
          <a:xfrm>
            <a:off x="4572000" y="2660904"/>
            <a:ext cx="146304" cy="146304"/>
          </a:xfrm>
          <a:prstGeom prst="rect">
            <a:avLst/>
          </a:prstGeom>
          <a:solidFill>
            <a:srgbClr val="2E7D32"/>
          </a:solidFill>
          <a:ln/>
        </p:spPr>
      </p:sp>
      <p:sp>
        <p:nvSpPr>
          <p:cNvPr id="18" name="Text 16"/>
          <p:cNvSpPr/>
          <p:nvPr/>
        </p:nvSpPr>
        <p:spPr>
          <a:xfrm>
            <a:off x="4773168" y="2587752"/>
            <a:ext cx="914400" cy="274320"/>
          </a:xfrm>
          <a:prstGeom prst="rect">
            <a:avLst/>
          </a:prstGeom>
          <a:noFill/>
          <a:ln/>
        </p:spPr>
        <p:txBody>
          <a:bodyPr wrap="square" lIns="0" tIns="0" rIns="0" bIns="0" rtlCol="0" anchor="ctr"/>
          <a:lstStyle/>
          <a:p>
            <a:pPr indent="0" marL="0">
              <a:buNone/>
            </a:pPr>
            <a:r>
              <a:rPr lang="en-US" sz="950" dirty="0">
                <a:solidFill>
                  <a:srgbClr val="6B655C"/>
                </a:solidFill>
                <a:latin typeface="Calibri" pitchFamily="34" charset="0"/>
                <a:ea typeface="Calibri" pitchFamily="34" charset="-122"/>
                <a:cs typeface="Calibri" pitchFamily="34" charset="-120"/>
              </a:rPr>
              <a:t>In stock</a:t>
            </a:r>
            <a:endParaRPr lang="en-US" sz="950" dirty="0"/>
          </a:p>
        </p:txBody>
      </p:sp>
      <p:sp>
        <p:nvSpPr>
          <p:cNvPr id="19" name="Shape 17"/>
          <p:cNvSpPr/>
          <p:nvPr/>
        </p:nvSpPr>
        <p:spPr>
          <a:xfrm>
            <a:off x="5532120" y="2660904"/>
            <a:ext cx="146304" cy="146304"/>
          </a:xfrm>
          <a:prstGeom prst="rect">
            <a:avLst/>
          </a:prstGeom>
          <a:solidFill>
            <a:srgbClr val="E34948"/>
          </a:solidFill>
          <a:ln/>
        </p:spPr>
      </p:sp>
      <p:sp>
        <p:nvSpPr>
          <p:cNvPr id="20" name="Text 18"/>
          <p:cNvSpPr/>
          <p:nvPr/>
        </p:nvSpPr>
        <p:spPr>
          <a:xfrm>
            <a:off x="5733288" y="2587752"/>
            <a:ext cx="914400" cy="274320"/>
          </a:xfrm>
          <a:prstGeom prst="rect">
            <a:avLst/>
          </a:prstGeom>
          <a:noFill/>
          <a:ln/>
        </p:spPr>
        <p:txBody>
          <a:bodyPr wrap="square" lIns="0" tIns="0" rIns="0" bIns="0" rtlCol="0" anchor="ctr"/>
          <a:lstStyle/>
          <a:p>
            <a:pPr indent="0" marL="0">
              <a:buNone/>
            </a:pPr>
            <a:r>
              <a:rPr lang="en-US" sz="950" dirty="0">
                <a:solidFill>
                  <a:srgbClr val="6B655C"/>
                </a:solidFill>
                <a:latin typeface="Calibri" pitchFamily="34" charset="0"/>
                <a:ea typeface="Calibri" pitchFamily="34" charset="-122"/>
                <a:cs typeface="Calibri" pitchFamily="34" charset="-120"/>
              </a:rPr>
              <a:t>Out of stock</a:t>
            </a:r>
            <a:endParaRPr lang="en-US" sz="950" dirty="0"/>
          </a:p>
        </p:txBody>
      </p:sp>
      <p:sp>
        <p:nvSpPr>
          <p:cNvPr id="21" name="Shape 19"/>
          <p:cNvSpPr/>
          <p:nvPr/>
        </p:nvSpPr>
        <p:spPr>
          <a:xfrm>
            <a:off x="548640" y="4297680"/>
            <a:ext cx="965606" cy="1051560"/>
          </a:xfrm>
          <a:prstGeom prst="rect">
            <a:avLst/>
          </a:prstGeom>
          <a:solidFill>
            <a:srgbClr val="2E7D32"/>
          </a:solidFill>
          <a:ln w="12700">
            <a:solidFill>
              <a:srgbClr val="FDFCFA"/>
            </a:solidFill>
            <a:prstDash val="solid"/>
          </a:ln>
        </p:spPr>
      </p:sp>
      <p:sp>
        <p:nvSpPr>
          <p:cNvPr id="22" name="Text 20"/>
          <p:cNvSpPr/>
          <p:nvPr/>
        </p:nvSpPr>
        <p:spPr>
          <a:xfrm>
            <a:off x="548640" y="4297680"/>
            <a:ext cx="965606" cy="105156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12</a:t>
            </a:r>
            <a:endParaRPr lang="en-US" sz="950" dirty="0"/>
          </a:p>
        </p:txBody>
      </p:sp>
      <p:sp>
        <p:nvSpPr>
          <p:cNvPr id="23" name="Shape 21"/>
          <p:cNvSpPr/>
          <p:nvPr/>
        </p:nvSpPr>
        <p:spPr>
          <a:xfrm>
            <a:off x="548640" y="4122420"/>
            <a:ext cx="965606" cy="175260"/>
          </a:xfrm>
          <a:prstGeom prst="rect">
            <a:avLst/>
          </a:prstGeom>
          <a:solidFill>
            <a:srgbClr val="E34948"/>
          </a:solidFill>
          <a:ln w="12700">
            <a:solidFill>
              <a:srgbClr val="FDFCFA"/>
            </a:solidFill>
            <a:prstDash val="solid"/>
          </a:ln>
        </p:spPr>
      </p:sp>
      <p:sp>
        <p:nvSpPr>
          <p:cNvPr id="24" name="Text 22"/>
          <p:cNvSpPr/>
          <p:nvPr/>
        </p:nvSpPr>
        <p:spPr>
          <a:xfrm>
            <a:off x="411480" y="5404104"/>
            <a:ext cx="1239926" cy="274320"/>
          </a:xfrm>
          <a:prstGeom prst="rect">
            <a:avLst/>
          </a:prstGeom>
          <a:noFill/>
          <a:ln/>
        </p:spPr>
        <p:txBody>
          <a:bodyPr wrap="square" lIns="0" tIns="0" rIns="0" bIns="0" rtlCol="0" anchor="ctr"/>
          <a:lstStyle/>
          <a:p>
            <a:pPr algn="ctr" indent="0" marL="0">
              <a:buNone/>
            </a:pPr>
            <a:r>
              <a:rPr lang="en-US" sz="950" dirty="0">
                <a:solidFill>
                  <a:srgbClr val="6B655C"/>
                </a:solidFill>
                <a:latin typeface="Calibri" pitchFamily="34" charset="0"/>
                <a:ea typeface="Calibri" pitchFamily="34" charset="-122"/>
                <a:cs typeface="Calibri" pitchFamily="34" charset="-120"/>
              </a:rPr>
              <a:t>&lt;S$50</a:t>
            </a:r>
            <a:endParaRPr lang="en-US" sz="950" dirty="0"/>
          </a:p>
        </p:txBody>
      </p:sp>
      <p:sp>
        <p:nvSpPr>
          <p:cNvPr id="25" name="Shape 23"/>
          <p:cNvSpPr/>
          <p:nvPr/>
        </p:nvSpPr>
        <p:spPr>
          <a:xfrm>
            <a:off x="1770278" y="4034790"/>
            <a:ext cx="965606" cy="1314450"/>
          </a:xfrm>
          <a:prstGeom prst="rect">
            <a:avLst/>
          </a:prstGeom>
          <a:solidFill>
            <a:srgbClr val="2E7D32"/>
          </a:solidFill>
          <a:ln w="12700">
            <a:solidFill>
              <a:srgbClr val="FDFCFA"/>
            </a:solidFill>
            <a:prstDash val="solid"/>
          </a:ln>
        </p:spPr>
      </p:sp>
      <p:sp>
        <p:nvSpPr>
          <p:cNvPr id="26" name="Text 24"/>
          <p:cNvSpPr/>
          <p:nvPr/>
        </p:nvSpPr>
        <p:spPr>
          <a:xfrm>
            <a:off x="1770278" y="4034790"/>
            <a:ext cx="965606" cy="131445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15</a:t>
            </a:r>
            <a:endParaRPr lang="en-US" sz="950" dirty="0"/>
          </a:p>
        </p:txBody>
      </p:sp>
      <p:sp>
        <p:nvSpPr>
          <p:cNvPr id="27" name="Shape 25"/>
          <p:cNvSpPr/>
          <p:nvPr/>
        </p:nvSpPr>
        <p:spPr>
          <a:xfrm>
            <a:off x="1770278" y="3246120"/>
            <a:ext cx="965606" cy="788670"/>
          </a:xfrm>
          <a:prstGeom prst="rect">
            <a:avLst/>
          </a:prstGeom>
          <a:solidFill>
            <a:srgbClr val="E34948"/>
          </a:solidFill>
          <a:ln w="12700">
            <a:solidFill>
              <a:srgbClr val="FDFCFA"/>
            </a:solidFill>
            <a:prstDash val="solid"/>
          </a:ln>
        </p:spPr>
      </p:sp>
      <p:sp>
        <p:nvSpPr>
          <p:cNvPr id="28" name="Text 26"/>
          <p:cNvSpPr/>
          <p:nvPr/>
        </p:nvSpPr>
        <p:spPr>
          <a:xfrm>
            <a:off x="1770278" y="3246120"/>
            <a:ext cx="965606" cy="78867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9</a:t>
            </a:r>
            <a:endParaRPr lang="en-US" sz="950" dirty="0"/>
          </a:p>
        </p:txBody>
      </p:sp>
      <p:sp>
        <p:nvSpPr>
          <p:cNvPr id="29" name="Text 27"/>
          <p:cNvSpPr/>
          <p:nvPr/>
        </p:nvSpPr>
        <p:spPr>
          <a:xfrm>
            <a:off x="1633118" y="5404104"/>
            <a:ext cx="1239926" cy="274320"/>
          </a:xfrm>
          <a:prstGeom prst="rect">
            <a:avLst/>
          </a:prstGeom>
          <a:noFill/>
          <a:ln/>
        </p:spPr>
        <p:txBody>
          <a:bodyPr wrap="square" lIns="0" tIns="0" rIns="0" bIns="0" rtlCol="0" anchor="ctr"/>
          <a:lstStyle/>
          <a:p>
            <a:pPr algn="ctr" indent="0" marL="0">
              <a:buNone/>
            </a:pPr>
            <a:r>
              <a:rPr lang="en-US" sz="950" dirty="0">
                <a:solidFill>
                  <a:srgbClr val="6B655C"/>
                </a:solidFill>
                <a:latin typeface="Calibri" pitchFamily="34" charset="0"/>
                <a:ea typeface="Calibri" pitchFamily="34" charset="-122"/>
                <a:cs typeface="Calibri" pitchFamily="34" charset="-120"/>
              </a:rPr>
              <a:t>S$50-70</a:t>
            </a:r>
            <a:endParaRPr lang="en-US" sz="950" dirty="0"/>
          </a:p>
        </p:txBody>
      </p:sp>
      <p:sp>
        <p:nvSpPr>
          <p:cNvPr id="30" name="Shape 28"/>
          <p:cNvSpPr/>
          <p:nvPr/>
        </p:nvSpPr>
        <p:spPr>
          <a:xfrm>
            <a:off x="2991917" y="4823460"/>
            <a:ext cx="965606" cy="525780"/>
          </a:xfrm>
          <a:prstGeom prst="rect">
            <a:avLst/>
          </a:prstGeom>
          <a:solidFill>
            <a:srgbClr val="2E7D32"/>
          </a:solidFill>
          <a:ln w="12700">
            <a:solidFill>
              <a:srgbClr val="FDFCFA"/>
            </a:solidFill>
            <a:prstDash val="solid"/>
          </a:ln>
        </p:spPr>
      </p:sp>
      <p:sp>
        <p:nvSpPr>
          <p:cNvPr id="31" name="Text 29"/>
          <p:cNvSpPr/>
          <p:nvPr/>
        </p:nvSpPr>
        <p:spPr>
          <a:xfrm>
            <a:off x="2991917" y="4823460"/>
            <a:ext cx="965606" cy="52578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6</a:t>
            </a:r>
            <a:endParaRPr lang="en-US" sz="950" dirty="0"/>
          </a:p>
        </p:txBody>
      </p:sp>
      <p:sp>
        <p:nvSpPr>
          <p:cNvPr id="32" name="Shape 30"/>
          <p:cNvSpPr/>
          <p:nvPr/>
        </p:nvSpPr>
        <p:spPr>
          <a:xfrm>
            <a:off x="2991917" y="4034790"/>
            <a:ext cx="965606" cy="788670"/>
          </a:xfrm>
          <a:prstGeom prst="rect">
            <a:avLst/>
          </a:prstGeom>
          <a:solidFill>
            <a:srgbClr val="E34948"/>
          </a:solidFill>
          <a:ln w="12700">
            <a:solidFill>
              <a:srgbClr val="FDFCFA"/>
            </a:solidFill>
            <a:prstDash val="solid"/>
          </a:ln>
        </p:spPr>
      </p:sp>
      <p:sp>
        <p:nvSpPr>
          <p:cNvPr id="33" name="Text 31"/>
          <p:cNvSpPr/>
          <p:nvPr/>
        </p:nvSpPr>
        <p:spPr>
          <a:xfrm>
            <a:off x="2991917" y="4034790"/>
            <a:ext cx="965606" cy="78867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9</a:t>
            </a:r>
            <a:endParaRPr lang="en-US" sz="950" dirty="0"/>
          </a:p>
        </p:txBody>
      </p:sp>
      <p:sp>
        <p:nvSpPr>
          <p:cNvPr id="34" name="Text 32"/>
          <p:cNvSpPr/>
          <p:nvPr/>
        </p:nvSpPr>
        <p:spPr>
          <a:xfrm>
            <a:off x="2854757" y="5404104"/>
            <a:ext cx="1239926" cy="274320"/>
          </a:xfrm>
          <a:prstGeom prst="rect">
            <a:avLst/>
          </a:prstGeom>
          <a:noFill/>
          <a:ln/>
        </p:spPr>
        <p:txBody>
          <a:bodyPr wrap="square" lIns="0" tIns="0" rIns="0" bIns="0" rtlCol="0" anchor="ctr"/>
          <a:lstStyle/>
          <a:p>
            <a:pPr algn="ctr" indent="0" marL="0">
              <a:buNone/>
            </a:pPr>
            <a:r>
              <a:rPr lang="en-US" sz="950" dirty="0">
                <a:solidFill>
                  <a:srgbClr val="6B655C"/>
                </a:solidFill>
                <a:latin typeface="Calibri" pitchFamily="34" charset="0"/>
                <a:ea typeface="Calibri" pitchFamily="34" charset="-122"/>
                <a:cs typeface="Calibri" pitchFamily="34" charset="-120"/>
              </a:rPr>
              <a:t>S$70-100</a:t>
            </a:r>
            <a:endParaRPr lang="en-US" sz="950" dirty="0"/>
          </a:p>
        </p:txBody>
      </p:sp>
      <p:sp>
        <p:nvSpPr>
          <p:cNvPr id="35" name="Shape 33"/>
          <p:cNvSpPr/>
          <p:nvPr/>
        </p:nvSpPr>
        <p:spPr>
          <a:xfrm>
            <a:off x="4213555" y="5086350"/>
            <a:ext cx="965606" cy="262890"/>
          </a:xfrm>
          <a:prstGeom prst="rect">
            <a:avLst/>
          </a:prstGeom>
          <a:solidFill>
            <a:srgbClr val="2E7D32"/>
          </a:solidFill>
          <a:ln w="12700">
            <a:solidFill>
              <a:srgbClr val="FDFCFA"/>
            </a:solidFill>
            <a:prstDash val="solid"/>
          </a:ln>
        </p:spPr>
      </p:sp>
      <p:sp>
        <p:nvSpPr>
          <p:cNvPr id="36" name="Text 34"/>
          <p:cNvSpPr/>
          <p:nvPr/>
        </p:nvSpPr>
        <p:spPr>
          <a:xfrm>
            <a:off x="4213555" y="5086350"/>
            <a:ext cx="965606" cy="26289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3</a:t>
            </a:r>
            <a:endParaRPr lang="en-US" sz="950" dirty="0"/>
          </a:p>
        </p:txBody>
      </p:sp>
      <p:sp>
        <p:nvSpPr>
          <p:cNvPr id="37" name="Shape 35"/>
          <p:cNvSpPr/>
          <p:nvPr/>
        </p:nvSpPr>
        <p:spPr>
          <a:xfrm>
            <a:off x="4213555" y="4648200"/>
            <a:ext cx="965606" cy="438150"/>
          </a:xfrm>
          <a:prstGeom prst="rect">
            <a:avLst/>
          </a:prstGeom>
          <a:solidFill>
            <a:srgbClr val="E34948"/>
          </a:solidFill>
          <a:ln w="12700">
            <a:solidFill>
              <a:srgbClr val="FDFCFA"/>
            </a:solidFill>
            <a:prstDash val="solid"/>
          </a:ln>
        </p:spPr>
      </p:sp>
      <p:sp>
        <p:nvSpPr>
          <p:cNvPr id="38" name="Text 36"/>
          <p:cNvSpPr/>
          <p:nvPr/>
        </p:nvSpPr>
        <p:spPr>
          <a:xfrm>
            <a:off x="4213555" y="4648200"/>
            <a:ext cx="965606" cy="43815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5</a:t>
            </a:r>
            <a:endParaRPr lang="en-US" sz="950" dirty="0"/>
          </a:p>
        </p:txBody>
      </p:sp>
      <p:sp>
        <p:nvSpPr>
          <p:cNvPr id="39" name="Text 37"/>
          <p:cNvSpPr/>
          <p:nvPr/>
        </p:nvSpPr>
        <p:spPr>
          <a:xfrm>
            <a:off x="4076395" y="5404104"/>
            <a:ext cx="1239926" cy="274320"/>
          </a:xfrm>
          <a:prstGeom prst="rect">
            <a:avLst/>
          </a:prstGeom>
          <a:noFill/>
          <a:ln/>
        </p:spPr>
        <p:txBody>
          <a:bodyPr wrap="square" lIns="0" tIns="0" rIns="0" bIns="0" rtlCol="0" anchor="ctr"/>
          <a:lstStyle/>
          <a:p>
            <a:pPr algn="ctr" indent="0" marL="0">
              <a:buNone/>
            </a:pPr>
            <a:r>
              <a:rPr lang="en-US" sz="950" dirty="0">
                <a:solidFill>
                  <a:srgbClr val="6B655C"/>
                </a:solidFill>
                <a:latin typeface="Calibri" pitchFamily="34" charset="0"/>
                <a:ea typeface="Calibri" pitchFamily="34" charset="-122"/>
                <a:cs typeface="Calibri" pitchFamily="34" charset="-120"/>
              </a:rPr>
              <a:t>S$100-150</a:t>
            </a:r>
            <a:endParaRPr lang="en-US" sz="950" dirty="0"/>
          </a:p>
        </p:txBody>
      </p:sp>
      <p:sp>
        <p:nvSpPr>
          <p:cNvPr id="40" name="Shape 38"/>
          <p:cNvSpPr/>
          <p:nvPr/>
        </p:nvSpPr>
        <p:spPr>
          <a:xfrm>
            <a:off x="5435194" y="5086350"/>
            <a:ext cx="965606" cy="262890"/>
          </a:xfrm>
          <a:prstGeom prst="rect">
            <a:avLst/>
          </a:prstGeom>
          <a:solidFill>
            <a:srgbClr val="E34948"/>
          </a:solidFill>
          <a:ln w="12700">
            <a:solidFill>
              <a:srgbClr val="FDFCFA"/>
            </a:solidFill>
            <a:prstDash val="solid"/>
          </a:ln>
        </p:spPr>
      </p:sp>
      <p:sp>
        <p:nvSpPr>
          <p:cNvPr id="41" name="Text 39"/>
          <p:cNvSpPr/>
          <p:nvPr/>
        </p:nvSpPr>
        <p:spPr>
          <a:xfrm>
            <a:off x="5435194" y="5086350"/>
            <a:ext cx="965606" cy="26289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3</a:t>
            </a:r>
            <a:endParaRPr lang="en-US" sz="950" dirty="0"/>
          </a:p>
        </p:txBody>
      </p:sp>
      <p:sp>
        <p:nvSpPr>
          <p:cNvPr id="42" name="Text 40"/>
          <p:cNvSpPr/>
          <p:nvPr/>
        </p:nvSpPr>
        <p:spPr>
          <a:xfrm>
            <a:off x="5298034" y="5404104"/>
            <a:ext cx="1239926" cy="274320"/>
          </a:xfrm>
          <a:prstGeom prst="rect">
            <a:avLst/>
          </a:prstGeom>
          <a:noFill/>
          <a:ln/>
        </p:spPr>
        <p:txBody>
          <a:bodyPr wrap="square" lIns="0" tIns="0" rIns="0" bIns="0" rtlCol="0" anchor="ctr"/>
          <a:lstStyle/>
          <a:p>
            <a:pPr algn="ctr" indent="0" marL="0">
              <a:buNone/>
            </a:pPr>
            <a:r>
              <a:rPr lang="en-US" sz="950" dirty="0">
                <a:solidFill>
                  <a:srgbClr val="6B655C"/>
                </a:solidFill>
                <a:latin typeface="Calibri" pitchFamily="34" charset="0"/>
                <a:ea typeface="Calibri" pitchFamily="34" charset="-122"/>
                <a:cs typeface="Calibri" pitchFamily="34" charset="-120"/>
              </a:rPr>
              <a:t>S$150+</a:t>
            </a:r>
            <a:endParaRPr lang="en-US" sz="950" dirty="0"/>
          </a:p>
        </p:txBody>
      </p:sp>
      <p:sp>
        <p:nvSpPr>
          <p:cNvPr id="43" name="Shape 41"/>
          <p:cNvSpPr/>
          <p:nvPr/>
        </p:nvSpPr>
        <p:spPr>
          <a:xfrm>
            <a:off x="457200" y="5349240"/>
            <a:ext cx="6035040" cy="0"/>
          </a:xfrm>
          <a:prstGeom prst="line">
            <a:avLst/>
          </a:prstGeom>
          <a:noFill/>
          <a:ln w="12700">
            <a:solidFill>
              <a:srgbClr val="D8C9B6"/>
            </a:solidFill>
            <a:prstDash val="solid"/>
          </a:ln>
        </p:spPr>
      </p:sp>
      <p:sp>
        <p:nvSpPr>
          <p:cNvPr id="44" name="Shape 42"/>
          <p:cNvSpPr/>
          <p:nvPr/>
        </p:nvSpPr>
        <p:spPr>
          <a:xfrm>
            <a:off x="6355080" y="2606040"/>
            <a:ext cx="5349240" cy="3063240"/>
          </a:xfrm>
          <a:prstGeom prst="roundRect">
            <a:avLst>
              <a:gd name="adj" fmla="val 2388"/>
            </a:avLst>
          </a:prstGeom>
          <a:solidFill>
            <a:srgbClr val="E5DCD3"/>
          </a:solidFill>
          <a:ln/>
        </p:spPr>
      </p:sp>
      <p:sp>
        <p:nvSpPr>
          <p:cNvPr id="45" name="Text 43"/>
          <p:cNvSpPr/>
          <p:nvPr/>
        </p:nvSpPr>
        <p:spPr>
          <a:xfrm>
            <a:off x="6583680" y="2770632"/>
            <a:ext cx="4892040" cy="2734056"/>
          </a:xfrm>
          <a:prstGeom prst="rect">
            <a:avLst/>
          </a:prstGeom>
          <a:noFill/>
          <a:ln/>
        </p:spPr>
        <p:txBody>
          <a:bodyPr wrap="square" lIns="0" tIns="0" rIns="0" bIns="0" rtlCol="0" anchor="t"/>
          <a:lstStyle/>
          <a:p>
            <a:pPr indent="0" marL="0">
              <a:lnSpc>
                <a:spcPct val="115000"/>
              </a:lnSpc>
              <a:buNone/>
            </a:pPr>
            <a:r>
              <a:rPr lang="en-US" sz="1100" b="1" spc="100" kern="0" dirty="0">
                <a:solidFill>
                  <a:srgbClr val="5C1A2B"/>
                </a:solidFill>
                <a:latin typeface="Calibri" pitchFamily="34" charset="0"/>
                <a:ea typeface="Calibri" pitchFamily="34" charset="-122"/>
                <a:cs typeface="Calibri" pitchFamily="34" charset="-120"/>
              </a:rPr>
              <a:t>READ  </a:t>
            </a:r>
            <a:pPr indent="0" marL="0">
              <a:lnSpc>
                <a:spcPct val="115000"/>
              </a:lnSpc>
              <a:buNone/>
            </a:pPr>
            <a:r>
              <a:rPr lang="en-US" sz="1300" dirty="0">
                <a:solidFill>
                  <a:srgbClr val="2B2420"/>
                </a:solidFill>
                <a:latin typeface="Calibri" pitchFamily="34" charset="0"/>
                <a:ea typeface="Calibri" pitchFamily="34" charset="-122"/>
                <a:cs typeface="Calibri" pitchFamily="34" charset="-120"/>
              </a:rPr>
              <a:t>A real, cheap fix — restock or unpublish the out-of-stock ‘Best seller’ listings first. But at S$176 lifetime, the online channel is a rounding error next to the S$293,467 in-person business. Worth doing — just not worth doing first.</a:t>
            </a:r>
            <a:endParaRPr lang="en-US" sz="1100" dirty="0"/>
          </a:p>
        </p:txBody>
      </p:sp>
      <p:sp>
        <p:nvSpPr>
          <p:cNvPr id="46" name="Text 44"/>
          <p:cNvSpPr/>
          <p:nvPr/>
        </p:nvSpPr>
        <p:spPr>
          <a:xfrm>
            <a:off x="11277295" y="6355080"/>
            <a:ext cx="548640" cy="320040"/>
          </a:xfrm>
          <a:prstGeom prst="rect">
            <a:avLst/>
          </a:prstGeom>
          <a:noFill/>
          <a:ln/>
        </p:spPr>
        <p:txBody>
          <a:bodyPr wrap="square" rtlCol="0" anchor="ctr"/>
          <a:lstStyle/>
          <a:p>
            <a:pPr algn="r" indent="0" marL="0">
              <a:buNone/>
            </a:pPr>
            <a:r>
              <a:rPr lang="en-US" sz="1000" dirty="0">
                <a:solidFill>
                  <a:srgbClr val="6B655C"/>
                </a:solidFill>
                <a:latin typeface="Calibri" pitchFamily="34" charset="0"/>
                <a:ea typeface="Calibri" pitchFamily="34" charset="-122"/>
                <a:cs typeface="Calibri" pitchFamily="34" charset="-120"/>
              </a:rPr>
              <a:t>08</a:t>
            </a:r>
            <a:endParaRPr lang="en-US" sz="1000" dirty="0"/>
          </a:p>
        </p:txBody>
      </p:sp>
      <p:sp>
        <p:nvSpPr>
          <p:cNvPr id="47" name="Text 45"/>
          <p:cNvSpPr/>
          <p:nvPr/>
        </p:nvSpPr>
        <p:spPr>
          <a:xfrm>
            <a:off x="457200" y="6355080"/>
            <a:ext cx="2743200" cy="320040"/>
          </a:xfrm>
          <a:prstGeom prst="rect">
            <a:avLst/>
          </a:prstGeom>
          <a:noFill/>
          <a:ln/>
        </p:spPr>
        <p:txBody>
          <a:bodyPr wrap="square" rtlCol="0" anchor="ctr"/>
          <a:lstStyle/>
          <a:p>
            <a:pPr indent="0" marL="0">
              <a:buNone/>
            </a:pPr>
            <a:r>
              <a:rPr lang="en-US" sz="1000" spc="200" kern="0" dirty="0">
                <a:solidFill>
                  <a:srgbClr val="6B655C"/>
                </a:solidFill>
                <a:latin typeface="Calibri" pitchFamily="34" charset="0"/>
                <a:ea typeface="Calibri" pitchFamily="34" charset="-122"/>
                <a:cs typeface="Calibri" pitchFamily="34" charset="-120"/>
              </a:rPr>
              <a:t>CELLAR V</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DFCFA"/>
        </a:solidFill>
      </p:bgPr>
    </p:bg>
    <p:spTree>
      <p:nvGrpSpPr>
        <p:cNvPr id="1" name=""/>
        <p:cNvGrpSpPr/>
        <p:nvPr/>
      </p:nvGrpSpPr>
      <p:grpSpPr>
        <a:xfrm>
          <a:off x="0" y="0"/>
          <a:ext cx="0" cy="0"/>
          <a:chOff x="0" y="0"/>
          <a:chExt cx="0" cy="0"/>
        </a:xfrm>
      </p:grpSpPr>
      <p:sp>
        <p:nvSpPr>
          <p:cNvPr id="2" name="Text 0"/>
          <p:cNvSpPr/>
          <p:nvPr/>
        </p:nvSpPr>
        <p:spPr>
          <a:xfrm>
            <a:off x="457200" y="411480"/>
            <a:ext cx="7315200" cy="320040"/>
          </a:xfrm>
          <a:prstGeom prst="rect">
            <a:avLst/>
          </a:prstGeom>
          <a:noFill/>
          <a:ln/>
        </p:spPr>
        <p:txBody>
          <a:bodyPr wrap="square" lIns="0" tIns="0" rIns="0" bIns="0" rtlCol="0" anchor="ctr"/>
          <a:lstStyle/>
          <a:p>
            <a:pPr indent="0" marL="0">
              <a:buNone/>
            </a:pPr>
            <a:r>
              <a:rPr lang="en-US" sz="1200" b="1" spc="200" kern="0" dirty="0">
                <a:solidFill>
                  <a:srgbClr val="C9A227"/>
                </a:solidFill>
                <a:latin typeface="Calibri" pitchFamily="34" charset="0"/>
                <a:ea typeface="Calibri" pitchFamily="34" charset="-122"/>
                <a:cs typeface="Calibri" pitchFamily="34" charset="-120"/>
              </a:rPr>
              <a:t>STORY 05 · THE RECOMMENDATION</a:t>
            </a:r>
            <a:endParaRPr lang="en-US" sz="1200" dirty="0"/>
          </a:p>
        </p:txBody>
      </p:sp>
      <p:sp>
        <p:nvSpPr>
          <p:cNvPr id="3" name="Text 1"/>
          <p:cNvSpPr/>
          <p:nvPr/>
        </p:nvSpPr>
        <p:spPr>
          <a:xfrm>
            <a:off x="457200" y="731520"/>
            <a:ext cx="10332720" cy="548640"/>
          </a:xfrm>
          <a:prstGeom prst="rect">
            <a:avLst/>
          </a:prstGeom>
          <a:noFill/>
          <a:ln/>
        </p:spPr>
        <p:txBody>
          <a:bodyPr wrap="square" lIns="0" tIns="0" rIns="0" bIns="0" rtlCol="0" anchor="ctr"/>
          <a:lstStyle/>
          <a:p>
            <a:pPr indent="0" marL="0">
              <a:lnSpc>
                <a:spcPct val="105000"/>
              </a:lnSpc>
              <a:buNone/>
            </a:pPr>
            <a:r>
              <a:rPr lang="en-US" sz="2700" b="1" dirty="0">
                <a:solidFill>
                  <a:srgbClr val="2B2420"/>
                </a:solidFill>
                <a:latin typeface="Cambria" pitchFamily="34" charset="0"/>
                <a:ea typeface="Cambria" pitchFamily="34" charset="-122"/>
                <a:cs typeface="Cambria" pitchFamily="34" charset="-120"/>
              </a:rPr>
              <a:t>Three levers, in priority order.</a:t>
            </a:r>
            <a:endParaRPr lang="en-US" sz="2700" dirty="0"/>
          </a:p>
        </p:txBody>
      </p:sp>
      <p:sp>
        <p:nvSpPr>
          <p:cNvPr id="4" name="Shape 2"/>
          <p:cNvSpPr/>
          <p:nvPr/>
        </p:nvSpPr>
        <p:spPr>
          <a:xfrm>
            <a:off x="457200" y="1508760"/>
            <a:ext cx="3319272" cy="4480560"/>
          </a:xfrm>
          <a:prstGeom prst="roundRect">
            <a:avLst>
              <a:gd name="adj" fmla="val 2204"/>
            </a:avLst>
          </a:prstGeom>
          <a:solidFill>
            <a:srgbClr val="5C1A2B"/>
          </a:solidFill>
          <a:ln w="12700">
            <a:solidFill>
              <a:srgbClr val="D8C9B6"/>
            </a:solidFill>
            <a:prstDash val="solid"/>
          </a:ln>
        </p:spPr>
      </p:sp>
      <p:sp>
        <p:nvSpPr>
          <p:cNvPr id="5" name="Shape 3"/>
          <p:cNvSpPr/>
          <p:nvPr/>
        </p:nvSpPr>
        <p:spPr>
          <a:xfrm>
            <a:off x="685800" y="1737360"/>
            <a:ext cx="502920" cy="502920"/>
          </a:xfrm>
          <a:prstGeom prst="ellipse">
            <a:avLst/>
          </a:prstGeom>
          <a:solidFill>
            <a:srgbClr val="C9A227"/>
          </a:solidFill>
          <a:ln/>
        </p:spPr>
      </p:sp>
      <p:sp>
        <p:nvSpPr>
          <p:cNvPr id="6" name="Text 4"/>
          <p:cNvSpPr/>
          <p:nvPr/>
        </p:nvSpPr>
        <p:spPr>
          <a:xfrm>
            <a:off x="685800" y="173736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7" name="Text 5"/>
          <p:cNvSpPr/>
          <p:nvPr/>
        </p:nvSpPr>
        <p:spPr>
          <a:xfrm>
            <a:off x="685800" y="2377440"/>
            <a:ext cx="2862072" cy="777240"/>
          </a:xfrm>
          <a:prstGeom prst="rect">
            <a:avLst/>
          </a:prstGeom>
          <a:noFill/>
          <a:ln/>
        </p:spPr>
        <p:txBody>
          <a:bodyPr wrap="square" lIns="0" tIns="0" rIns="0" bIns="0" rtlCol="0" anchor="ctr"/>
          <a:lstStyle/>
          <a:p>
            <a:pPr indent="0" marL="0">
              <a:lnSpc>
                <a:spcPct val="105000"/>
              </a:lnSpc>
              <a:buNone/>
            </a:pPr>
            <a:r>
              <a:rPr lang="en-US" sz="1600" b="1" dirty="0">
                <a:solidFill>
                  <a:srgbClr val="FFFFFF"/>
                </a:solidFill>
                <a:latin typeface="Cambria" pitchFamily="34" charset="0"/>
                <a:ea typeface="Cambria" pitchFamily="34" charset="-122"/>
                <a:cs typeface="Cambria" pitchFamily="34" charset="-120"/>
              </a:rPr>
              <a:t>Tighten discount</a:t>
            </a:r>
            <a:endParaRPr lang="en-US" sz="1600" dirty="0"/>
          </a:p>
          <a:p>
            <a:pPr indent="0" marL="0">
              <a:lnSpc>
                <a:spcPct val="105000"/>
              </a:lnSpc>
              <a:buNone/>
            </a:pPr>
            <a:r>
              <a:rPr lang="en-US" sz="1600" b="1" dirty="0">
                <a:solidFill>
                  <a:srgbClr val="FFFFFF"/>
                </a:solidFill>
                <a:latin typeface="Cambria" pitchFamily="34" charset="0"/>
                <a:ea typeface="Cambria" pitchFamily="34" charset="-122"/>
                <a:cs typeface="Cambria" pitchFamily="34" charset="-120"/>
              </a:rPr>
              <a:t>governance</a:t>
            </a:r>
            <a:endParaRPr lang="en-US" sz="1600" dirty="0"/>
          </a:p>
        </p:txBody>
      </p:sp>
      <p:sp>
        <p:nvSpPr>
          <p:cNvPr id="8" name="Text 6"/>
          <p:cNvSpPr/>
          <p:nvPr/>
        </p:nvSpPr>
        <p:spPr>
          <a:xfrm>
            <a:off x="685800" y="3200400"/>
            <a:ext cx="2862072" cy="1874520"/>
          </a:xfrm>
          <a:prstGeom prst="rect">
            <a:avLst/>
          </a:prstGeom>
          <a:noFill/>
          <a:ln/>
        </p:spPr>
        <p:txBody>
          <a:bodyPr wrap="square" lIns="0" tIns="0" rIns="0" bIns="0" rtlCol="0" anchor="ctr"/>
          <a:lstStyle/>
          <a:p>
            <a:pPr indent="0" marL="0">
              <a:lnSpc>
                <a:spcPct val="125000"/>
              </a:lnSpc>
              <a:buNone/>
            </a:pPr>
            <a:r>
              <a:rPr lang="en-US" sz="1150" dirty="0">
                <a:solidFill>
                  <a:srgbClr val="E7DCD5"/>
                </a:solidFill>
                <a:latin typeface="Calibri" pitchFamily="34" charset="0"/>
                <a:ea typeface="Calibri" pitchFamily="34" charset="-122"/>
                <a:cs typeface="Calibri" pitchFamily="34" charset="-120"/>
              </a:rPr>
              <a:t>Cap discretionary discounts on Liquor (31%) and Champagne/Sparkling (26%); require a plain review of what “Custom Discount” actually covers and when staff should use it.</a:t>
            </a:r>
            <a:endParaRPr lang="en-US" sz="1150" dirty="0"/>
          </a:p>
        </p:txBody>
      </p:sp>
      <p:sp>
        <p:nvSpPr>
          <p:cNvPr id="9" name="Shape 7"/>
          <p:cNvSpPr/>
          <p:nvPr/>
        </p:nvSpPr>
        <p:spPr>
          <a:xfrm>
            <a:off x="685800" y="5029200"/>
            <a:ext cx="2862072" cy="0"/>
          </a:xfrm>
          <a:prstGeom prst="line">
            <a:avLst/>
          </a:prstGeom>
          <a:noFill/>
          <a:ln w="12700">
            <a:solidFill>
              <a:srgbClr val="C9A227"/>
            </a:solidFill>
            <a:prstDash val="solid"/>
          </a:ln>
        </p:spPr>
      </p:sp>
      <p:sp>
        <p:nvSpPr>
          <p:cNvPr id="10" name="Text 8"/>
          <p:cNvSpPr/>
          <p:nvPr/>
        </p:nvSpPr>
        <p:spPr>
          <a:xfrm>
            <a:off x="685800" y="5166360"/>
            <a:ext cx="2862072" cy="731520"/>
          </a:xfrm>
          <a:prstGeom prst="rect">
            <a:avLst/>
          </a:prstGeom>
          <a:noFill/>
          <a:ln/>
        </p:spPr>
        <p:txBody>
          <a:bodyPr wrap="square" lIns="0" tIns="0" rIns="0" bIns="0" rtlCol="0" anchor="ctr"/>
          <a:lstStyle/>
          <a:p>
            <a:pPr indent="0" marL="0">
              <a:lnSpc>
                <a:spcPct val="115000"/>
              </a:lnSpc>
              <a:buNone/>
            </a:pPr>
            <a:r>
              <a:rPr lang="en-US" sz="1100" b="1" i="1" dirty="0">
                <a:solidFill>
                  <a:srgbClr val="E3B96B"/>
                </a:solidFill>
                <a:latin typeface="Calibri" pitchFamily="34" charset="0"/>
                <a:ea typeface="Calibri" pitchFamily="34" charset="-122"/>
                <a:cs typeface="Calibri" pitchFamily="34" charset="-120"/>
              </a:rPr>
              <a:t>Illustrative: ~S$16,800 recoverable over a comparable period at a 5-point tighter rate</a:t>
            </a:r>
            <a:endParaRPr lang="en-US" sz="1100" dirty="0"/>
          </a:p>
        </p:txBody>
      </p:sp>
      <p:sp>
        <p:nvSpPr>
          <p:cNvPr id="11" name="Shape 9"/>
          <p:cNvSpPr/>
          <p:nvPr/>
        </p:nvSpPr>
        <p:spPr>
          <a:xfrm>
            <a:off x="3959352" y="1508760"/>
            <a:ext cx="3319272" cy="4480560"/>
          </a:xfrm>
          <a:prstGeom prst="roundRect">
            <a:avLst>
              <a:gd name="adj" fmla="val 2204"/>
            </a:avLst>
          </a:prstGeom>
          <a:solidFill>
            <a:srgbClr val="FFFFFF"/>
          </a:solidFill>
          <a:ln w="12700">
            <a:solidFill>
              <a:srgbClr val="D8C9B6"/>
            </a:solidFill>
            <a:prstDash val="solid"/>
          </a:ln>
        </p:spPr>
      </p:sp>
      <p:sp>
        <p:nvSpPr>
          <p:cNvPr id="12" name="Shape 10"/>
          <p:cNvSpPr/>
          <p:nvPr/>
        </p:nvSpPr>
        <p:spPr>
          <a:xfrm>
            <a:off x="4187952" y="1737360"/>
            <a:ext cx="502920" cy="502920"/>
          </a:xfrm>
          <a:prstGeom prst="ellipse">
            <a:avLst/>
          </a:prstGeom>
          <a:solidFill>
            <a:srgbClr val="5C1A2B"/>
          </a:solidFill>
          <a:ln/>
        </p:spPr>
      </p:sp>
      <p:sp>
        <p:nvSpPr>
          <p:cNvPr id="13" name="Text 11"/>
          <p:cNvSpPr/>
          <p:nvPr/>
        </p:nvSpPr>
        <p:spPr>
          <a:xfrm>
            <a:off x="4187952" y="173736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4" name="Text 12"/>
          <p:cNvSpPr/>
          <p:nvPr/>
        </p:nvSpPr>
        <p:spPr>
          <a:xfrm>
            <a:off x="4187952" y="2377440"/>
            <a:ext cx="2862072" cy="777240"/>
          </a:xfrm>
          <a:prstGeom prst="rect">
            <a:avLst/>
          </a:prstGeom>
          <a:noFill/>
          <a:ln/>
        </p:spPr>
        <p:txBody>
          <a:bodyPr wrap="square" lIns="0" tIns="0" rIns="0" bIns="0" rtlCol="0" anchor="ctr"/>
          <a:lstStyle/>
          <a:p>
            <a:pPr indent="0" marL="0">
              <a:lnSpc>
                <a:spcPct val="105000"/>
              </a:lnSpc>
              <a:buNone/>
            </a:pPr>
            <a:r>
              <a:rPr lang="en-US" sz="1600" b="1" dirty="0">
                <a:solidFill>
                  <a:srgbClr val="2B2420"/>
                </a:solidFill>
                <a:latin typeface="Cambria" pitchFamily="34" charset="0"/>
                <a:ea typeface="Cambria" pitchFamily="34" charset="-122"/>
                <a:cs typeface="Cambria" pitchFamily="34" charset="-120"/>
              </a:rPr>
              <a:t>Make membership</a:t>
            </a:r>
            <a:endParaRPr lang="en-US" sz="1600" dirty="0"/>
          </a:p>
          <a:p>
            <a:pPr indent="0" marL="0">
              <a:lnSpc>
                <a:spcPct val="105000"/>
              </a:lnSpc>
              <a:buNone/>
            </a:pPr>
            <a:r>
              <a:rPr lang="en-US" sz="1600" b="1" dirty="0">
                <a:solidFill>
                  <a:srgbClr val="2B2420"/>
                </a:solidFill>
                <a:latin typeface="Cambria" pitchFamily="34" charset="0"/>
                <a:ea typeface="Cambria" pitchFamily="34" charset="-122"/>
                <a:cs typeface="Cambria" pitchFamily="34" charset="-120"/>
              </a:rPr>
              <a:t>part of checkout</a:t>
            </a:r>
            <a:endParaRPr lang="en-US" sz="1600" dirty="0"/>
          </a:p>
        </p:txBody>
      </p:sp>
      <p:sp>
        <p:nvSpPr>
          <p:cNvPr id="15" name="Text 13"/>
          <p:cNvSpPr/>
          <p:nvPr/>
        </p:nvSpPr>
        <p:spPr>
          <a:xfrm>
            <a:off x="4187952" y="3200400"/>
            <a:ext cx="2862072" cy="1874520"/>
          </a:xfrm>
          <a:prstGeom prst="rect">
            <a:avLst/>
          </a:prstGeom>
          <a:noFill/>
          <a:ln/>
        </p:spPr>
        <p:txBody>
          <a:bodyPr wrap="square" lIns="0" tIns="0" rIns="0" bIns="0" rtlCol="0" anchor="ctr"/>
          <a:lstStyle/>
          <a:p>
            <a:pPr indent="0" marL="0">
              <a:lnSpc>
                <a:spcPct val="125000"/>
              </a:lnSpc>
              <a:buNone/>
            </a:pPr>
            <a:r>
              <a:rPr lang="en-US" sz="1150" dirty="0">
                <a:solidFill>
                  <a:srgbClr val="6B655C"/>
                </a:solidFill>
                <a:latin typeface="Calibri" pitchFamily="34" charset="0"/>
                <a:ea typeface="Calibri" pitchFamily="34" charset="-122"/>
                <a:cs typeface="Calibri" pitchFamily="34" charset="-120"/>
              </a:rPr>
              <a:t>Add an active sign-up ask at the till, not a passive option. Members already average 2.5x more per sale — even modest conversion gains compound.</a:t>
            </a:r>
            <a:endParaRPr lang="en-US" sz="1150" dirty="0"/>
          </a:p>
        </p:txBody>
      </p:sp>
      <p:sp>
        <p:nvSpPr>
          <p:cNvPr id="16" name="Shape 14"/>
          <p:cNvSpPr/>
          <p:nvPr/>
        </p:nvSpPr>
        <p:spPr>
          <a:xfrm>
            <a:off x="4187952" y="5029200"/>
            <a:ext cx="2862072" cy="0"/>
          </a:xfrm>
          <a:prstGeom prst="line">
            <a:avLst/>
          </a:prstGeom>
          <a:noFill/>
          <a:ln w="12700">
            <a:solidFill>
              <a:srgbClr val="D8C9B6"/>
            </a:solidFill>
            <a:prstDash val="solid"/>
          </a:ln>
        </p:spPr>
      </p:sp>
      <p:sp>
        <p:nvSpPr>
          <p:cNvPr id="17" name="Text 15"/>
          <p:cNvSpPr/>
          <p:nvPr/>
        </p:nvSpPr>
        <p:spPr>
          <a:xfrm>
            <a:off x="4187952" y="5166360"/>
            <a:ext cx="2862072" cy="731520"/>
          </a:xfrm>
          <a:prstGeom prst="rect">
            <a:avLst/>
          </a:prstGeom>
          <a:noFill/>
          <a:ln/>
        </p:spPr>
        <p:txBody>
          <a:bodyPr wrap="square" lIns="0" tIns="0" rIns="0" bIns="0" rtlCol="0" anchor="ctr"/>
          <a:lstStyle/>
          <a:p>
            <a:pPr indent="0" marL="0">
              <a:lnSpc>
                <a:spcPct val="115000"/>
              </a:lnSpc>
              <a:buNone/>
            </a:pPr>
            <a:r>
              <a:rPr lang="en-US" sz="1100" b="1" i="1" dirty="0">
                <a:solidFill>
                  <a:srgbClr val="5C1A2B"/>
                </a:solidFill>
                <a:latin typeface="Calibri" pitchFamily="34" charset="0"/>
                <a:ea typeface="Calibri" pitchFamily="34" charset="-122"/>
                <a:cs typeface="Calibri" pitchFamily="34" charset="-120"/>
              </a:rPr>
              <a:t>Target: ~2 → 5+ new members a month</a:t>
            </a:r>
            <a:endParaRPr lang="en-US" sz="1100" dirty="0"/>
          </a:p>
        </p:txBody>
      </p:sp>
      <p:sp>
        <p:nvSpPr>
          <p:cNvPr id="18" name="Shape 16"/>
          <p:cNvSpPr/>
          <p:nvPr/>
        </p:nvSpPr>
        <p:spPr>
          <a:xfrm>
            <a:off x="7461504" y="1508760"/>
            <a:ext cx="3319272" cy="4480560"/>
          </a:xfrm>
          <a:prstGeom prst="roundRect">
            <a:avLst>
              <a:gd name="adj" fmla="val 2204"/>
            </a:avLst>
          </a:prstGeom>
          <a:solidFill>
            <a:srgbClr val="FFFFFF"/>
          </a:solidFill>
          <a:ln w="12700">
            <a:solidFill>
              <a:srgbClr val="D8C9B6"/>
            </a:solidFill>
            <a:prstDash val="solid"/>
          </a:ln>
        </p:spPr>
      </p:sp>
      <p:sp>
        <p:nvSpPr>
          <p:cNvPr id="19" name="Shape 17"/>
          <p:cNvSpPr/>
          <p:nvPr/>
        </p:nvSpPr>
        <p:spPr>
          <a:xfrm>
            <a:off x="7690104" y="1737360"/>
            <a:ext cx="502920" cy="502920"/>
          </a:xfrm>
          <a:prstGeom prst="ellipse">
            <a:avLst/>
          </a:prstGeom>
          <a:solidFill>
            <a:srgbClr val="5C1A2B"/>
          </a:solidFill>
          <a:ln/>
        </p:spPr>
      </p:sp>
      <p:sp>
        <p:nvSpPr>
          <p:cNvPr id="20" name="Text 18"/>
          <p:cNvSpPr/>
          <p:nvPr/>
        </p:nvSpPr>
        <p:spPr>
          <a:xfrm>
            <a:off x="7690104" y="173736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21" name="Text 19"/>
          <p:cNvSpPr/>
          <p:nvPr/>
        </p:nvSpPr>
        <p:spPr>
          <a:xfrm>
            <a:off x="7690104" y="2377440"/>
            <a:ext cx="2862072" cy="777240"/>
          </a:xfrm>
          <a:prstGeom prst="rect">
            <a:avLst/>
          </a:prstGeom>
          <a:noFill/>
          <a:ln/>
        </p:spPr>
        <p:txBody>
          <a:bodyPr wrap="square" lIns="0" tIns="0" rIns="0" bIns="0" rtlCol="0" anchor="ctr"/>
          <a:lstStyle/>
          <a:p>
            <a:pPr indent="0" marL="0">
              <a:lnSpc>
                <a:spcPct val="105000"/>
              </a:lnSpc>
              <a:buNone/>
            </a:pPr>
            <a:r>
              <a:rPr lang="en-US" sz="1600" b="1" dirty="0">
                <a:solidFill>
                  <a:srgbClr val="2B2420"/>
                </a:solidFill>
                <a:latin typeface="Cambria" pitchFamily="34" charset="0"/>
                <a:ea typeface="Cambria" pitchFamily="34" charset="-122"/>
                <a:cs typeface="Cambria" pitchFamily="34" charset="-120"/>
              </a:rPr>
              <a:t>Restock the online</a:t>
            </a:r>
            <a:endParaRPr lang="en-US" sz="1600" dirty="0"/>
          </a:p>
          <a:p>
            <a:pPr indent="0" marL="0">
              <a:lnSpc>
                <a:spcPct val="105000"/>
              </a:lnSpc>
              <a:buNone/>
            </a:pPr>
            <a:r>
              <a:rPr lang="en-US" sz="1600" b="1" dirty="0">
                <a:solidFill>
                  <a:srgbClr val="2B2420"/>
                </a:solidFill>
                <a:latin typeface="Cambria" pitchFamily="34" charset="0"/>
                <a:ea typeface="Cambria" pitchFamily="34" charset="-122"/>
                <a:cs typeface="Cambria" pitchFamily="34" charset="-120"/>
              </a:rPr>
              <a:t>best-sellers</a:t>
            </a:r>
            <a:endParaRPr lang="en-US" sz="1600" dirty="0"/>
          </a:p>
        </p:txBody>
      </p:sp>
      <p:sp>
        <p:nvSpPr>
          <p:cNvPr id="22" name="Text 20"/>
          <p:cNvSpPr/>
          <p:nvPr/>
        </p:nvSpPr>
        <p:spPr>
          <a:xfrm>
            <a:off x="7690104" y="3200400"/>
            <a:ext cx="2862072" cy="1874520"/>
          </a:xfrm>
          <a:prstGeom prst="rect">
            <a:avLst/>
          </a:prstGeom>
          <a:noFill/>
          <a:ln/>
        </p:spPr>
        <p:txBody>
          <a:bodyPr wrap="square" lIns="0" tIns="0" rIns="0" bIns="0" rtlCol="0" anchor="ctr"/>
          <a:lstStyle/>
          <a:p>
            <a:pPr indent="0" marL="0">
              <a:lnSpc>
                <a:spcPct val="125000"/>
              </a:lnSpc>
              <a:buNone/>
            </a:pPr>
            <a:r>
              <a:rPr lang="en-US" sz="1150" dirty="0">
                <a:solidFill>
                  <a:srgbClr val="6B655C"/>
                </a:solidFill>
                <a:latin typeface="Calibri" pitchFamily="34" charset="0"/>
                <a:ea typeface="Calibri" pitchFamily="34" charset="-122"/>
                <a:cs typeface="Calibri" pitchFamily="34" charset="-120"/>
              </a:rPr>
              <a:t>Restock or take down the 7 out-of-stock ‘Best seller’ listings on Shopify so featured pages are actually purchasable.</a:t>
            </a:r>
            <a:endParaRPr lang="en-US" sz="1150" dirty="0"/>
          </a:p>
        </p:txBody>
      </p:sp>
      <p:sp>
        <p:nvSpPr>
          <p:cNvPr id="23" name="Shape 21"/>
          <p:cNvSpPr/>
          <p:nvPr/>
        </p:nvSpPr>
        <p:spPr>
          <a:xfrm>
            <a:off x="7690104" y="5029200"/>
            <a:ext cx="2862072" cy="0"/>
          </a:xfrm>
          <a:prstGeom prst="line">
            <a:avLst/>
          </a:prstGeom>
          <a:noFill/>
          <a:ln w="12700">
            <a:solidFill>
              <a:srgbClr val="D8C9B6"/>
            </a:solidFill>
            <a:prstDash val="solid"/>
          </a:ln>
        </p:spPr>
      </p:sp>
      <p:sp>
        <p:nvSpPr>
          <p:cNvPr id="24" name="Text 22"/>
          <p:cNvSpPr/>
          <p:nvPr/>
        </p:nvSpPr>
        <p:spPr>
          <a:xfrm>
            <a:off x="7690104" y="5166360"/>
            <a:ext cx="2862072" cy="731520"/>
          </a:xfrm>
          <a:prstGeom prst="rect">
            <a:avLst/>
          </a:prstGeom>
          <a:noFill/>
          <a:ln/>
        </p:spPr>
        <p:txBody>
          <a:bodyPr wrap="square" lIns="0" tIns="0" rIns="0" bIns="0" rtlCol="0" anchor="ctr"/>
          <a:lstStyle/>
          <a:p>
            <a:pPr indent="0" marL="0">
              <a:lnSpc>
                <a:spcPct val="115000"/>
              </a:lnSpc>
              <a:buNone/>
            </a:pPr>
            <a:r>
              <a:rPr lang="en-US" sz="1100" b="1" i="1" dirty="0">
                <a:solidFill>
                  <a:srgbClr val="5C1A2B"/>
                </a:solidFill>
                <a:latin typeface="Calibri" pitchFamily="34" charset="0"/>
                <a:ea typeface="Calibri" pitchFamily="34" charset="-122"/>
                <a:cs typeface="Calibri" pitchFamily="34" charset="-120"/>
              </a:rPr>
              <a:t>Cheap, quick fix — just not the highest-leverage one</a:t>
            </a:r>
            <a:endParaRPr lang="en-US" sz="1100" dirty="0"/>
          </a:p>
        </p:txBody>
      </p:sp>
      <p:sp>
        <p:nvSpPr>
          <p:cNvPr id="25" name="Text 23"/>
          <p:cNvSpPr/>
          <p:nvPr/>
        </p:nvSpPr>
        <p:spPr>
          <a:xfrm>
            <a:off x="11277295" y="6355080"/>
            <a:ext cx="548640" cy="320040"/>
          </a:xfrm>
          <a:prstGeom prst="rect">
            <a:avLst/>
          </a:prstGeom>
          <a:noFill/>
          <a:ln/>
        </p:spPr>
        <p:txBody>
          <a:bodyPr wrap="square" rtlCol="0" anchor="ctr"/>
          <a:lstStyle/>
          <a:p>
            <a:pPr algn="r" indent="0" marL="0">
              <a:buNone/>
            </a:pPr>
            <a:r>
              <a:rPr lang="en-US" sz="1000" dirty="0">
                <a:solidFill>
                  <a:srgbClr val="6B655C"/>
                </a:solidFill>
                <a:latin typeface="Calibri" pitchFamily="34" charset="0"/>
                <a:ea typeface="Calibri" pitchFamily="34" charset="-122"/>
                <a:cs typeface="Calibri" pitchFamily="34" charset="-120"/>
              </a:rPr>
              <a:t>09</a:t>
            </a:r>
            <a:endParaRPr lang="en-US" sz="1000" dirty="0"/>
          </a:p>
        </p:txBody>
      </p:sp>
      <p:sp>
        <p:nvSpPr>
          <p:cNvPr id="26" name="Text 24"/>
          <p:cNvSpPr/>
          <p:nvPr/>
        </p:nvSpPr>
        <p:spPr>
          <a:xfrm>
            <a:off x="457200" y="6355080"/>
            <a:ext cx="2743200" cy="320040"/>
          </a:xfrm>
          <a:prstGeom prst="rect">
            <a:avLst/>
          </a:prstGeom>
          <a:noFill/>
          <a:ln/>
        </p:spPr>
        <p:txBody>
          <a:bodyPr wrap="square" rtlCol="0" anchor="ctr"/>
          <a:lstStyle/>
          <a:p>
            <a:pPr indent="0" marL="0">
              <a:buNone/>
            </a:pPr>
            <a:r>
              <a:rPr lang="en-US" sz="1000" spc="200" kern="0" dirty="0">
                <a:solidFill>
                  <a:srgbClr val="6B655C"/>
                </a:solidFill>
                <a:latin typeface="Calibri" pitchFamily="34" charset="0"/>
                <a:ea typeface="Calibri" pitchFamily="34" charset="-122"/>
                <a:cs typeface="Calibri" pitchFamily="34" charset="-120"/>
              </a:rPr>
              <a:t>CELLAR V</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DFCFA"/>
        </a:solidFill>
      </p:bgPr>
    </p:bg>
    <p:spTree>
      <p:nvGrpSpPr>
        <p:cNvPr id="1" name=""/>
        <p:cNvGrpSpPr/>
        <p:nvPr/>
      </p:nvGrpSpPr>
      <p:grpSpPr>
        <a:xfrm>
          <a:off x="0" y="0"/>
          <a:ext cx="0" cy="0"/>
          <a:chOff x="0" y="0"/>
          <a:chExt cx="0" cy="0"/>
        </a:xfrm>
      </p:grpSpPr>
      <p:sp>
        <p:nvSpPr>
          <p:cNvPr id="2" name="Text 0"/>
          <p:cNvSpPr/>
          <p:nvPr/>
        </p:nvSpPr>
        <p:spPr>
          <a:xfrm>
            <a:off x="457200" y="411480"/>
            <a:ext cx="7315200" cy="320040"/>
          </a:xfrm>
          <a:prstGeom prst="rect">
            <a:avLst/>
          </a:prstGeom>
          <a:noFill/>
          <a:ln/>
        </p:spPr>
        <p:txBody>
          <a:bodyPr wrap="square" lIns="0" tIns="0" rIns="0" bIns="0" rtlCol="0" anchor="ctr"/>
          <a:lstStyle/>
          <a:p>
            <a:pPr indent="0" marL="0">
              <a:buNone/>
            </a:pPr>
            <a:r>
              <a:rPr lang="en-US" sz="1200" b="1" spc="200" kern="0" dirty="0">
                <a:solidFill>
                  <a:srgbClr val="C9A227"/>
                </a:solidFill>
                <a:latin typeface="Calibri" pitchFamily="34" charset="0"/>
                <a:ea typeface="Calibri" pitchFamily="34" charset="-122"/>
                <a:cs typeface="Calibri" pitchFamily="34" charset="-120"/>
              </a:rPr>
              <a:t>ASSUMPTIONS &amp; LIMITATIONS</a:t>
            </a:r>
            <a:endParaRPr lang="en-US" sz="1200" dirty="0"/>
          </a:p>
        </p:txBody>
      </p:sp>
      <p:sp>
        <p:nvSpPr>
          <p:cNvPr id="3" name="Text 1"/>
          <p:cNvSpPr/>
          <p:nvPr/>
        </p:nvSpPr>
        <p:spPr>
          <a:xfrm>
            <a:off x="457200" y="731520"/>
            <a:ext cx="10332720" cy="548640"/>
          </a:xfrm>
          <a:prstGeom prst="rect">
            <a:avLst/>
          </a:prstGeom>
          <a:noFill/>
          <a:ln/>
        </p:spPr>
        <p:txBody>
          <a:bodyPr wrap="square" lIns="0" tIns="0" rIns="0" bIns="0" rtlCol="0" anchor="ctr"/>
          <a:lstStyle/>
          <a:p>
            <a:pPr indent="0" marL="0">
              <a:lnSpc>
                <a:spcPct val="105000"/>
              </a:lnSpc>
              <a:buNone/>
            </a:pPr>
            <a:r>
              <a:rPr lang="en-US" sz="2700" b="1" dirty="0">
                <a:solidFill>
                  <a:srgbClr val="2B2420"/>
                </a:solidFill>
                <a:latin typeface="Cambria" pitchFamily="34" charset="0"/>
                <a:ea typeface="Cambria" pitchFamily="34" charset="-122"/>
                <a:cs typeface="Cambria" pitchFamily="34" charset="-120"/>
              </a:rPr>
              <a:t>What would change this analysis.</a:t>
            </a:r>
            <a:endParaRPr lang="en-US" sz="2700" dirty="0"/>
          </a:p>
        </p:txBody>
      </p:sp>
      <p:sp>
        <p:nvSpPr>
          <p:cNvPr id="4" name="Shape 2"/>
          <p:cNvSpPr/>
          <p:nvPr/>
        </p:nvSpPr>
        <p:spPr>
          <a:xfrm>
            <a:off x="457200" y="1508760"/>
            <a:ext cx="5029200" cy="1965960"/>
          </a:xfrm>
          <a:prstGeom prst="roundRect">
            <a:avLst>
              <a:gd name="adj" fmla="val 3721"/>
            </a:avLst>
          </a:prstGeom>
          <a:solidFill>
            <a:srgbClr val="FFFFFF"/>
          </a:solidFill>
          <a:ln w="12700">
            <a:solidFill>
              <a:srgbClr val="D8C9B6"/>
            </a:solidFill>
            <a:prstDash val="solid"/>
          </a:ln>
        </p:spPr>
      </p:sp>
      <p:sp>
        <p:nvSpPr>
          <p:cNvPr id="5" name="Text 3"/>
          <p:cNvSpPr/>
          <p:nvPr/>
        </p:nvSpPr>
        <p:spPr>
          <a:xfrm>
            <a:off x="685800" y="1691640"/>
            <a:ext cx="4572000" cy="411480"/>
          </a:xfrm>
          <a:prstGeom prst="rect">
            <a:avLst/>
          </a:prstGeom>
          <a:noFill/>
          <a:ln/>
        </p:spPr>
        <p:txBody>
          <a:bodyPr wrap="square" lIns="0" tIns="0" rIns="0" bIns="0" rtlCol="0" anchor="ctr"/>
          <a:lstStyle/>
          <a:p>
            <a:pPr indent="0" marL="0">
              <a:buNone/>
            </a:pPr>
            <a:r>
              <a:rPr lang="en-US" sz="1400" b="1" dirty="0">
                <a:solidFill>
                  <a:srgbClr val="5C1A2B"/>
                </a:solidFill>
                <a:latin typeface="Cambria" pitchFamily="34" charset="0"/>
                <a:ea typeface="Cambria" pitchFamily="34" charset="-122"/>
                <a:cs typeface="Cambria" pitchFamily="34" charset="-120"/>
              </a:rPr>
              <a:t>Partial-year 2026</a:t>
            </a:r>
            <a:endParaRPr lang="en-US" sz="1400" dirty="0"/>
          </a:p>
        </p:txBody>
      </p:sp>
      <p:sp>
        <p:nvSpPr>
          <p:cNvPr id="6" name="Text 4"/>
          <p:cNvSpPr/>
          <p:nvPr/>
        </p:nvSpPr>
        <p:spPr>
          <a:xfrm>
            <a:off x="685800" y="2130552"/>
            <a:ext cx="4572000" cy="1143000"/>
          </a:xfrm>
          <a:prstGeom prst="rect">
            <a:avLst/>
          </a:prstGeom>
          <a:noFill/>
          <a:ln/>
        </p:spPr>
        <p:txBody>
          <a:bodyPr wrap="square" lIns="0" tIns="0" rIns="0" bIns="0" rtlCol="0" anchor="ctr"/>
          <a:lstStyle/>
          <a:p>
            <a:pPr indent="0" marL="0">
              <a:lnSpc>
                <a:spcPct val="120000"/>
              </a:lnSpc>
              <a:buNone/>
            </a:pPr>
            <a:r>
              <a:rPr lang="en-US" sz="1150" dirty="0">
                <a:solidFill>
                  <a:srgbClr val="6B655C"/>
                </a:solidFill>
                <a:latin typeface="Calibri" pitchFamily="34" charset="0"/>
                <a:ea typeface="Calibri" pitchFamily="34" charset="-122"/>
                <a:cs typeface="Calibri" pitchFamily="34" charset="-120"/>
              </a:rPr>
              <a:t>The recovery estimate is an illustration of what the combined numbers imply today — not a forecast of how guests would respond to less discounting.</a:t>
            </a:r>
            <a:endParaRPr lang="en-US" sz="1150" dirty="0"/>
          </a:p>
        </p:txBody>
      </p:sp>
      <p:sp>
        <p:nvSpPr>
          <p:cNvPr id="7" name="Shape 5"/>
          <p:cNvSpPr/>
          <p:nvPr/>
        </p:nvSpPr>
        <p:spPr>
          <a:xfrm>
            <a:off x="5760720" y="1508760"/>
            <a:ext cx="5029200" cy="1965960"/>
          </a:xfrm>
          <a:prstGeom prst="roundRect">
            <a:avLst>
              <a:gd name="adj" fmla="val 3721"/>
            </a:avLst>
          </a:prstGeom>
          <a:solidFill>
            <a:srgbClr val="FFFFFF"/>
          </a:solidFill>
          <a:ln w="12700">
            <a:solidFill>
              <a:srgbClr val="D8C9B6"/>
            </a:solidFill>
            <a:prstDash val="solid"/>
          </a:ln>
        </p:spPr>
      </p:sp>
      <p:sp>
        <p:nvSpPr>
          <p:cNvPr id="8" name="Text 6"/>
          <p:cNvSpPr/>
          <p:nvPr/>
        </p:nvSpPr>
        <p:spPr>
          <a:xfrm>
            <a:off x="5989320" y="1691640"/>
            <a:ext cx="4572000" cy="411480"/>
          </a:xfrm>
          <a:prstGeom prst="rect">
            <a:avLst/>
          </a:prstGeom>
          <a:noFill/>
          <a:ln/>
        </p:spPr>
        <p:txBody>
          <a:bodyPr wrap="square" lIns="0" tIns="0" rIns="0" bIns="0" rtlCol="0" anchor="ctr"/>
          <a:lstStyle/>
          <a:p>
            <a:pPr indent="0" marL="0">
              <a:buNone/>
            </a:pPr>
            <a:r>
              <a:rPr lang="en-US" sz="1400" b="1" dirty="0">
                <a:solidFill>
                  <a:srgbClr val="5C1A2B"/>
                </a:solidFill>
                <a:latin typeface="Cambria" pitchFamily="34" charset="0"/>
                <a:ea typeface="Cambria" pitchFamily="34" charset="-122"/>
                <a:cs typeface="Cambria" pitchFamily="34" charset="-120"/>
              </a:rPr>
              <a:t>“Custom Discount” is one bucket</a:t>
            </a:r>
            <a:endParaRPr lang="en-US" sz="1400" dirty="0"/>
          </a:p>
        </p:txBody>
      </p:sp>
      <p:sp>
        <p:nvSpPr>
          <p:cNvPr id="9" name="Text 7"/>
          <p:cNvSpPr/>
          <p:nvPr/>
        </p:nvSpPr>
        <p:spPr>
          <a:xfrm>
            <a:off x="5989320" y="2130552"/>
            <a:ext cx="4572000" cy="1143000"/>
          </a:xfrm>
          <a:prstGeom prst="rect">
            <a:avLst/>
          </a:prstGeom>
          <a:noFill/>
          <a:ln/>
        </p:spPr>
        <p:txBody>
          <a:bodyPr wrap="square" lIns="0" tIns="0" rIns="0" bIns="0" rtlCol="0" anchor="ctr"/>
          <a:lstStyle/>
          <a:p>
            <a:pPr indent="0" marL="0">
              <a:lnSpc>
                <a:spcPct val="120000"/>
              </a:lnSpc>
              <a:buNone/>
            </a:pPr>
            <a:r>
              <a:rPr lang="en-US" sz="1150" dirty="0">
                <a:solidFill>
                  <a:srgbClr val="6B655C"/>
                </a:solidFill>
                <a:latin typeface="Calibri" pitchFamily="34" charset="0"/>
                <a:ea typeface="Calibri" pitchFamily="34" charset="-122"/>
                <a:cs typeface="Calibri" pitchFamily="34" charset="-120"/>
              </a:rPr>
              <a:t>It likely mixes happy-hour pricing, staff comps, and genuine promotions together. The 19.8% rate is a ceiling on discretionary discounting, not proof any one promotion was wrong.</a:t>
            </a:r>
            <a:endParaRPr lang="en-US" sz="1150" dirty="0"/>
          </a:p>
        </p:txBody>
      </p:sp>
      <p:sp>
        <p:nvSpPr>
          <p:cNvPr id="10" name="Shape 8"/>
          <p:cNvSpPr/>
          <p:nvPr/>
        </p:nvSpPr>
        <p:spPr>
          <a:xfrm>
            <a:off x="457200" y="3703320"/>
            <a:ext cx="5029200" cy="1965960"/>
          </a:xfrm>
          <a:prstGeom prst="roundRect">
            <a:avLst>
              <a:gd name="adj" fmla="val 3721"/>
            </a:avLst>
          </a:prstGeom>
          <a:solidFill>
            <a:srgbClr val="FFFFFF"/>
          </a:solidFill>
          <a:ln w="12700">
            <a:solidFill>
              <a:srgbClr val="D8C9B6"/>
            </a:solidFill>
            <a:prstDash val="solid"/>
          </a:ln>
        </p:spPr>
      </p:sp>
      <p:sp>
        <p:nvSpPr>
          <p:cNvPr id="11" name="Text 9"/>
          <p:cNvSpPr/>
          <p:nvPr/>
        </p:nvSpPr>
        <p:spPr>
          <a:xfrm>
            <a:off x="685800" y="3886200"/>
            <a:ext cx="4572000" cy="411480"/>
          </a:xfrm>
          <a:prstGeom prst="rect">
            <a:avLst/>
          </a:prstGeom>
          <a:noFill/>
          <a:ln/>
        </p:spPr>
        <p:txBody>
          <a:bodyPr wrap="square" lIns="0" tIns="0" rIns="0" bIns="0" rtlCol="0" anchor="ctr"/>
          <a:lstStyle/>
          <a:p>
            <a:pPr indent="0" marL="0">
              <a:buNone/>
            </a:pPr>
            <a:r>
              <a:rPr lang="en-US" sz="1400" b="1" dirty="0">
                <a:solidFill>
                  <a:srgbClr val="5C1A2B"/>
                </a:solidFill>
                <a:latin typeface="Cambria" pitchFamily="34" charset="0"/>
                <a:ea typeface="Cambria" pitchFamily="34" charset="-122"/>
                <a:cs typeface="Cambria" pitchFamily="34" charset="-120"/>
              </a:rPr>
              <a:t>Member value is correlational</a:t>
            </a:r>
            <a:endParaRPr lang="en-US" sz="1400" dirty="0"/>
          </a:p>
        </p:txBody>
      </p:sp>
      <p:sp>
        <p:nvSpPr>
          <p:cNvPr id="12" name="Text 10"/>
          <p:cNvSpPr/>
          <p:nvPr/>
        </p:nvSpPr>
        <p:spPr>
          <a:xfrm>
            <a:off x="685800" y="4325112"/>
            <a:ext cx="4572000" cy="1143000"/>
          </a:xfrm>
          <a:prstGeom prst="rect">
            <a:avLst/>
          </a:prstGeom>
          <a:noFill/>
          <a:ln/>
        </p:spPr>
        <p:txBody>
          <a:bodyPr wrap="square" lIns="0" tIns="0" rIns="0" bIns="0" rtlCol="0" anchor="ctr"/>
          <a:lstStyle/>
          <a:p>
            <a:pPr indent="0" marL="0">
              <a:lnSpc>
                <a:spcPct val="120000"/>
              </a:lnSpc>
              <a:buNone/>
            </a:pPr>
            <a:r>
              <a:rPr lang="en-US" sz="1150" dirty="0">
                <a:solidFill>
                  <a:srgbClr val="6B655C"/>
                </a:solidFill>
                <a:latin typeface="Calibri" pitchFamily="34" charset="0"/>
                <a:ea typeface="Calibri" pitchFamily="34" charset="-122"/>
                <a:cs typeface="Calibri" pitchFamily="34" charset="-120"/>
              </a:rPr>
              <a:t>Members may simply be more frequent or affluent regulars who’d spend more regardless. The 2.5x gap is a reason to test a more active ask, not proof membership itself drives spending.</a:t>
            </a:r>
            <a:endParaRPr lang="en-US" sz="1150" dirty="0"/>
          </a:p>
        </p:txBody>
      </p:sp>
      <p:sp>
        <p:nvSpPr>
          <p:cNvPr id="13" name="Shape 11"/>
          <p:cNvSpPr/>
          <p:nvPr/>
        </p:nvSpPr>
        <p:spPr>
          <a:xfrm>
            <a:off x="5760720" y="3703320"/>
            <a:ext cx="5029200" cy="1965960"/>
          </a:xfrm>
          <a:prstGeom prst="roundRect">
            <a:avLst>
              <a:gd name="adj" fmla="val 3721"/>
            </a:avLst>
          </a:prstGeom>
          <a:solidFill>
            <a:srgbClr val="FFFFFF"/>
          </a:solidFill>
          <a:ln w="12700">
            <a:solidFill>
              <a:srgbClr val="D8C9B6"/>
            </a:solidFill>
            <a:prstDash val="solid"/>
          </a:ln>
        </p:spPr>
      </p:sp>
      <p:sp>
        <p:nvSpPr>
          <p:cNvPr id="14" name="Text 12"/>
          <p:cNvSpPr/>
          <p:nvPr/>
        </p:nvSpPr>
        <p:spPr>
          <a:xfrm>
            <a:off x="5989320" y="3886200"/>
            <a:ext cx="4572000" cy="411480"/>
          </a:xfrm>
          <a:prstGeom prst="rect">
            <a:avLst/>
          </a:prstGeom>
          <a:noFill/>
          <a:ln/>
        </p:spPr>
        <p:txBody>
          <a:bodyPr wrap="square" lIns="0" tIns="0" rIns="0" bIns="0" rtlCol="0" anchor="ctr"/>
          <a:lstStyle/>
          <a:p>
            <a:pPr indent="0" marL="0">
              <a:buNone/>
            </a:pPr>
            <a:r>
              <a:rPr lang="en-US" sz="1400" b="1" dirty="0">
                <a:solidFill>
                  <a:srgbClr val="5C1A2B"/>
                </a:solidFill>
                <a:latin typeface="Cambria" pitchFamily="34" charset="0"/>
                <a:ea typeface="Cambria" pitchFamily="34" charset="-122"/>
                <a:cs typeface="Cambria" pitchFamily="34" charset="-120"/>
              </a:rPr>
              <a:t>Two catalogs, not merged</a:t>
            </a:r>
            <a:endParaRPr lang="en-US" sz="1400" dirty="0"/>
          </a:p>
        </p:txBody>
      </p:sp>
      <p:sp>
        <p:nvSpPr>
          <p:cNvPr id="15" name="Text 13"/>
          <p:cNvSpPr/>
          <p:nvPr/>
        </p:nvSpPr>
        <p:spPr>
          <a:xfrm>
            <a:off x="5989320" y="4325112"/>
            <a:ext cx="4572000" cy="1143000"/>
          </a:xfrm>
          <a:prstGeom prst="rect">
            <a:avLst/>
          </a:prstGeom>
          <a:noFill/>
          <a:ln/>
        </p:spPr>
        <p:txBody>
          <a:bodyPr wrap="square" lIns="0" tIns="0" rIns="0" bIns="0" rtlCol="0" anchor="ctr"/>
          <a:lstStyle/>
          <a:p>
            <a:pPr indent="0" marL="0">
              <a:lnSpc>
                <a:spcPct val="120000"/>
              </a:lnSpc>
              <a:buNone/>
            </a:pPr>
            <a:r>
              <a:rPr lang="en-US" sz="1150" dirty="0">
                <a:solidFill>
                  <a:srgbClr val="6B655C"/>
                </a:solidFill>
                <a:latin typeface="Calibri" pitchFamily="34" charset="0"/>
                <a:ea typeface="Calibri" pitchFamily="34" charset="-122"/>
                <a:cs typeface="Calibri" pitchFamily="34" charset="-120"/>
              </a:rPr>
              <a:t>The online and in-person product lists run on separate systems with different pricing — the out-of-stock analysis applies to the online store only, which has no live in-person equivalent.</a:t>
            </a:r>
            <a:endParaRPr lang="en-US" sz="1150" dirty="0"/>
          </a:p>
        </p:txBody>
      </p:sp>
      <p:sp>
        <p:nvSpPr>
          <p:cNvPr id="16" name="Text 14"/>
          <p:cNvSpPr/>
          <p:nvPr/>
        </p:nvSpPr>
        <p:spPr>
          <a:xfrm>
            <a:off x="11277295" y="6355080"/>
            <a:ext cx="548640" cy="320040"/>
          </a:xfrm>
          <a:prstGeom prst="rect">
            <a:avLst/>
          </a:prstGeom>
          <a:noFill/>
          <a:ln/>
        </p:spPr>
        <p:txBody>
          <a:bodyPr wrap="square" rtlCol="0" anchor="ctr"/>
          <a:lstStyle/>
          <a:p>
            <a:pPr algn="r" indent="0" marL="0">
              <a:buNone/>
            </a:pPr>
            <a:r>
              <a:rPr lang="en-US" sz="1000" dirty="0">
                <a:solidFill>
                  <a:srgbClr val="6B655C"/>
                </a:solidFill>
                <a:latin typeface="Calibri" pitchFamily="34" charset="0"/>
                <a:ea typeface="Calibri" pitchFamily="34" charset="-122"/>
                <a:cs typeface="Calibri" pitchFamily="34" charset="-120"/>
              </a:rPr>
              <a:t>10</a:t>
            </a:r>
            <a:endParaRPr lang="en-US" sz="1000" dirty="0"/>
          </a:p>
        </p:txBody>
      </p:sp>
      <p:sp>
        <p:nvSpPr>
          <p:cNvPr id="17" name="Text 15"/>
          <p:cNvSpPr/>
          <p:nvPr/>
        </p:nvSpPr>
        <p:spPr>
          <a:xfrm>
            <a:off x="457200" y="6355080"/>
            <a:ext cx="2743200" cy="320040"/>
          </a:xfrm>
          <a:prstGeom prst="rect">
            <a:avLst/>
          </a:prstGeom>
          <a:noFill/>
          <a:ln/>
        </p:spPr>
        <p:txBody>
          <a:bodyPr wrap="square" rtlCol="0" anchor="ctr"/>
          <a:lstStyle/>
          <a:p>
            <a:pPr indent="0" marL="0">
              <a:buNone/>
            </a:pPr>
            <a:r>
              <a:rPr lang="en-US" sz="1000" spc="200" kern="0" dirty="0">
                <a:solidFill>
                  <a:srgbClr val="6B655C"/>
                </a:solidFill>
                <a:latin typeface="Calibri" pitchFamily="34" charset="0"/>
                <a:ea typeface="Calibri" pitchFamily="34" charset="-122"/>
                <a:cs typeface="Calibri" pitchFamily="34" charset="-120"/>
              </a:rPr>
              <a:t>CELLAR V</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DFCFA"/>
        </a:solidFill>
      </p:bgPr>
    </p:bg>
    <p:spTree>
      <p:nvGrpSpPr>
        <p:cNvPr id="1" name=""/>
        <p:cNvGrpSpPr/>
        <p:nvPr/>
      </p:nvGrpSpPr>
      <p:grpSpPr>
        <a:xfrm>
          <a:off x="0" y="0"/>
          <a:ext cx="0" cy="0"/>
          <a:chOff x="0" y="0"/>
          <a:chExt cx="0" cy="0"/>
        </a:xfrm>
      </p:grpSpPr>
      <p:sp>
        <p:nvSpPr>
          <p:cNvPr id="2" name="Text 0"/>
          <p:cNvSpPr/>
          <p:nvPr/>
        </p:nvSpPr>
        <p:spPr>
          <a:xfrm>
            <a:off x="457200" y="411480"/>
            <a:ext cx="7315200" cy="320040"/>
          </a:xfrm>
          <a:prstGeom prst="rect">
            <a:avLst/>
          </a:prstGeom>
          <a:noFill/>
          <a:ln/>
        </p:spPr>
        <p:txBody>
          <a:bodyPr wrap="square" lIns="0" tIns="0" rIns="0" bIns="0" rtlCol="0" anchor="ctr"/>
          <a:lstStyle/>
          <a:p>
            <a:pPr indent="0" marL="0">
              <a:buNone/>
            </a:pPr>
            <a:r>
              <a:rPr lang="en-US" sz="1200" b="1" spc="200" kern="0" dirty="0">
                <a:solidFill>
                  <a:srgbClr val="C9A227"/>
                </a:solidFill>
                <a:latin typeface="Calibri" pitchFamily="34" charset="0"/>
                <a:ea typeface="Calibri" pitchFamily="34" charset="-122"/>
                <a:cs typeface="Calibri" pitchFamily="34" charset="-120"/>
              </a:rPr>
              <a:t>NEXT 90 DAYS</a:t>
            </a:r>
            <a:endParaRPr lang="en-US" sz="1200" dirty="0"/>
          </a:p>
        </p:txBody>
      </p:sp>
      <p:sp>
        <p:nvSpPr>
          <p:cNvPr id="3" name="Text 1"/>
          <p:cNvSpPr/>
          <p:nvPr/>
        </p:nvSpPr>
        <p:spPr>
          <a:xfrm>
            <a:off x="457200" y="731520"/>
            <a:ext cx="10332720" cy="548640"/>
          </a:xfrm>
          <a:prstGeom prst="rect">
            <a:avLst/>
          </a:prstGeom>
          <a:noFill/>
          <a:ln/>
        </p:spPr>
        <p:txBody>
          <a:bodyPr wrap="square" lIns="0" tIns="0" rIns="0" bIns="0" rtlCol="0" anchor="ctr"/>
          <a:lstStyle/>
          <a:p>
            <a:pPr indent="0" marL="0">
              <a:lnSpc>
                <a:spcPct val="105000"/>
              </a:lnSpc>
              <a:buNone/>
            </a:pPr>
            <a:r>
              <a:rPr lang="en-US" sz="2700" b="1" dirty="0">
                <a:solidFill>
                  <a:srgbClr val="2B2420"/>
                </a:solidFill>
                <a:latin typeface="Cambria" pitchFamily="34" charset="0"/>
                <a:ea typeface="Cambria" pitchFamily="34" charset="-122"/>
                <a:cs typeface="Cambria" pitchFamily="34" charset="-120"/>
              </a:rPr>
              <a:t>Roadmap &amp; the KPIs I’ll track weekly.</a:t>
            </a:r>
            <a:endParaRPr lang="en-US" sz="2700" dirty="0"/>
          </a:p>
        </p:txBody>
      </p:sp>
      <p:sp>
        <p:nvSpPr>
          <p:cNvPr id="4" name="Shape 2"/>
          <p:cNvSpPr/>
          <p:nvPr/>
        </p:nvSpPr>
        <p:spPr>
          <a:xfrm>
            <a:off x="457200" y="1508760"/>
            <a:ext cx="3319272" cy="1554480"/>
          </a:xfrm>
          <a:prstGeom prst="roundRect">
            <a:avLst>
              <a:gd name="adj" fmla="val 4706"/>
            </a:avLst>
          </a:prstGeom>
          <a:solidFill>
            <a:srgbClr val="E5DCD3"/>
          </a:solidFill>
          <a:ln/>
        </p:spPr>
      </p:sp>
      <p:sp>
        <p:nvSpPr>
          <p:cNvPr id="5" name="Text 3"/>
          <p:cNvSpPr/>
          <p:nvPr/>
        </p:nvSpPr>
        <p:spPr>
          <a:xfrm>
            <a:off x="685800" y="1673352"/>
            <a:ext cx="2862072" cy="320040"/>
          </a:xfrm>
          <a:prstGeom prst="rect">
            <a:avLst/>
          </a:prstGeom>
          <a:noFill/>
          <a:ln/>
        </p:spPr>
        <p:txBody>
          <a:bodyPr wrap="square" lIns="0" tIns="0" rIns="0" bIns="0" rtlCol="0" anchor="ctr"/>
          <a:lstStyle/>
          <a:p>
            <a:pPr indent="0" marL="0">
              <a:buNone/>
            </a:pPr>
            <a:r>
              <a:rPr lang="en-US" sz="1500" b="1" dirty="0">
                <a:solidFill>
                  <a:srgbClr val="5C1A2B"/>
                </a:solidFill>
                <a:latin typeface="Cambria" pitchFamily="34" charset="0"/>
                <a:ea typeface="Cambria" pitchFamily="34" charset="-122"/>
                <a:cs typeface="Cambria" pitchFamily="34" charset="-120"/>
              </a:rPr>
              <a:t>Month 1</a:t>
            </a:r>
            <a:endParaRPr lang="en-US" sz="1500" dirty="0"/>
          </a:p>
        </p:txBody>
      </p:sp>
      <p:sp>
        <p:nvSpPr>
          <p:cNvPr id="6" name="Text 4"/>
          <p:cNvSpPr/>
          <p:nvPr/>
        </p:nvSpPr>
        <p:spPr>
          <a:xfrm>
            <a:off x="685800" y="2057400"/>
            <a:ext cx="2862072" cy="822960"/>
          </a:xfrm>
          <a:prstGeom prst="rect">
            <a:avLst/>
          </a:prstGeom>
          <a:noFill/>
          <a:ln/>
        </p:spPr>
        <p:txBody>
          <a:bodyPr wrap="square" lIns="0" tIns="0" rIns="0" bIns="0" rtlCol="0" anchor="ctr"/>
          <a:lstStyle/>
          <a:p>
            <a:pPr indent="0" marL="0">
              <a:lnSpc>
                <a:spcPct val="120000"/>
              </a:lnSpc>
              <a:buNone/>
            </a:pPr>
            <a:r>
              <a:rPr lang="en-US" sz="1200" dirty="0">
                <a:solidFill>
                  <a:srgbClr val="2B2420"/>
                </a:solidFill>
                <a:latin typeface="Calibri" pitchFamily="34" charset="0"/>
                <a:ea typeface="Calibri" pitchFamily="34" charset="-122"/>
                <a:cs typeface="Calibri" pitchFamily="34" charset="-120"/>
              </a:rPr>
              <a:t>Roll out discount policy tiers; launch a POS membership sign-up prompt.</a:t>
            </a:r>
            <a:endParaRPr lang="en-US" sz="1200" dirty="0"/>
          </a:p>
        </p:txBody>
      </p:sp>
      <p:sp>
        <p:nvSpPr>
          <p:cNvPr id="7" name="Shape 5"/>
          <p:cNvSpPr/>
          <p:nvPr/>
        </p:nvSpPr>
        <p:spPr>
          <a:xfrm>
            <a:off x="3959352" y="1508760"/>
            <a:ext cx="3319272" cy="1554480"/>
          </a:xfrm>
          <a:prstGeom prst="roundRect">
            <a:avLst>
              <a:gd name="adj" fmla="val 4706"/>
            </a:avLst>
          </a:prstGeom>
          <a:solidFill>
            <a:srgbClr val="E5DCD3"/>
          </a:solidFill>
          <a:ln/>
        </p:spPr>
      </p:sp>
      <p:sp>
        <p:nvSpPr>
          <p:cNvPr id="8" name="Text 6"/>
          <p:cNvSpPr/>
          <p:nvPr/>
        </p:nvSpPr>
        <p:spPr>
          <a:xfrm>
            <a:off x="4187952" y="1673352"/>
            <a:ext cx="2862072" cy="320040"/>
          </a:xfrm>
          <a:prstGeom prst="rect">
            <a:avLst/>
          </a:prstGeom>
          <a:noFill/>
          <a:ln/>
        </p:spPr>
        <p:txBody>
          <a:bodyPr wrap="square" lIns="0" tIns="0" rIns="0" bIns="0" rtlCol="0" anchor="ctr"/>
          <a:lstStyle/>
          <a:p>
            <a:pPr indent="0" marL="0">
              <a:buNone/>
            </a:pPr>
            <a:r>
              <a:rPr lang="en-US" sz="1500" b="1" dirty="0">
                <a:solidFill>
                  <a:srgbClr val="5C1A2B"/>
                </a:solidFill>
                <a:latin typeface="Cambria" pitchFamily="34" charset="0"/>
                <a:ea typeface="Cambria" pitchFamily="34" charset="-122"/>
                <a:cs typeface="Cambria" pitchFamily="34" charset="-120"/>
              </a:rPr>
              <a:t>Month 2</a:t>
            </a:r>
            <a:endParaRPr lang="en-US" sz="1500" dirty="0"/>
          </a:p>
        </p:txBody>
      </p:sp>
      <p:sp>
        <p:nvSpPr>
          <p:cNvPr id="9" name="Text 7"/>
          <p:cNvSpPr/>
          <p:nvPr/>
        </p:nvSpPr>
        <p:spPr>
          <a:xfrm>
            <a:off x="4187952" y="2057400"/>
            <a:ext cx="2862072" cy="822960"/>
          </a:xfrm>
          <a:prstGeom prst="rect">
            <a:avLst/>
          </a:prstGeom>
          <a:noFill/>
          <a:ln/>
        </p:spPr>
        <p:txBody>
          <a:bodyPr wrap="square" lIns="0" tIns="0" rIns="0" bIns="0" rtlCol="0" anchor="ctr"/>
          <a:lstStyle/>
          <a:p>
            <a:pPr indent="0" marL="0">
              <a:lnSpc>
                <a:spcPct val="120000"/>
              </a:lnSpc>
              <a:buNone/>
            </a:pPr>
            <a:r>
              <a:rPr lang="en-US" sz="1200" dirty="0">
                <a:solidFill>
                  <a:srgbClr val="2B2420"/>
                </a:solidFill>
                <a:latin typeface="Calibri" pitchFamily="34" charset="0"/>
                <a:ea typeface="Calibri" pitchFamily="34" charset="-122"/>
                <a:cs typeface="Calibri" pitchFamily="34" charset="-120"/>
              </a:rPr>
              <a:t>Track discount rate by category and new sign-ups weekly in the app.</a:t>
            </a:r>
            <a:endParaRPr lang="en-US" sz="1200" dirty="0"/>
          </a:p>
        </p:txBody>
      </p:sp>
      <p:sp>
        <p:nvSpPr>
          <p:cNvPr id="10" name="Shape 8"/>
          <p:cNvSpPr/>
          <p:nvPr/>
        </p:nvSpPr>
        <p:spPr>
          <a:xfrm>
            <a:off x="7461504" y="1508760"/>
            <a:ext cx="3319272" cy="1554480"/>
          </a:xfrm>
          <a:prstGeom prst="roundRect">
            <a:avLst>
              <a:gd name="adj" fmla="val 4706"/>
            </a:avLst>
          </a:prstGeom>
          <a:solidFill>
            <a:srgbClr val="E5DCD3"/>
          </a:solidFill>
          <a:ln/>
        </p:spPr>
      </p:sp>
      <p:sp>
        <p:nvSpPr>
          <p:cNvPr id="11" name="Text 9"/>
          <p:cNvSpPr/>
          <p:nvPr/>
        </p:nvSpPr>
        <p:spPr>
          <a:xfrm>
            <a:off x="7690104" y="1673352"/>
            <a:ext cx="2862072" cy="320040"/>
          </a:xfrm>
          <a:prstGeom prst="rect">
            <a:avLst/>
          </a:prstGeom>
          <a:noFill/>
          <a:ln/>
        </p:spPr>
        <p:txBody>
          <a:bodyPr wrap="square" lIns="0" tIns="0" rIns="0" bIns="0" rtlCol="0" anchor="ctr"/>
          <a:lstStyle/>
          <a:p>
            <a:pPr indent="0" marL="0">
              <a:buNone/>
            </a:pPr>
            <a:r>
              <a:rPr lang="en-US" sz="1500" b="1" dirty="0">
                <a:solidFill>
                  <a:srgbClr val="5C1A2B"/>
                </a:solidFill>
                <a:latin typeface="Cambria" pitchFamily="34" charset="0"/>
                <a:ea typeface="Cambria" pitchFamily="34" charset="-122"/>
                <a:cs typeface="Cambria" pitchFamily="34" charset="-120"/>
              </a:rPr>
              <a:t>Month 3</a:t>
            </a:r>
            <a:endParaRPr lang="en-US" sz="1500" dirty="0"/>
          </a:p>
        </p:txBody>
      </p:sp>
      <p:sp>
        <p:nvSpPr>
          <p:cNvPr id="12" name="Text 10"/>
          <p:cNvSpPr/>
          <p:nvPr/>
        </p:nvSpPr>
        <p:spPr>
          <a:xfrm>
            <a:off x="7690104" y="2057400"/>
            <a:ext cx="2862072" cy="822960"/>
          </a:xfrm>
          <a:prstGeom prst="rect">
            <a:avLst/>
          </a:prstGeom>
          <a:noFill/>
          <a:ln/>
        </p:spPr>
        <p:txBody>
          <a:bodyPr wrap="square" lIns="0" tIns="0" rIns="0" bIns="0" rtlCol="0" anchor="ctr"/>
          <a:lstStyle/>
          <a:p>
            <a:pPr indent="0" marL="0">
              <a:lnSpc>
                <a:spcPct val="120000"/>
              </a:lnSpc>
              <a:buNone/>
            </a:pPr>
            <a:r>
              <a:rPr lang="en-US" sz="1200" dirty="0">
                <a:solidFill>
                  <a:srgbClr val="2B2420"/>
                </a:solidFill>
                <a:latin typeface="Calibri" pitchFamily="34" charset="0"/>
                <a:ea typeface="Calibri" pitchFamily="34" charset="-122"/>
                <a:cs typeface="Calibri" pitchFamily="34" charset="-120"/>
              </a:rPr>
              <a:t>Review the wine assortment against sell-through; re-measure gross margin.</a:t>
            </a:r>
            <a:endParaRPr lang="en-US" sz="1200" dirty="0"/>
          </a:p>
        </p:txBody>
      </p:sp>
      <p:sp>
        <p:nvSpPr>
          <p:cNvPr id="13" name="Text 11"/>
          <p:cNvSpPr/>
          <p:nvPr/>
        </p:nvSpPr>
        <p:spPr>
          <a:xfrm>
            <a:off x="457200" y="3429000"/>
            <a:ext cx="5486400" cy="274320"/>
          </a:xfrm>
          <a:prstGeom prst="rect">
            <a:avLst/>
          </a:prstGeom>
          <a:noFill/>
          <a:ln/>
        </p:spPr>
        <p:txBody>
          <a:bodyPr wrap="square" lIns="0" tIns="0" rIns="0" bIns="0" rtlCol="0" anchor="ctr"/>
          <a:lstStyle/>
          <a:p>
            <a:pPr indent="0" marL="0">
              <a:buNone/>
            </a:pPr>
            <a:r>
              <a:rPr lang="en-US" sz="1100" b="1" spc="150" kern="0" dirty="0">
                <a:solidFill>
                  <a:srgbClr val="C9A227"/>
                </a:solidFill>
                <a:latin typeface="Calibri" pitchFamily="34" charset="0"/>
                <a:ea typeface="Calibri" pitchFamily="34" charset="-122"/>
                <a:cs typeface="Calibri" pitchFamily="34" charset="-120"/>
              </a:rPr>
              <a:t>TARGET KPIS</a:t>
            </a:r>
            <a:endParaRPr lang="en-US" sz="1100" dirty="0"/>
          </a:p>
        </p:txBody>
      </p:sp>
      <p:sp>
        <p:nvSpPr>
          <p:cNvPr id="14" name="Text 12"/>
          <p:cNvSpPr/>
          <p:nvPr/>
        </p:nvSpPr>
        <p:spPr>
          <a:xfrm>
            <a:off x="457200" y="3749040"/>
            <a:ext cx="3319272" cy="594360"/>
          </a:xfrm>
          <a:prstGeom prst="rect">
            <a:avLst/>
          </a:prstGeom>
          <a:noFill/>
          <a:ln/>
        </p:spPr>
        <p:txBody>
          <a:bodyPr wrap="square" lIns="0" tIns="0" rIns="0" bIns="0" rtlCol="0" anchor="ctr"/>
          <a:lstStyle/>
          <a:p>
            <a:pPr indent="0" marL="0">
              <a:buNone/>
            </a:pPr>
            <a:r>
              <a:rPr lang="en-US" sz="2600" b="1" dirty="0">
                <a:solidFill>
                  <a:srgbClr val="5C1A2B"/>
                </a:solidFill>
                <a:latin typeface="Cambria" pitchFamily="34" charset="0"/>
                <a:ea typeface="Cambria" pitchFamily="34" charset="-122"/>
                <a:cs typeface="Cambria" pitchFamily="34" charset="-120"/>
              </a:rPr>
              <a:t>19.8% → &lt;15%</a:t>
            </a:r>
            <a:endParaRPr lang="en-US" sz="2600" dirty="0"/>
          </a:p>
        </p:txBody>
      </p:sp>
      <p:sp>
        <p:nvSpPr>
          <p:cNvPr id="15" name="Text 13"/>
          <p:cNvSpPr/>
          <p:nvPr/>
        </p:nvSpPr>
        <p:spPr>
          <a:xfrm>
            <a:off x="457200" y="4343400"/>
            <a:ext cx="3319272" cy="365760"/>
          </a:xfrm>
          <a:prstGeom prst="rect">
            <a:avLst/>
          </a:prstGeom>
          <a:noFill/>
          <a:ln/>
        </p:spPr>
        <p:txBody>
          <a:bodyPr wrap="square" lIns="0" tIns="0" rIns="0" bIns="0" rtlCol="0" anchor="ctr"/>
          <a:lstStyle/>
          <a:p>
            <a:pPr indent="0" marL="0">
              <a:buNone/>
            </a:pPr>
            <a:r>
              <a:rPr lang="en-US" sz="1200" dirty="0">
                <a:solidFill>
                  <a:srgbClr val="6B655C"/>
                </a:solidFill>
                <a:latin typeface="Calibri" pitchFamily="34" charset="0"/>
                <a:ea typeface="Calibri" pitchFamily="34" charset="-122"/>
                <a:cs typeface="Calibri" pitchFamily="34" charset="-120"/>
              </a:rPr>
              <a:t>Blended discount rate</a:t>
            </a:r>
            <a:endParaRPr lang="en-US" sz="1200" dirty="0"/>
          </a:p>
        </p:txBody>
      </p:sp>
      <p:sp>
        <p:nvSpPr>
          <p:cNvPr id="16" name="Text 14"/>
          <p:cNvSpPr/>
          <p:nvPr/>
        </p:nvSpPr>
        <p:spPr>
          <a:xfrm>
            <a:off x="3959352" y="3749040"/>
            <a:ext cx="3319272" cy="594360"/>
          </a:xfrm>
          <a:prstGeom prst="rect">
            <a:avLst/>
          </a:prstGeom>
          <a:noFill/>
          <a:ln/>
        </p:spPr>
        <p:txBody>
          <a:bodyPr wrap="square" lIns="0" tIns="0" rIns="0" bIns="0" rtlCol="0" anchor="ctr"/>
          <a:lstStyle/>
          <a:p>
            <a:pPr indent="0" marL="0">
              <a:buNone/>
            </a:pPr>
            <a:r>
              <a:rPr lang="en-US" sz="2600" b="1" dirty="0">
                <a:solidFill>
                  <a:srgbClr val="5C1A2B"/>
                </a:solidFill>
                <a:latin typeface="Cambria" pitchFamily="34" charset="0"/>
                <a:ea typeface="Cambria" pitchFamily="34" charset="-122"/>
                <a:cs typeface="Cambria" pitchFamily="34" charset="-120"/>
              </a:rPr>
              <a:t>2/mo → 5+/mo</a:t>
            </a:r>
            <a:endParaRPr lang="en-US" sz="2600" dirty="0"/>
          </a:p>
        </p:txBody>
      </p:sp>
      <p:sp>
        <p:nvSpPr>
          <p:cNvPr id="17" name="Text 15"/>
          <p:cNvSpPr/>
          <p:nvPr/>
        </p:nvSpPr>
        <p:spPr>
          <a:xfrm>
            <a:off x="3959352" y="4343400"/>
            <a:ext cx="3319272" cy="365760"/>
          </a:xfrm>
          <a:prstGeom prst="rect">
            <a:avLst/>
          </a:prstGeom>
          <a:noFill/>
          <a:ln/>
        </p:spPr>
        <p:txBody>
          <a:bodyPr wrap="square" lIns="0" tIns="0" rIns="0" bIns="0" rtlCol="0" anchor="ctr"/>
          <a:lstStyle/>
          <a:p>
            <a:pPr indent="0" marL="0">
              <a:buNone/>
            </a:pPr>
            <a:r>
              <a:rPr lang="en-US" sz="1200" dirty="0">
                <a:solidFill>
                  <a:srgbClr val="6B655C"/>
                </a:solidFill>
                <a:latin typeface="Calibri" pitchFamily="34" charset="0"/>
                <a:ea typeface="Calibri" pitchFamily="34" charset="-122"/>
                <a:cs typeface="Calibri" pitchFamily="34" charset="-120"/>
              </a:rPr>
              <a:t>New member sign-ups</a:t>
            </a:r>
            <a:endParaRPr lang="en-US" sz="1200" dirty="0"/>
          </a:p>
        </p:txBody>
      </p:sp>
      <p:sp>
        <p:nvSpPr>
          <p:cNvPr id="18" name="Text 16"/>
          <p:cNvSpPr/>
          <p:nvPr/>
        </p:nvSpPr>
        <p:spPr>
          <a:xfrm>
            <a:off x="7461504" y="3749040"/>
            <a:ext cx="3319272" cy="594360"/>
          </a:xfrm>
          <a:prstGeom prst="rect">
            <a:avLst/>
          </a:prstGeom>
          <a:noFill/>
          <a:ln/>
        </p:spPr>
        <p:txBody>
          <a:bodyPr wrap="square" lIns="0" tIns="0" rIns="0" bIns="0" rtlCol="0" anchor="ctr"/>
          <a:lstStyle/>
          <a:p>
            <a:pPr indent="0" marL="0">
              <a:buNone/>
            </a:pPr>
            <a:r>
              <a:rPr lang="en-US" sz="2600" b="1" dirty="0">
                <a:solidFill>
                  <a:srgbClr val="5C1A2B"/>
                </a:solidFill>
                <a:latin typeface="Cambria" pitchFamily="34" charset="0"/>
                <a:ea typeface="Cambria" pitchFamily="34" charset="-122"/>
                <a:cs typeface="Cambria" pitchFamily="34" charset="-120"/>
              </a:rPr>
              <a:t>65% → 68%+</a:t>
            </a:r>
            <a:endParaRPr lang="en-US" sz="2600" dirty="0"/>
          </a:p>
        </p:txBody>
      </p:sp>
      <p:sp>
        <p:nvSpPr>
          <p:cNvPr id="19" name="Text 17"/>
          <p:cNvSpPr/>
          <p:nvPr/>
        </p:nvSpPr>
        <p:spPr>
          <a:xfrm>
            <a:off x="7461504" y="4343400"/>
            <a:ext cx="3319272" cy="365760"/>
          </a:xfrm>
          <a:prstGeom prst="rect">
            <a:avLst/>
          </a:prstGeom>
          <a:noFill/>
          <a:ln/>
        </p:spPr>
        <p:txBody>
          <a:bodyPr wrap="square" lIns="0" tIns="0" rIns="0" bIns="0" rtlCol="0" anchor="ctr"/>
          <a:lstStyle/>
          <a:p>
            <a:pPr indent="0" marL="0">
              <a:buNone/>
            </a:pPr>
            <a:r>
              <a:rPr lang="en-US" sz="1200" dirty="0">
                <a:solidFill>
                  <a:srgbClr val="6B655C"/>
                </a:solidFill>
                <a:latin typeface="Calibri" pitchFamily="34" charset="0"/>
                <a:ea typeface="Calibri" pitchFamily="34" charset="-122"/>
                <a:cs typeface="Calibri" pitchFamily="34" charset="-120"/>
              </a:rPr>
              <a:t>Gross margin on net sales</a:t>
            </a:r>
            <a:endParaRPr lang="en-US" sz="1200" dirty="0"/>
          </a:p>
        </p:txBody>
      </p:sp>
      <p:sp>
        <p:nvSpPr>
          <p:cNvPr id="20" name="Shape 18"/>
          <p:cNvSpPr/>
          <p:nvPr/>
        </p:nvSpPr>
        <p:spPr>
          <a:xfrm>
            <a:off x="457200" y="5074920"/>
            <a:ext cx="10332720" cy="1051560"/>
          </a:xfrm>
          <a:prstGeom prst="roundRect">
            <a:avLst>
              <a:gd name="adj" fmla="val 6957"/>
            </a:avLst>
          </a:prstGeom>
          <a:solidFill>
            <a:srgbClr val="E5DCD3"/>
          </a:solidFill>
          <a:ln/>
        </p:spPr>
      </p:sp>
      <p:sp>
        <p:nvSpPr>
          <p:cNvPr id="21" name="Text 19"/>
          <p:cNvSpPr/>
          <p:nvPr/>
        </p:nvSpPr>
        <p:spPr>
          <a:xfrm>
            <a:off x="685800" y="5239512"/>
            <a:ext cx="9875520" cy="722376"/>
          </a:xfrm>
          <a:prstGeom prst="rect">
            <a:avLst/>
          </a:prstGeom>
          <a:noFill/>
          <a:ln/>
        </p:spPr>
        <p:txBody>
          <a:bodyPr wrap="square" lIns="0" tIns="0" rIns="0" bIns="0" rtlCol="0" anchor="t"/>
          <a:lstStyle/>
          <a:p>
            <a:pPr indent="0" marL="0">
              <a:lnSpc>
                <a:spcPct val="115000"/>
              </a:lnSpc>
              <a:buNone/>
            </a:pPr>
            <a:r>
              <a:rPr lang="en-US" sz="1100" b="1" spc="100" kern="0" dirty="0">
                <a:solidFill>
                  <a:srgbClr val="5C1A2B"/>
                </a:solidFill>
                <a:latin typeface="Calibri" pitchFamily="34" charset="0"/>
                <a:ea typeface="Calibri" pitchFamily="34" charset="-122"/>
                <a:cs typeface="Calibri" pitchFamily="34" charset="-120"/>
              </a:rPr>
              <a:t>READ  </a:t>
            </a:r>
            <a:pPr indent="0" marL="0">
              <a:lnSpc>
                <a:spcPct val="115000"/>
              </a:lnSpc>
              <a:buNone/>
            </a:pPr>
            <a:r>
              <a:rPr lang="en-US" sz="1300" dirty="0">
                <a:solidFill>
                  <a:srgbClr val="2B2420"/>
                </a:solidFill>
                <a:latin typeface="Calibri" pitchFamily="34" charset="0"/>
                <a:ea typeface="Calibri" pitchFamily="34" charset="-122"/>
                <a:cs typeface="Calibri" pitchFamily="34" charset="-120"/>
              </a:rPr>
              <a:t>All three KPIs are live tiles in the Streamlit app, and its reporting-period filter re-cuts them for 2025, 2026 to date, or both — so each new export can be checked against this baseline without waiting for a written report.</a:t>
            </a:r>
            <a:endParaRPr lang="en-US" sz="1100" dirty="0"/>
          </a:p>
        </p:txBody>
      </p:sp>
      <p:sp>
        <p:nvSpPr>
          <p:cNvPr id="22" name="Text 20"/>
          <p:cNvSpPr/>
          <p:nvPr/>
        </p:nvSpPr>
        <p:spPr>
          <a:xfrm>
            <a:off x="11277295" y="6355080"/>
            <a:ext cx="548640" cy="320040"/>
          </a:xfrm>
          <a:prstGeom prst="rect">
            <a:avLst/>
          </a:prstGeom>
          <a:noFill/>
          <a:ln/>
        </p:spPr>
        <p:txBody>
          <a:bodyPr wrap="square" rtlCol="0" anchor="ctr"/>
          <a:lstStyle/>
          <a:p>
            <a:pPr algn="r" indent="0" marL="0">
              <a:buNone/>
            </a:pPr>
            <a:r>
              <a:rPr lang="en-US" sz="1000" dirty="0">
                <a:solidFill>
                  <a:srgbClr val="6B655C"/>
                </a:solidFill>
                <a:latin typeface="Calibri" pitchFamily="34" charset="0"/>
                <a:ea typeface="Calibri" pitchFamily="34" charset="-122"/>
                <a:cs typeface="Calibri" pitchFamily="34" charset="-120"/>
              </a:rPr>
              <a:t>11</a:t>
            </a:r>
            <a:endParaRPr lang="en-US" sz="1000" dirty="0"/>
          </a:p>
        </p:txBody>
      </p:sp>
      <p:sp>
        <p:nvSpPr>
          <p:cNvPr id="23" name="Text 21"/>
          <p:cNvSpPr/>
          <p:nvPr/>
        </p:nvSpPr>
        <p:spPr>
          <a:xfrm>
            <a:off x="457200" y="6355080"/>
            <a:ext cx="2743200" cy="320040"/>
          </a:xfrm>
          <a:prstGeom prst="rect">
            <a:avLst/>
          </a:prstGeom>
          <a:noFill/>
          <a:ln/>
        </p:spPr>
        <p:txBody>
          <a:bodyPr wrap="square" rtlCol="0" anchor="ctr"/>
          <a:lstStyle/>
          <a:p>
            <a:pPr indent="0" marL="0">
              <a:buNone/>
            </a:pPr>
            <a:r>
              <a:rPr lang="en-US" sz="1000" spc="200" kern="0" dirty="0">
                <a:solidFill>
                  <a:srgbClr val="6B655C"/>
                </a:solidFill>
                <a:latin typeface="Calibri" pitchFamily="34" charset="0"/>
                <a:ea typeface="Calibri" pitchFamily="34" charset="-122"/>
                <a:cs typeface="Calibri" pitchFamily="34" charset="-120"/>
              </a:rPr>
              <a:t>CELLAR V</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5C1A2B"/>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5C1A2B"/>
          </a:solidFill>
          <a:ln/>
        </p:spPr>
      </p:sp>
      <p:sp>
        <p:nvSpPr>
          <p:cNvPr id="3" name="Shape 1"/>
          <p:cNvSpPr/>
          <p:nvPr/>
        </p:nvSpPr>
        <p:spPr>
          <a:xfrm>
            <a:off x="10911535" y="5577840"/>
            <a:ext cx="2560320" cy="2560320"/>
          </a:xfrm>
          <a:prstGeom prst="ellipse">
            <a:avLst/>
          </a:prstGeom>
          <a:ln w="12700">
            <a:solidFill>
              <a:srgbClr val="E3B96B">
                <a:alpha val="45000"/>
              </a:srgbClr>
            </a:solidFill>
            <a:prstDash val="solid"/>
          </a:ln>
        </p:spPr>
      </p:sp>
      <p:sp>
        <p:nvSpPr>
          <p:cNvPr id="4" name="Shape 2"/>
          <p:cNvSpPr/>
          <p:nvPr/>
        </p:nvSpPr>
        <p:spPr>
          <a:xfrm>
            <a:off x="10362895" y="5029200"/>
            <a:ext cx="3657600" cy="3657600"/>
          </a:xfrm>
          <a:prstGeom prst="ellipse">
            <a:avLst/>
          </a:prstGeom>
          <a:ln w="12700">
            <a:solidFill>
              <a:srgbClr val="E3B96B">
                <a:alpha val="33000"/>
              </a:srgbClr>
            </a:solidFill>
            <a:prstDash val="solid"/>
          </a:ln>
        </p:spPr>
      </p:sp>
      <p:sp>
        <p:nvSpPr>
          <p:cNvPr id="5" name="Shape 3"/>
          <p:cNvSpPr/>
          <p:nvPr/>
        </p:nvSpPr>
        <p:spPr>
          <a:xfrm>
            <a:off x="9814255" y="4480560"/>
            <a:ext cx="4754880" cy="4754880"/>
          </a:xfrm>
          <a:prstGeom prst="ellipse">
            <a:avLst/>
          </a:prstGeom>
          <a:ln w="12700">
            <a:solidFill>
              <a:srgbClr val="E3B96B">
                <a:alpha val="21000"/>
              </a:srgbClr>
            </a:solidFill>
            <a:prstDash val="solid"/>
          </a:ln>
        </p:spPr>
      </p:sp>
      <p:sp>
        <p:nvSpPr>
          <p:cNvPr id="6" name="Shape 4"/>
          <p:cNvSpPr/>
          <p:nvPr/>
        </p:nvSpPr>
        <p:spPr>
          <a:xfrm flipV="1">
            <a:off x="10454335" y="914400"/>
            <a:ext cx="777240" cy="816102"/>
          </a:xfrm>
          <a:prstGeom prst="triangle">
            <a:avLst/>
          </a:prstGeom>
          <a:solidFill>
            <a:srgbClr val="E3B96B">
              <a:alpha val="75000"/>
            </a:srgbClr>
          </a:solidFill>
          <a:ln/>
        </p:spPr>
      </p:sp>
      <p:sp>
        <p:nvSpPr>
          <p:cNvPr id="7" name="Shape 5"/>
          <p:cNvSpPr/>
          <p:nvPr/>
        </p:nvSpPr>
        <p:spPr>
          <a:xfrm>
            <a:off x="10815752" y="1730502"/>
            <a:ext cx="54407" cy="738378"/>
          </a:xfrm>
          <a:prstGeom prst="rect">
            <a:avLst/>
          </a:prstGeom>
          <a:solidFill>
            <a:srgbClr val="E3B96B">
              <a:alpha val="75000"/>
            </a:srgbClr>
          </a:solidFill>
          <a:ln/>
        </p:spPr>
      </p:sp>
      <p:sp>
        <p:nvSpPr>
          <p:cNvPr id="8" name="Shape 6"/>
          <p:cNvSpPr/>
          <p:nvPr/>
        </p:nvSpPr>
        <p:spPr>
          <a:xfrm>
            <a:off x="10590352" y="2430018"/>
            <a:ext cx="505206" cy="77724"/>
          </a:xfrm>
          <a:prstGeom prst="ellipse">
            <a:avLst/>
          </a:prstGeom>
          <a:solidFill>
            <a:srgbClr val="E3B96B">
              <a:alpha val="75000"/>
            </a:srgbClr>
          </a:solidFill>
          <a:ln/>
        </p:spPr>
      </p:sp>
      <p:sp>
        <p:nvSpPr>
          <p:cNvPr id="9" name="Text 7"/>
          <p:cNvSpPr/>
          <p:nvPr/>
        </p:nvSpPr>
        <p:spPr>
          <a:xfrm>
            <a:off x="457200" y="1737360"/>
            <a:ext cx="10058400" cy="1371600"/>
          </a:xfrm>
          <a:prstGeom prst="rect">
            <a:avLst/>
          </a:prstGeom>
          <a:noFill/>
          <a:ln/>
        </p:spPr>
        <p:txBody>
          <a:bodyPr wrap="square" lIns="0" tIns="0" rIns="0" bIns="0" rtlCol="0" anchor="ctr"/>
          <a:lstStyle/>
          <a:p>
            <a:pPr indent="0" marL="0">
              <a:lnSpc>
                <a:spcPct val="108000"/>
              </a:lnSpc>
              <a:buNone/>
            </a:pPr>
            <a:r>
              <a:rPr lang="en-US" sz="3600" b="1" dirty="0">
                <a:solidFill>
                  <a:srgbClr val="FFFFFF"/>
                </a:solidFill>
                <a:latin typeface="Cambria" pitchFamily="34" charset="0"/>
                <a:ea typeface="Cambria" pitchFamily="34" charset="-122"/>
                <a:cs typeface="Cambria" pitchFamily="34" charset="-120"/>
              </a:rPr>
              <a:t>The biggest lever isn’t more</a:t>
            </a:r>
            <a:endParaRPr lang="en-US" sz="3600" dirty="0"/>
          </a:p>
          <a:p>
            <a:pPr indent="0" marL="0">
              <a:lnSpc>
                <a:spcPct val="108000"/>
              </a:lnSpc>
              <a:buNone/>
            </a:pPr>
            <a:r>
              <a:rPr lang="en-US" sz="3600" b="1" dirty="0">
                <a:solidFill>
                  <a:srgbClr val="FFFFFF"/>
                </a:solidFill>
                <a:latin typeface="Cambria" pitchFamily="34" charset="0"/>
                <a:ea typeface="Cambria" pitchFamily="34" charset="-122"/>
                <a:cs typeface="Cambria" pitchFamily="34" charset="-120"/>
              </a:rPr>
              <a:t>marketing spend.</a:t>
            </a:r>
            <a:endParaRPr lang="en-US" sz="3600" dirty="0"/>
          </a:p>
        </p:txBody>
      </p:sp>
      <p:sp>
        <p:nvSpPr>
          <p:cNvPr id="10" name="Text 8"/>
          <p:cNvSpPr/>
          <p:nvPr/>
        </p:nvSpPr>
        <p:spPr>
          <a:xfrm>
            <a:off x="457200" y="3063240"/>
            <a:ext cx="8686800" cy="914400"/>
          </a:xfrm>
          <a:prstGeom prst="rect">
            <a:avLst/>
          </a:prstGeom>
          <a:noFill/>
          <a:ln/>
        </p:spPr>
        <p:txBody>
          <a:bodyPr wrap="square" lIns="0" tIns="0" rIns="0" bIns="0" rtlCol="0" anchor="ctr"/>
          <a:lstStyle/>
          <a:p>
            <a:pPr indent="0" marL="0">
              <a:lnSpc>
                <a:spcPct val="125000"/>
              </a:lnSpc>
              <a:buNone/>
            </a:pPr>
            <a:r>
              <a:rPr lang="en-US" sz="1700" i="1" dirty="0">
                <a:solidFill>
                  <a:srgbClr val="E3B96B"/>
                </a:solidFill>
                <a:latin typeface="Calibri" pitchFamily="34" charset="0"/>
                <a:ea typeface="Calibri" pitchFamily="34" charset="-122"/>
                <a:cs typeface="Calibri" pitchFamily="34" charset="-120"/>
              </a:rPr>
              <a:t>It’s tightening what we’re already giving away at the till — and turning our best guests into members.</a:t>
            </a:r>
            <a:endParaRPr lang="en-US" sz="1700" dirty="0"/>
          </a:p>
        </p:txBody>
      </p:sp>
      <p:sp>
        <p:nvSpPr>
          <p:cNvPr id="11" name="Shape 9"/>
          <p:cNvSpPr/>
          <p:nvPr/>
        </p:nvSpPr>
        <p:spPr>
          <a:xfrm>
            <a:off x="457200" y="4343400"/>
            <a:ext cx="2743200" cy="0"/>
          </a:xfrm>
          <a:prstGeom prst="line">
            <a:avLst/>
          </a:prstGeom>
          <a:noFill/>
          <a:ln w="19050">
            <a:solidFill>
              <a:srgbClr val="C9A227"/>
            </a:solidFill>
            <a:prstDash val="solid"/>
          </a:ln>
        </p:spPr>
      </p:sp>
      <p:sp>
        <p:nvSpPr>
          <p:cNvPr id="12" name="Text 10"/>
          <p:cNvSpPr/>
          <p:nvPr/>
        </p:nvSpPr>
        <p:spPr>
          <a:xfrm>
            <a:off x="457200" y="4572000"/>
            <a:ext cx="5486400" cy="50292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Thank you</a:t>
            </a:r>
            <a:endParaRPr lang="en-US" sz="2400" dirty="0"/>
          </a:p>
        </p:txBody>
      </p:sp>
      <p:sp>
        <p:nvSpPr>
          <p:cNvPr id="13" name="Text 11"/>
          <p:cNvSpPr/>
          <p:nvPr/>
        </p:nvSpPr>
        <p:spPr>
          <a:xfrm>
            <a:off x="457200" y="5074920"/>
            <a:ext cx="7315200" cy="365760"/>
          </a:xfrm>
          <a:prstGeom prst="rect">
            <a:avLst/>
          </a:prstGeom>
          <a:noFill/>
          <a:ln/>
        </p:spPr>
        <p:txBody>
          <a:bodyPr wrap="square" lIns="0" tIns="0" rIns="0" bIns="0" rtlCol="0" anchor="ctr"/>
          <a:lstStyle/>
          <a:p>
            <a:pPr indent="0" marL="0">
              <a:buNone/>
            </a:pPr>
            <a:r>
              <a:rPr lang="en-US" sz="1300" dirty="0">
                <a:solidFill>
                  <a:srgbClr val="E7DCD5"/>
                </a:solidFill>
                <a:latin typeface="Calibri" pitchFamily="34" charset="0"/>
                <a:ea typeface="Calibri" pitchFamily="34" charset="-122"/>
                <a:cs typeface="Calibri" pitchFamily="34" charset="-120"/>
              </a:rPr>
              <a:t>Andre  ·  Cellar V, Singapore  ·  drink@cellar-v.com.sg</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2026-08-27T17:27:12Z</dcterms:created>
  <dcterms:modified xsi:type="dcterms:W3CDTF">2026-08-27T17:27:12Z</dcterms:modified>
</cp:coreProperties>
</file>